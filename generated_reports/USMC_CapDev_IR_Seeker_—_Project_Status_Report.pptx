
<file path=[Content_Types].xml><?xml version="1.0" encoding="utf-8"?>
<Types xmlns="http://schemas.openxmlformats.org/package/2006/content-type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notesSlides/notesSlide3.xml" ContentType="application/vnd.openxmlformats-officedocument.presentationml.notesSlide+xml"/>
  <Override PartName="/ppt/charts/chart2.xml" ContentType="application/vnd.openxmlformats-officedocument.drawingml.chart+xml"/>
  <Override PartName="/ppt/notesSlides/notesSlide4.xml" ContentType="application/vnd.openxmlformats-officedocument.presentationml.notesSlide+xml"/>
  <Override PartName="/ppt/charts/chart3.xml" ContentType="application/vnd.openxmlformats-officedocument.drawingml.chart+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2" d="100"/>
          <a:sy n="112" d="100"/>
        </p:scale>
        <p:origin x="504" y="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doughnutChart>
        <c:varyColors val="1"/>
        <c:ser>
          <c:idx val="0"/>
          <c:order val="0"/>
          <c:tx>
            <c:strRef>
              <c:f>Sheet1!$B$1</c:f>
              <c:strCache>
                <c:ptCount val="1"/>
                <c:pt idx="0">
                  <c:v>Status</c:v>
                </c:pt>
              </c:strCache>
            </c:strRef>
          </c:tx>
          <c:spPr>
            <a:solidFill>
              <a:schemeClr val="accent1"/>
            </a:solidFill>
            <a:ln w="9525" cap="flat">
              <a:solidFill>
                <a:srgbClr val="F9F9F9"/>
              </a:solidFill>
              <a:prstDash val="solid"/>
              <a:round/>
            </a:ln>
            <a:effectLst/>
          </c:spPr>
          <c:dPt>
            <c:idx val="0"/>
            <c:bubble3D val="0"/>
            <c:spPr>
              <a:solidFill>
                <a:srgbClr val="C8C0B4"/>
              </a:solidFill>
              <a:effectLst/>
            </c:spPr>
            <c:extLst>
              <c:ext xmlns:c16="http://schemas.microsoft.com/office/drawing/2014/chart" uri="{C3380CC4-5D6E-409C-BE32-E72D297353CC}">
                <c16:uniqueId val="{00000001-5046-4615-8220-50C1BDB4CECC}"/>
              </c:ext>
            </c:extLst>
          </c:dPt>
          <c:dPt>
            <c:idx val="1"/>
            <c:bubble3D val="0"/>
            <c:spPr>
              <a:solidFill>
                <a:srgbClr val="2A5A8F"/>
              </a:solidFill>
              <a:effectLst/>
            </c:spPr>
            <c:extLst>
              <c:ext xmlns:c16="http://schemas.microsoft.com/office/drawing/2014/chart" uri="{C3380CC4-5D6E-409C-BE32-E72D297353CC}">
                <c16:uniqueId val="{00000003-5046-4615-8220-50C1BDB4CECC}"/>
              </c:ext>
            </c:extLst>
          </c:dPt>
          <c:dPt>
            <c:idx val="2"/>
            <c:bubble3D val="0"/>
            <c:spPr>
              <a:solidFill>
                <a:srgbClr val="E8A235"/>
              </a:solidFill>
              <a:effectLst/>
            </c:spPr>
            <c:extLst>
              <c:ext xmlns:c16="http://schemas.microsoft.com/office/drawing/2014/chart" uri="{C3380CC4-5D6E-409C-BE32-E72D297353CC}">
                <c16:uniqueId val="{00000005-5046-4615-8220-50C1BDB4CECC}"/>
              </c:ext>
            </c:extLst>
          </c:dPt>
          <c:dPt>
            <c:idx val="3"/>
            <c:bubble3D val="0"/>
            <c:spPr>
              <a:solidFill>
                <a:srgbClr val="3A7A6A"/>
              </a:solidFill>
              <a:effectLst/>
            </c:spPr>
            <c:extLst>
              <c:ext xmlns:c16="http://schemas.microsoft.com/office/drawing/2014/chart" uri="{C3380CC4-5D6E-409C-BE32-E72D297353CC}">
                <c16:uniqueId val="{00000007-5046-4615-8220-50C1BDB4CECC}"/>
              </c:ext>
            </c:extLst>
          </c:dPt>
          <c:cat>
            <c:strRef>
              <c:f>Sheet1!$A$2:$A$5</c:f>
              <c:strCache>
                <c:ptCount val="4"/>
                <c:pt idx="0">
                  <c:v>Not Started</c:v>
                </c:pt>
                <c:pt idx="1">
                  <c:v>In Progress</c:v>
                </c:pt>
                <c:pt idx="2">
                  <c:v>In Review</c:v>
                </c:pt>
                <c:pt idx="3">
                  <c:v>Complete</c:v>
                </c:pt>
              </c:strCache>
            </c:strRef>
          </c:cat>
          <c:val>
            <c:numRef>
              <c:f>Sheet1!$B$2:$B$5</c:f>
              <c:numCache>
                <c:formatCode>General</c:formatCode>
                <c:ptCount val="4"/>
                <c:pt idx="0">
                  <c:v>6</c:v>
                </c:pt>
                <c:pt idx="1">
                  <c:v>4</c:v>
                </c:pt>
                <c:pt idx="2">
                  <c:v>2</c:v>
                </c:pt>
                <c:pt idx="3">
                  <c:v>1</c:v>
                </c:pt>
              </c:numCache>
            </c:numRef>
          </c:val>
          <c:extLst>
            <c:ext xmlns:c16="http://schemas.microsoft.com/office/drawing/2014/chart" uri="{C3380CC4-5D6E-409C-BE32-E72D297353CC}">
              <c16:uniqueId val="{00000008-5046-4615-8220-50C1BDB4CECC}"/>
            </c:ext>
          </c:extLst>
        </c:ser>
        <c:dLbls>
          <c:showLegendKey val="0"/>
          <c:showVal val="0"/>
          <c:showCatName val="0"/>
          <c:showSerName val="0"/>
          <c:showPercent val="0"/>
          <c:showBubbleSize val="0"/>
          <c:showLeaderLines val="0"/>
        </c:dLbls>
        <c:firstSliceAng val="0"/>
        <c:holeSize val="55"/>
      </c:doughnutChart>
      <c:spPr>
        <a:noFill/>
        <a:ln>
          <a:noFill/>
        </a:ln>
        <a:effectLst/>
      </c:spPr>
    </c:plotArea>
    <c:legend>
      <c:legendPos val="b"/>
      <c:overlay val="0"/>
      <c:txPr>
        <a:bodyPr/>
        <a:lstStyle/>
        <a:p>
          <a:pPr>
            <a:defRPr sz="1000">
              <a:solidFill>
                <a:srgbClr val="6B7A8D"/>
              </a:solidFill>
            </a:defRPr>
          </a:pPr>
          <a:endParaRPr lang="en-US"/>
        </a:p>
      </c:txPr>
    </c:legend>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Progress %</c:v>
                </c:pt>
              </c:strCache>
            </c:strRef>
          </c:tx>
          <c:spPr>
            <a:solidFill>
              <a:srgbClr val="3B8EEA"/>
            </a:solidFill>
            <a:effectLst/>
          </c:spPr>
          <c:invertIfNegative val="0"/>
          <c:dPt>
            <c:idx val="0"/>
            <c:invertIfNegative val="0"/>
            <c:bubble3D val="0"/>
            <c:extLst>
              <c:ext xmlns:c16="http://schemas.microsoft.com/office/drawing/2014/chart" uri="{C3380CC4-5D6E-409C-BE32-E72D297353CC}">
                <c16:uniqueId val="{00000001-1B90-4BE5-A8EC-2CFC2C5A57AE}"/>
              </c:ext>
            </c:extLst>
          </c:dPt>
          <c:dPt>
            <c:idx val="1"/>
            <c:invertIfNegative val="0"/>
            <c:bubble3D val="0"/>
            <c:extLst>
              <c:ext xmlns:c16="http://schemas.microsoft.com/office/drawing/2014/chart" uri="{C3380CC4-5D6E-409C-BE32-E72D297353CC}">
                <c16:uniqueId val="{00000003-1B90-4BE5-A8EC-2CFC2C5A57AE}"/>
              </c:ext>
            </c:extLst>
          </c:dPt>
          <c:dPt>
            <c:idx val="2"/>
            <c:invertIfNegative val="0"/>
            <c:bubble3D val="0"/>
            <c:extLst>
              <c:ext xmlns:c16="http://schemas.microsoft.com/office/drawing/2014/chart" uri="{C3380CC4-5D6E-409C-BE32-E72D297353CC}">
                <c16:uniqueId val="{00000005-1B90-4BE5-A8EC-2CFC2C5A57AE}"/>
              </c:ext>
            </c:extLst>
          </c:dPt>
          <c:dPt>
            <c:idx val="3"/>
            <c:invertIfNegative val="0"/>
            <c:bubble3D val="0"/>
            <c:extLst>
              <c:ext xmlns:c16="http://schemas.microsoft.com/office/drawing/2014/chart" uri="{C3380CC4-5D6E-409C-BE32-E72D297353CC}">
                <c16:uniqueId val="{00000007-1B90-4BE5-A8EC-2CFC2C5A57AE}"/>
              </c:ext>
            </c:extLst>
          </c:dPt>
          <c:dPt>
            <c:idx val="4"/>
            <c:invertIfNegative val="0"/>
            <c:bubble3D val="0"/>
            <c:spPr>
              <a:solidFill>
                <a:srgbClr val="DC7070"/>
              </a:solidFill>
              <a:effectLst/>
            </c:spPr>
            <c:extLst>
              <c:ext xmlns:c16="http://schemas.microsoft.com/office/drawing/2014/chart" uri="{C3380CC4-5D6E-409C-BE32-E72D297353CC}">
                <c16:uniqueId val="{00000009-1B90-4BE5-A8EC-2CFC2C5A57AE}"/>
              </c:ext>
            </c:extLst>
          </c:dPt>
          <c:dPt>
            <c:idx val="5"/>
            <c:invertIfNegative val="0"/>
            <c:bubble3D val="0"/>
            <c:spPr>
              <a:solidFill>
                <a:srgbClr val="DC7070"/>
              </a:solidFill>
              <a:effectLst/>
            </c:spPr>
            <c:extLst>
              <c:ext xmlns:c16="http://schemas.microsoft.com/office/drawing/2014/chart" uri="{C3380CC4-5D6E-409C-BE32-E72D297353CC}">
                <c16:uniqueId val="{0000000B-1B90-4BE5-A8EC-2CFC2C5A57AE}"/>
              </c:ext>
            </c:extLst>
          </c:dPt>
          <c:dPt>
            <c:idx val="6"/>
            <c:invertIfNegative val="0"/>
            <c:bubble3D val="0"/>
            <c:extLst>
              <c:ext xmlns:c16="http://schemas.microsoft.com/office/drawing/2014/chart" uri="{C3380CC4-5D6E-409C-BE32-E72D297353CC}">
                <c16:uniqueId val="{0000000D-1B90-4BE5-A8EC-2CFC2C5A57AE}"/>
              </c:ext>
            </c:extLst>
          </c:dPt>
          <c:dPt>
            <c:idx val="7"/>
            <c:invertIfNegative val="0"/>
            <c:bubble3D val="0"/>
            <c:spPr>
              <a:solidFill>
                <a:srgbClr val="BD93F9"/>
              </a:solidFill>
              <a:effectLst/>
            </c:spPr>
            <c:extLst>
              <c:ext xmlns:c16="http://schemas.microsoft.com/office/drawing/2014/chart" uri="{C3380CC4-5D6E-409C-BE32-E72D297353CC}">
                <c16:uniqueId val="{0000000F-1B90-4BE5-A8EC-2CFC2C5A57AE}"/>
              </c:ext>
            </c:extLst>
          </c:dPt>
          <c:dPt>
            <c:idx val="8"/>
            <c:invertIfNegative val="0"/>
            <c:bubble3D val="0"/>
            <c:extLst>
              <c:ext xmlns:c16="http://schemas.microsoft.com/office/drawing/2014/chart" uri="{C3380CC4-5D6E-409C-BE32-E72D297353CC}">
                <c16:uniqueId val="{00000011-1B90-4BE5-A8EC-2CFC2C5A57AE}"/>
              </c:ext>
            </c:extLst>
          </c:dPt>
          <c:dPt>
            <c:idx val="9"/>
            <c:invertIfNegative val="0"/>
            <c:bubble3D val="0"/>
            <c:spPr>
              <a:solidFill>
                <a:srgbClr val="DC7070"/>
              </a:solidFill>
              <a:effectLst/>
            </c:spPr>
            <c:extLst>
              <c:ext xmlns:c16="http://schemas.microsoft.com/office/drawing/2014/chart" uri="{C3380CC4-5D6E-409C-BE32-E72D297353CC}">
                <c16:uniqueId val="{00000013-1B90-4BE5-A8EC-2CFC2C5A57AE}"/>
              </c:ext>
            </c:extLst>
          </c:dPt>
          <c:dPt>
            <c:idx val="10"/>
            <c:invertIfNegative val="0"/>
            <c:bubble3D val="0"/>
            <c:extLst>
              <c:ext xmlns:c16="http://schemas.microsoft.com/office/drawing/2014/chart" uri="{C3380CC4-5D6E-409C-BE32-E72D297353CC}">
                <c16:uniqueId val="{00000015-1B90-4BE5-A8EC-2CFC2C5A57AE}"/>
              </c:ext>
            </c:extLst>
          </c:dPt>
          <c:dPt>
            <c:idx val="11"/>
            <c:invertIfNegative val="0"/>
            <c:bubble3D val="0"/>
            <c:extLst>
              <c:ext xmlns:c16="http://schemas.microsoft.com/office/drawing/2014/chart" uri="{C3380CC4-5D6E-409C-BE32-E72D297353CC}">
                <c16:uniqueId val="{00000017-1B90-4BE5-A8EC-2CFC2C5A57AE}"/>
              </c:ext>
            </c:extLst>
          </c:dPt>
          <c:dPt>
            <c:idx val="12"/>
            <c:invertIfNegative val="0"/>
            <c:bubble3D val="0"/>
            <c:spPr>
              <a:solidFill>
                <a:srgbClr val="DC7070"/>
              </a:solidFill>
              <a:effectLst/>
            </c:spPr>
            <c:extLst>
              <c:ext xmlns:c16="http://schemas.microsoft.com/office/drawing/2014/chart" uri="{C3380CC4-5D6E-409C-BE32-E72D297353CC}">
                <c16:uniqueId val="{00000019-1B90-4BE5-A8EC-2CFC2C5A57AE}"/>
              </c:ext>
            </c:extLst>
          </c:dPt>
          <c:dLbls>
            <c:numFmt formatCode="0&quot;%&quot;" sourceLinked="0"/>
            <c:spPr>
              <a:noFill/>
              <a:ln>
                <a:noFill/>
              </a:ln>
              <a:effectLst/>
            </c:spPr>
            <c:txPr>
              <a:bodyPr/>
              <a:lstStyle/>
              <a:p>
                <a:pPr>
                  <a:defRPr sz="1000" b="0" i="0" u="none" strike="noStrike">
                    <a:solidFill>
                      <a:srgbClr val="0F1F33"/>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Sheet1!$A$2:$A$14</c:f>
              <c:strCache>
                <c:ptCount val="13"/>
                <c:pt idx="0">
                  <c:v>Benchmark and validate IR …</c:v>
                </c:pt>
                <c:pt idx="1">
                  <c:v>Install and verify IR suit…</c:v>
                </c:pt>
                <c:pt idx="2">
                  <c:v>Finalize and archive IR in…</c:v>
                </c:pt>
                <c:pt idx="3">
                  <c:v>Fix IR Intrinsic Calibration</c:v>
                </c:pt>
                <c:pt idx="4">
                  <c:v>Onboard all GitLab contrib…</c:v>
                </c:pt>
                <c:pt idx="5">
                  <c:v>Add all Digital Trident Gi…</c:v>
                </c:pt>
                <c:pt idx="6">
                  <c:v>Validate Jetson environmen…</c:v>
                </c:pt>
                <c:pt idx="7">
                  <c:v>Enable AI document content…</c:v>
                </c:pt>
                <c:pt idx="8">
                  <c:v>Document and archive IR YO…</c:v>
                </c:pt>
                <c:pt idx="9">
                  <c:v>Deploy Odyssey App</c:v>
                </c:pt>
                <c:pt idx="10">
                  <c:v>Run and verify full IR int…</c:v>
                </c:pt>
                <c:pt idx="11">
                  <c:v>Validate IR intrinsic cali…</c:v>
                </c:pt>
                <c:pt idx="12">
                  <c:v>IR Web App integration tes…</c:v>
                </c:pt>
              </c:strCache>
            </c:strRef>
          </c:cat>
          <c:val>
            <c:numRef>
              <c:f>Sheet1!$B$2:$B$14</c:f>
              <c:numCache>
                <c:formatCode>General</c:formatCode>
                <c:ptCount val="13"/>
                <c:pt idx="0">
                  <c:v>40</c:v>
                </c:pt>
                <c:pt idx="1">
                  <c:v>0</c:v>
                </c:pt>
                <c:pt idx="2">
                  <c:v>0</c:v>
                </c:pt>
                <c:pt idx="3">
                  <c:v>40</c:v>
                </c:pt>
                <c:pt idx="4">
                  <c:v>40</c:v>
                </c:pt>
                <c:pt idx="5">
                  <c:v>0</c:v>
                </c:pt>
                <c:pt idx="6">
                  <c:v>0</c:v>
                </c:pt>
                <c:pt idx="7">
                  <c:v>100</c:v>
                </c:pt>
                <c:pt idx="8">
                  <c:v>0</c:v>
                </c:pt>
                <c:pt idx="9">
                  <c:v>75</c:v>
                </c:pt>
                <c:pt idx="10">
                  <c:v>0</c:v>
                </c:pt>
                <c:pt idx="11">
                  <c:v>40</c:v>
                </c:pt>
                <c:pt idx="12">
                  <c:v>80</c:v>
                </c:pt>
              </c:numCache>
            </c:numRef>
          </c:val>
          <c:extLst>
            <c:ext xmlns:c16="http://schemas.microsoft.com/office/drawing/2014/chart" uri="{C3380CC4-5D6E-409C-BE32-E72D297353CC}">
              <c16:uniqueId val="{0000001A-1B90-4BE5-A8EC-2CFC2C5A57AE}"/>
            </c:ext>
          </c:extLst>
        </c:ser>
        <c:dLbls>
          <c:showLegendKey val="0"/>
          <c:showVal val="1"/>
          <c:showCatName val="0"/>
          <c:showSerName val="0"/>
          <c:showPercent val="0"/>
          <c:showBubbleSize val="0"/>
        </c:dLbls>
        <c:gapWidth val="35"/>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6B7A8D"/>
                </a:solidFill>
                <a:latin typeface="Arial"/>
              </a:defRPr>
            </a:pPr>
            <a:endParaRPr lang="en-US"/>
          </a:p>
        </c:txPr>
        <c:crossAx val="2094734552"/>
        <c:crosses val="autoZero"/>
        <c:auto val="1"/>
        <c:lblAlgn val="ctr"/>
        <c:lblOffset val="100"/>
        <c:noMultiLvlLbl val="1"/>
      </c:catAx>
      <c:valAx>
        <c:axId val="2094734552"/>
        <c:scaling>
          <c:orientation val="minMax"/>
          <c:max val="100"/>
        </c:scaling>
        <c:delete val="0"/>
        <c:axPos val="b"/>
        <c:majorGridlines>
          <c:spPr>
            <a:ln w="12700" cap="flat">
              <a:solidFill>
                <a:srgbClr val="888888"/>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6B7A8D"/>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Avg Progress %</c:v>
                </c:pt>
              </c:strCache>
            </c:strRef>
          </c:tx>
          <c:spPr>
            <a:solidFill>
              <a:srgbClr val="3B8EEA"/>
            </a:solidFill>
            <a:effectLst/>
          </c:spPr>
          <c:invertIfNegative val="0"/>
          <c:dPt>
            <c:idx val="0"/>
            <c:invertIfNegative val="0"/>
            <c:bubble3D val="0"/>
            <c:extLst>
              <c:ext xmlns:c16="http://schemas.microsoft.com/office/drawing/2014/chart" uri="{C3380CC4-5D6E-409C-BE32-E72D297353CC}">
                <c16:uniqueId val="{00000001-973E-4ECF-9E00-B2E70C4A50A1}"/>
              </c:ext>
            </c:extLst>
          </c:dPt>
          <c:dPt>
            <c:idx val="1"/>
            <c:invertIfNegative val="0"/>
            <c:bubble3D val="0"/>
            <c:spPr>
              <a:solidFill>
                <a:srgbClr val="DC7070"/>
              </a:solidFill>
              <a:effectLst/>
            </c:spPr>
            <c:extLst>
              <c:ext xmlns:c16="http://schemas.microsoft.com/office/drawing/2014/chart" uri="{C3380CC4-5D6E-409C-BE32-E72D297353CC}">
                <c16:uniqueId val="{00000003-973E-4ECF-9E00-B2E70C4A50A1}"/>
              </c:ext>
            </c:extLst>
          </c:dPt>
          <c:dPt>
            <c:idx val="2"/>
            <c:invertIfNegative val="0"/>
            <c:bubble3D val="0"/>
            <c:spPr>
              <a:solidFill>
                <a:srgbClr val="BD93F9"/>
              </a:solidFill>
              <a:effectLst/>
            </c:spPr>
            <c:extLst>
              <c:ext xmlns:c16="http://schemas.microsoft.com/office/drawing/2014/chart" uri="{C3380CC4-5D6E-409C-BE32-E72D297353CC}">
                <c16:uniqueId val="{00000005-973E-4ECF-9E00-B2E70C4A50A1}"/>
              </c:ext>
            </c:extLst>
          </c:dPt>
          <c:dLbls>
            <c:numFmt formatCode="0&quot;%&quot;" sourceLinked="0"/>
            <c:spPr>
              <a:noFill/>
              <a:ln>
                <a:noFill/>
              </a:ln>
              <a:effectLst/>
            </c:spPr>
            <c:txPr>
              <a:bodyPr/>
              <a:lstStyle/>
              <a:p>
                <a:pPr>
                  <a:defRPr sz="1200" b="0" i="0" u="none" strike="noStrike">
                    <a:solidFill>
                      <a:srgbClr val="0F1F33"/>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Seeker</c:v>
                </c:pt>
                <c:pt idx="1">
                  <c:v>DevOps</c:v>
                </c:pt>
                <c:pt idx="2">
                  <c:v>Admin</c:v>
                </c:pt>
              </c:strCache>
            </c:strRef>
          </c:cat>
          <c:val>
            <c:numRef>
              <c:f>Sheet1!$B$2:$B$4</c:f>
              <c:numCache>
                <c:formatCode>General</c:formatCode>
                <c:ptCount val="3"/>
                <c:pt idx="0">
                  <c:v>15</c:v>
                </c:pt>
                <c:pt idx="1">
                  <c:v>49</c:v>
                </c:pt>
                <c:pt idx="2">
                  <c:v>100</c:v>
                </c:pt>
              </c:numCache>
            </c:numRef>
          </c:val>
          <c:extLst>
            <c:ext xmlns:c16="http://schemas.microsoft.com/office/drawing/2014/chart" uri="{C3380CC4-5D6E-409C-BE32-E72D297353CC}">
              <c16:uniqueId val="{00000006-973E-4ECF-9E00-B2E70C4A50A1}"/>
            </c:ext>
          </c:extLst>
        </c:ser>
        <c:dLbls>
          <c:showLegendKey val="0"/>
          <c:showVal val="1"/>
          <c:showCatName val="0"/>
          <c:showSerName val="0"/>
          <c:showPercent val="0"/>
          <c:showBubbleSize val="0"/>
        </c:dLbls>
        <c:gapWidth val="4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B7A8D"/>
                </a:solidFill>
                <a:latin typeface="Arial"/>
              </a:defRPr>
            </a:pPr>
            <a:endParaRPr lang="en-US"/>
          </a:p>
        </c:txPr>
        <c:crossAx val="2094734552"/>
        <c:crosses val="autoZero"/>
        <c:auto val="1"/>
        <c:lblAlgn val="ctr"/>
        <c:lblOffset val="100"/>
        <c:noMultiLvlLbl val="1"/>
      </c:catAx>
      <c:valAx>
        <c:axId val="2094734552"/>
        <c:scaling>
          <c:orientation val="minMax"/>
          <c:max val="100"/>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B7A8D"/>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359220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5F0E8"/>
        </a:solidFill>
        <a:effectLst/>
      </p:bgPr>
    </p:bg>
    <p:spTree>
      <p:nvGrpSpPr>
        <p:cNvPr id="1" name=""/>
        <p:cNvGrpSpPr/>
        <p:nvPr/>
      </p:nvGrpSpPr>
      <p:grpSpPr>
        <a:xfrm>
          <a:off x="0" y="0"/>
          <a:ext cx="0" cy="0"/>
          <a:chOff x="0" y="0"/>
          <a:chExt cx="0" cy="0"/>
        </a:xfrm>
      </p:grpSpPr>
      <p:sp>
        <p:nvSpPr>
          <p:cNvPr id="2" name="Shape 0"/>
          <p:cNvSpPr/>
          <p:nvPr/>
        </p:nvSpPr>
        <p:spPr>
          <a:xfrm>
            <a:off x="0" y="0"/>
            <a:ext cx="12192000" cy="91440"/>
          </a:xfrm>
          <a:prstGeom prst="rect">
            <a:avLst/>
          </a:prstGeom>
          <a:solidFill>
            <a:srgbClr val="1E3A5F"/>
          </a:solidFill>
          <a:ln/>
        </p:spPr>
        <p:txBody>
          <a:bodyPr/>
          <a:lstStyle/>
          <a:p>
            <a:endParaRPr lang="en-US"/>
          </a:p>
        </p:txBody>
      </p:sp>
      <p:sp>
        <p:nvSpPr>
          <p:cNvPr id="3" name="Shape 1"/>
          <p:cNvSpPr/>
          <p:nvPr/>
        </p:nvSpPr>
        <p:spPr>
          <a:xfrm>
            <a:off x="0" y="91440"/>
            <a:ext cx="109728" cy="6766560"/>
          </a:xfrm>
          <a:prstGeom prst="rect">
            <a:avLst/>
          </a:prstGeom>
          <a:solidFill>
            <a:srgbClr val="3A7A6A"/>
          </a:solidFill>
          <a:ln/>
        </p:spPr>
        <p:txBody>
          <a:bodyPr/>
          <a:lstStyle/>
          <a:p>
            <a:endParaRPr lang="en-US"/>
          </a:p>
        </p:txBody>
      </p:sp>
      <p:sp>
        <p:nvSpPr>
          <p:cNvPr id="4" name="Shape 2"/>
          <p:cNvSpPr/>
          <p:nvPr/>
        </p:nvSpPr>
        <p:spPr>
          <a:xfrm>
            <a:off x="109728" y="91440"/>
            <a:ext cx="36576" cy="6766560"/>
          </a:xfrm>
          <a:prstGeom prst="rect">
            <a:avLst/>
          </a:prstGeom>
          <a:solidFill>
            <a:srgbClr val="1E3A5F"/>
          </a:solidFill>
          <a:ln/>
        </p:spPr>
        <p:txBody>
          <a:bodyPr/>
          <a:lstStyle/>
          <a:p>
            <a:endParaRPr lang="en-US"/>
          </a:p>
        </p:txBody>
      </p:sp>
      <p:sp>
        <p:nvSpPr>
          <p:cNvPr id="5" name="Text 3"/>
          <p:cNvSpPr/>
          <p:nvPr/>
        </p:nvSpPr>
        <p:spPr>
          <a:xfrm>
            <a:off x="365760" y="914400"/>
            <a:ext cx="11430000" cy="548640"/>
          </a:xfrm>
          <a:prstGeom prst="rect">
            <a:avLst/>
          </a:prstGeom>
          <a:noFill/>
          <a:ln/>
        </p:spPr>
        <p:txBody>
          <a:bodyPr wrap="square" rtlCol="0" anchor="ctr"/>
          <a:lstStyle/>
          <a:p>
            <a:pPr marL="0" indent="0">
              <a:buNone/>
            </a:pPr>
            <a:r>
              <a:rPr lang="en-US" sz="1400" dirty="0">
                <a:solidFill>
                  <a:srgbClr val="6B7A8D"/>
                </a:solidFill>
                <a:latin typeface="DM Mono" pitchFamily="34" charset="0"/>
                <a:ea typeface="DM Mono" pitchFamily="34" charset="-122"/>
                <a:cs typeface="DM Mono" pitchFamily="34" charset="-120"/>
              </a:rPr>
              <a:t>USMC CapDev: Low-Cost Tactical Missile with AI-Enabled IR Seeker</a:t>
            </a:r>
            <a:endParaRPr lang="en-US" sz="1400" dirty="0"/>
          </a:p>
        </p:txBody>
      </p:sp>
      <p:sp>
        <p:nvSpPr>
          <p:cNvPr id="6" name="Text 4"/>
          <p:cNvSpPr/>
          <p:nvPr/>
        </p:nvSpPr>
        <p:spPr>
          <a:xfrm>
            <a:off x="365760" y="1554480"/>
            <a:ext cx="11430000" cy="1828800"/>
          </a:xfrm>
          <a:prstGeom prst="rect">
            <a:avLst/>
          </a:prstGeom>
          <a:noFill/>
          <a:ln/>
        </p:spPr>
        <p:txBody>
          <a:bodyPr wrap="square" rtlCol="0" anchor="t"/>
          <a:lstStyle/>
          <a:p>
            <a:pPr marL="0" indent="0">
              <a:buNone/>
            </a:pPr>
            <a:r>
              <a:rPr lang="en-US" sz="4200" b="1" dirty="0">
                <a:solidFill>
                  <a:srgbClr val="0F1F33"/>
                </a:solidFill>
                <a:latin typeface="Syne" pitchFamily="34" charset="0"/>
                <a:ea typeface="Syne" pitchFamily="34" charset="-122"/>
                <a:cs typeface="Syne" pitchFamily="34" charset="-120"/>
              </a:rPr>
              <a:t>USMC CapDev IR Seeker — Project Status Report</a:t>
            </a:r>
            <a:endParaRPr lang="en-US" sz="4200" dirty="0"/>
          </a:p>
        </p:txBody>
      </p:sp>
      <p:sp>
        <p:nvSpPr>
          <p:cNvPr id="7" name="Text 5"/>
          <p:cNvSpPr/>
          <p:nvPr/>
        </p:nvSpPr>
        <p:spPr>
          <a:xfrm>
            <a:off x="365760" y="3474720"/>
            <a:ext cx="11430000" cy="548640"/>
          </a:xfrm>
          <a:prstGeom prst="rect">
            <a:avLst/>
          </a:prstGeom>
          <a:noFill/>
          <a:ln/>
        </p:spPr>
        <p:txBody>
          <a:bodyPr wrap="square" rtlCol="0" anchor="ctr"/>
          <a:lstStyle/>
          <a:p>
            <a:pPr marL="0" indent="0">
              <a:buNone/>
            </a:pPr>
            <a:r>
              <a:rPr lang="en-US" sz="2000" dirty="0">
                <a:solidFill>
                  <a:srgbClr val="1E3A5F"/>
                </a:solidFill>
                <a:latin typeface="Syne" pitchFamily="34" charset="0"/>
                <a:ea typeface="Syne" pitchFamily="34" charset="-122"/>
                <a:cs typeface="Syne" pitchFamily="34" charset="-120"/>
              </a:rPr>
              <a:t>Project Status Report — March 2026</a:t>
            </a:r>
            <a:endParaRPr lang="en-US" sz="2000" dirty="0"/>
          </a:p>
        </p:txBody>
      </p:sp>
      <p:sp>
        <p:nvSpPr>
          <p:cNvPr id="8" name="Shape 6"/>
          <p:cNvSpPr/>
          <p:nvPr/>
        </p:nvSpPr>
        <p:spPr>
          <a:xfrm>
            <a:off x="365760" y="4160520"/>
            <a:ext cx="3657600" cy="27432"/>
          </a:xfrm>
          <a:prstGeom prst="rect">
            <a:avLst/>
          </a:prstGeom>
          <a:solidFill>
            <a:srgbClr val="C8C0B4"/>
          </a:solidFill>
          <a:ln/>
        </p:spPr>
        <p:txBody>
          <a:bodyPr/>
          <a:lstStyle/>
          <a:p>
            <a:endParaRPr lang="en-US"/>
          </a:p>
        </p:txBody>
      </p:sp>
      <p:sp>
        <p:nvSpPr>
          <p:cNvPr id="9" name="Text 7"/>
          <p:cNvSpPr/>
          <p:nvPr/>
        </p:nvSpPr>
        <p:spPr>
          <a:xfrm>
            <a:off x="365760" y="4297680"/>
            <a:ext cx="5486400" cy="365760"/>
          </a:xfrm>
          <a:prstGeom prst="rect">
            <a:avLst/>
          </a:prstGeom>
          <a:noFill/>
          <a:ln/>
        </p:spPr>
        <p:txBody>
          <a:bodyPr wrap="square" rtlCol="0" anchor="ctr"/>
          <a:lstStyle/>
          <a:p>
            <a:pPr marL="0" indent="0">
              <a:buNone/>
            </a:pPr>
            <a:r>
              <a:rPr lang="en-US" sz="1100" dirty="0">
                <a:solidFill>
                  <a:srgbClr val="6B7A8D"/>
                </a:solidFill>
                <a:latin typeface="DM Mono" pitchFamily="34" charset="0"/>
                <a:ea typeface="DM Mono" pitchFamily="34" charset="-122"/>
                <a:cs typeface="DM Mono" pitchFamily="34" charset="-120"/>
              </a:rPr>
              <a:t>Generated March 20, 2026</a:t>
            </a:r>
            <a:endParaRPr lang="en-US" sz="1100" dirty="0"/>
          </a:p>
        </p:txBody>
      </p:sp>
      <p:sp>
        <p:nvSpPr>
          <p:cNvPr id="10" name="Shape 8"/>
          <p:cNvSpPr/>
          <p:nvPr/>
        </p:nvSpPr>
        <p:spPr>
          <a:xfrm>
            <a:off x="365760" y="4937760"/>
            <a:ext cx="2560320" cy="1097280"/>
          </a:xfrm>
          <a:prstGeom prst="rect">
            <a:avLst/>
          </a:prstGeom>
          <a:solidFill>
            <a:srgbClr val="ECE7DF"/>
          </a:solidFill>
          <a:ln w="12700">
            <a:solidFill>
              <a:srgbClr val="C8C0B4"/>
            </a:solidFill>
            <a:prstDash val="solid"/>
          </a:ln>
        </p:spPr>
        <p:txBody>
          <a:bodyPr/>
          <a:lstStyle/>
          <a:p>
            <a:endParaRPr lang="en-US"/>
          </a:p>
        </p:txBody>
      </p:sp>
      <p:sp>
        <p:nvSpPr>
          <p:cNvPr id="11" name="Text 9"/>
          <p:cNvSpPr/>
          <p:nvPr/>
        </p:nvSpPr>
        <p:spPr>
          <a:xfrm>
            <a:off x="365760" y="5029200"/>
            <a:ext cx="2560320" cy="548640"/>
          </a:xfrm>
          <a:prstGeom prst="rect">
            <a:avLst/>
          </a:prstGeom>
          <a:noFill/>
          <a:ln/>
        </p:spPr>
        <p:txBody>
          <a:bodyPr wrap="square" rtlCol="0" anchor="ctr"/>
          <a:lstStyle/>
          <a:p>
            <a:pPr marL="0" indent="0" algn="ctr">
              <a:buNone/>
            </a:pPr>
            <a:r>
              <a:rPr lang="en-US" sz="2800" b="1" dirty="0">
                <a:solidFill>
                  <a:srgbClr val="1E3A5F"/>
                </a:solidFill>
                <a:latin typeface="Syne" pitchFamily="34" charset="0"/>
                <a:ea typeface="Syne" pitchFamily="34" charset="-122"/>
                <a:cs typeface="Syne" pitchFamily="34" charset="-120"/>
              </a:rPr>
              <a:t>13</a:t>
            </a:r>
            <a:endParaRPr lang="en-US" sz="2800" dirty="0"/>
          </a:p>
        </p:txBody>
      </p:sp>
      <p:sp>
        <p:nvSpPr>
          <p:cNvPr id="12" name="Text 10"/>
          <p:cNvSpPr/>
          <p:nvPr/>
        </p:nvSpPr>
        <p:spPr>
          <a:xfrm>
            <a:off x="365760" y="5577840"/>
            <a:ext cx="2560320" cy="320040"/>
          </a:xfrm>
          <a:prstGeom prst="rect">
            <a:avLst/>
          </a:prstGeom>
          <a:noFill/>
          <a:ln/>
        </p:spPr>
        <p:txBody>
          <a:bodyPr wrap="square" rtlCol="0" anchor="ctr"/>
          <a:lstStyle/>
          <a:p>
            <a:pPr marL="0" indent="0" algn="ctr">
              <a:buNone/>
            </a:pPr>
            <a:r>
              <a:rPr lang="en-US" sz="1000" dirty="0">
                <a:solidFill>
                  <a:srgbClr val="6B7A8D"/>
                </a:solidFill>
                <a:latin typeface="DM Mono" pitchFamily="34" charset="0"/>
                <a:ea typeface="DM Mono" pitchFamily="34" charset="-122"/>
                <a:cs typeface="DM Mono" pitchFamily="34" charset="-120"/>
              </a:rPr>
              <a:t>Total Goals</a:t>
            </a:r>
            <a:endParaRPr lang="en-US" sz="1000" dirty="0"/>
          </a:p>
        </p:txBody>
      </p:sp>
      <p:sp>
        <p:nvSpPr>
          <p:cNvPr id="13" name="Shape 11"/>
          <p:cNvSpPr/>
          <p:nvPr/>
        </p:nvSpPr>
        <p:spPr>
          <a:xfrm>
            <a:off x="3291840" y="4937760"/>
            <a:ext cx="2560320" cy="1097280"/>
          </a:xfrm>
          <a:prstGeom prst="rect">
            <a:avLst/>
          </a:prstGeom>
          <a:solidFill>
            <a:srgbClr val="ECE7DF"/>
          </a:solidFill>
          <a:ln w="12700">
            <a:solidFill>
              <a:srgbClr val="C8C0B4"/>
            </a:solidFill>
            <a:prstDash val="solid"/>
          </a:ln>
        </p:spPr>
        <p:txBody>
          <a:bodyPr/>
          <a:lstStyle/>
          <a:p>
            <a:endParaRPr lang="en-US"/>
          </a:p>
        </p:txBody>
      </p:sp>
      <p:sp>
        <p:nvSpPr>
          <p:cNvPr id="14" name="Text 12"/>
          <p:cNvSpPr/>
          <p:nvPr/>
        </p:nvSpPr>
        <p:spPr>
          <a:xfrm>
            <a:off x="3291840" y="5029200"/>
            <a:ext cx="2560320" cy="548640"/>
          </a:xfrm>
          <a:prstGeom prst="rect">
            <a:avLst/>
          </a:prstGeom>
          <a:noFill/>
          <a:ln/>
        </p:spPr>
        <p:txBody>
          <a:bodyPr wrap="square" rtlCol="0" anchor="ctr"/>
          <a:lstStyle/>
          <a:p>
            <a:pPr marL="0" indent="0" algn="ctr">
              <a:buNone/>
            </a:pPr>
            <a:r>
              <a:rPr lang="en-US" sz="2800" b="1" dirty="0">
                <a:solidFill>
                  <a:srgbClr val="1E3A5F"/>
                </a:solidFill>
                <a:latin typeface="Syne" pitchFamily="34" charset="0"/>
                <a:ea typeface="Syne" pitchFamily="34" charset="-122"/>
                <a:cs typeface="Syne" pitchFamily="34" charset="-120"/>
              </a:rPr>
              <a:t>1</a:t>
            </a:r>
            <a:endParaRPr lang="en-US" sz="2800" dirty="0"/>
          </a:p>
        </p:txBody>
      </p:sp>
      <p:sp>
        <p:nvSpPr>
          <p:cNvPr id="15" name="Text 13"/>
          <p:cNvSpPr/>
          <p:nvPr/>
        </p:nvSpPr>
        <p:spPr>
          <a:xfrm>
            <a:off x="3291840" y="5577840"/>
            <a:ext cx="2560320" cy="320040"/>
          </a:xfrm>
          <a:prstGeom prst="rect">
            <a:avLst/>
          </a:prstGeom>
          <a:noFill/>
          <a:ln/>
        </p:spPr>
        <p:txBody>
          <a:bodyPr wrap="square" rtlCol="0" anchor="ctr"/>
          <a:lstStyle/>
          <a:p>
            <a:pPr marL="0" indent="0" algn="ctr">
              <a:buNone/>
            </a:pPr>
            <a:r>
              <a:rPr lang="en-US" sz="1000" dirty="0">
                <a:solidFill>
                  <a:srgbClr val="6B7A8D"/>
                </a:solidFill>
                <a:latin typeface="DM Mono" pitchFamily="34" charset="0"/>
                <a:ea typeface="DM Mono" pitchFamily="34" charset="-122"/>
                <a:cs typeface="DM Mono" pitchFamily="34" charset="-120"/>
              </a:rPr>
              <a:t>Complete</a:t>
            </a:r>
            <a:endParaRPr lang="en-US" sz="1000" dirty="0"/>
          </a:p>
        </p:txBody>
      </p:sp>
      <p:sp>
        <p:nvSpPr>
          <p:cNvPr id="16" name="Shape 14"/>
          <p:cNvSpPr/>
          <p:nvPr/>
        </p:nvSpPr>
        <p:spPr>
          <a:xfrm>
            <a:off x="6217920" y="4937760"/>
            <a:ext cx="2560320" cy="1097280"/>
          </a:xfrm>
          <a:prstGeom prst="rect">
            <a:avLst/>
          </a:prstGeom>
          <a:solidFill>
            <a:srgbClr val="ECE7DF"/>
          </a:solidFill>
          <a:ln w="12700">
            <a:solidFill>
              <a:srgbClr val="C8C0B4"/>
            </a:solidFill>
            <a:prstDash val="solid"/>
          </a:ln>
        </p:spPr>
        <p:txBody>
          <a:bodyPr/>
          <a:lstStyle/>
          <a:p>
            <a:endParaRPr lang="en-US"/>
          </a:p>
        </p:txBody>
      </p:sp>
      <p:sp>
        <p:nvSpPr>
          <p:cNvPr id="17" name="Text 15"/>
          <p:cNvSpPr/>
          <p:nvPr/>
        </p:nvSpPr>
        <p:spPr>
          <a:xfrm>
            <a:off x="6217920" y="5029200"/>
            <a:ext cx="2560320" cy="548640"/>
          </a:xfrm>
          <a:prstGeom prst="rect">
            <a:avLst/>
          </a:prstGeom>
          <a:noFill/>
          <a:ln/>
        </p:spPr>
        <p:txBody>
          <a:bodyPr wrap="square" rtlCol="0" anchor="ctr"/>
          <a:lstStyle/>
          <a:p>
            <a:pPr marL="0" indent="0" algn="ctr">
              <a:buNone/>
            </a:pPr>
            <a:r>
              <a:rPr lang="en-US" sz="2800" b="1" dirty="0">
                <a:solidFill>
                  <a:srgbClr val="1E3A5F"/>
                </a:solidFill>
                <a:latin typeface="Syne" pitchFamily="34" charset="0"/>
                <a:ea typeface="Syne" pitchFamily="34" charset="-122"/>
                <a:cs typeface="Syne" pitchFamily="34" charset="-120"/>
              </a:rPr>
              <a:t>4</a:t>
            </a:r>
            <a:endParaRPr lang="en-US" sz="2800" dirty="0"/>
          </a:p>
        </p:txBody>
      </p:sp>
      <p:sp>
        <p:nvSpPr>
          <p:cNvPr id="18" name="Text 16"/>
          <p:cNvSpPr/>
          <p:nvPr/>
        </p:nvSpPr>
        <p:spPr>
          <a:xfrm>
            <a:off x="6217920" y="5577840"/>
            <a:ext cx="2560320" cy="320040"/>
          </a:xfrm>
          <a:prstGeom prst="rect">
            <a:avLst/>
          </a:prstGeom>
          <a:noFill/>
          <a:ln/>
        </p:spPr>
        <p:txBody>
          <a:bodyPr wrap="square" rtlCol="0" anchor="ctr"/>
          <a:lstStyle/>
          <a:p>
            <a:pPr marL="0" indent="0" algn="ctr">
              <a:buNone/>
            </a:pPr>
            <a:r>
              <a:rPr lang="en-US" sz="1000" dirty="0">
                <a:solidFill>
                  <a:srgbClr val="6B7A8D"/>
                </a:solidFill>
                <a:latin typeface="DM Mono" pitchFamily="34" charset="0"/>
                <a:ea typeface="DM Mono" pitchFamily="34" charset="-122"/>
                <a:cs typeface="DM Mono" pitchFamily="34" charset="-120"/>
              </a:rPr>
              <a:t>In Progress</a:t>
            </a:r>
            <a:endParaRPr lang="en-US" sz="1000" dirty="0"/>
          </a:p>
        </p:txBody>
      </p:sp>
      <p:sp>
        <p:nvSpPr>
          <p:cNvPr id="19" name="Shape 17"/>
          <p:cNvSpPr/>
          <p:nvPr/>
        </p:nvSpPr>
        <p:spPr>
          <a:xfrm>
            <a:off x="9144000" y="4937760"/>
            <a:ext cx="2560320" cy="1097280"/>
          </a:xfrm>
          <a:prstGeom prst="rect">
            <a:avLst/>
          </a:prstGeom>
          <a:solidFill>
            <a:srgbClr val="ECE7DF"/>
          </a:solidFill>
          <a:ln w="12700">
            <a:solidFill>
              <a:srgbClr val="C8C0B4"/>
            </a:solidFill>
            <a:prstDash val="solid"/>
          </a:ln>
        </p:spPr>
        <p:txBody>
          <a:bodyPr/>
          <a:lstStyle/>
          <a:p>
            <a:endParaRPr lang="en-US"/>
          </a:p>
        </p:txBody>
      </p:sp>
      <p:sp>
        <p:nvSpPr>
          <p:cNvPr id="20" name="Text 18"/>
          <p:cNvSpPr/>
          <p:nvPr/>
        </p:nvSpPr>
        <p:spPr>
          <a:xfrm>
            <a:off x="9144000" y="5029200"/>
            <a:ext cx="2560320" cy="548640"/>
          </a:xfrm>
          <a:prstGeom prst="rect">
            <a:avLst/>
          </a:prstGeom>
          <a:noFill/>
          <a:ln/>
        </p:spPr>
        <p:txBody>
          <a:bodyPr wrap="square" rtlCol="0" anchor="ctr"/>
          <a:lstStyle/>
          <a:p>
            <a:pPr marL="0" indent="0" algn="ctr">
              <a:buNone/>
            </a:pPr>
            <a:r>
              <a:rPr lang="en-US" sz="2800" b="1" dirty="0">
                <a:solidFill>
                  <a:srgbClr val="1E3A5F"/>
                </a:solidFill>
                <a:latin typeface="Syne" pitchFamily="34" charset="0"/>
                <a:ea typeface="Syne" pitchFamily="34" charset="-122"/>
                <a:cs typeface="Syne" pitchFamily="34" charset="-120"/>
              </a:rPr>
              <a:t>0</a:t>
            </a:r>
            <a:endParaRPr lang="en-US" sz="2800" dirty="0"/>
          </a:p>
        </p:txBody>
      </p:sp>
      <p:sp>
        <p:nvSpPr>
          <p:cNvPr id="21" name="Text 19"/>
          <p:cNvSpPr/>
          <p:nvPr/>
        </p:nvSpPr>
        <p:spPr>
          <a:xfrm>
            <a:off x="9144000" y="5577840"/>
            <a:ext cx="2560320" cy="320040"/>
          </a:xfrm>
          <a:prstGeom prst="rect">
            <a:avLst/>
          </a:prstGeom>
          <a:noFill/>
          <a:ln/>
        </p:spPr>
        <p:txBody>
          <a:bodyPr wrap="square" rtlCol="0" anchor="ctr"/>
          <a:lstStyle/>
          <a:p>
            <a:pPr marL="0" indent="0" algn="ctr">
              <a:buNone/>
            </a:pPr>
            <a:r>
              <a:rPr lang="en-US" sz="1000" dirty="0">
                <a:solidFill>
                  <a:srgbClr val="6B7A8D"/>
                </a:solidFill>
                <a:latin typeface="DM Mono" pitchFamily="34" charset="0"/>
                <a:ea typeface="DM Mono" pitchFamily="34" charset="-122"/>
                <a:cs typeface="DM Mono" pitchFamily="34" charset="-120"/>
              </a:rPr>
              <a:t>Team Members</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0E8"/>
        </a:solidFill>
        <a:effectLst/>
      </p:bgPr>
    </p:bg>
    <p:spTree>
      <p:nvGrpSpPr>
        <p:cNvPr id="1" name=""/>
        <p:cNvGrpSpPr/>
        <p:nvPr/>
      </p:nvGrpSpPr>
      <p:grpSpPr>
        <a:xfrm>
          <a:off x="0" y="0"/>
          <a:ext cx="0" cy="0"/>
          <a:chOff x="0" y="0"/>
          <a:chExt cx="0" cy="0"/>
        </a:xfrm>
      </p:grpSpPr>
      <p:sp>
        <p:nvSpPr>
          <p:cNvPr id="2" name="Shape 0"/>
          <p:cNvSpPr/>
          <p:nvPr/>
        </p:nvSpPr>
        <p:spPr>
          <a:xfrm>
            <a:off x="0" y="0"/>
            <a:ext cx="12192000" cy="91440"/>
          </a:xfrm>
          <a:prstGeom prst="rect">
            <a:avLst/>
          </a:prstGeom>
          <a:solidFill>
            <a:srgbClr val="1E3A5F"/>
          </a:solidFill>
          <a:ln/>
        </p:spPr>
        <p:txBody>
          <a:bodyPr/>
          <a:lstStyle/>
          <a:p>
            <a:endParaRPr lang="en-US"/>
          </a:p>
        </p:txBody>
      </p:sp>
      <p:sp>
        <p:nvSpPr>
          <p:cNvPr id="3" name="Text 1"/>
          <p:cNvSpPr/>
          <p:nvPr/>
        </p:nvSpPr>
        <p:spPr>
          <a:xfrm>
            <a:off x="457200" y="182880"/>
            <a:ext cx="11247120" cy="548640"/>
          </a:xfrm>
          <a:prstGeom prst="rect">
            <a:avLst/>
          </a:prstGeom>
          <a:noFill/>
          <a:ln/>
        </p:spPr>
        <p:txBody>
          <a:bodyPr wrap="square" rtlCol="0" anchor="ctr"/>
          <a:lstStyle/>
          <a:p>
            <a:pPr marL="0" indent="0">
              <a:buNone/>
            </a:pPr>
            <a:r>
              <a:rPr lang="en-US" sz="2400" b="1" dirty="0">
                <a:solidFill>
                  <a:srgbClr val="1E3A5F"/>
                </a:solidFill>
                <a:latin typeface="Syne" pitchFamily="34" charset="0"/>
                <a:ea typeface="Syne" pitchFamily="34" charset="-122"/>
                <a:cs typeface="Syne" pitchFamily="34" charset="-120"/>
              </a:rPr>
              <a:t>Executive Summary</a:t>
            </a:r>
            <a:endParaRPr lang="en-US" sz="2400" dirty="0"/>
          </a:p>
        </p:txBody>
      </p:sp>
      <p:sp>
        <p:nvSpPr>
          <p:cNvPr id="4" name="Shape 2"/>
          <p:cNvSpPr/>
          <p:nvPr/>
        </p:nvSpPr>
        <p:spPr>
          <a:xfrm>
            <a:off x="457200" y="804672"/>
            <a:ext cx="11247120" cy="22860"/>
          </a:xfrm>
          <a:prstGeom prst="rect">
            <a:avLst/>
          </a:prstGeom>
          <a:solidFill>
            <a:srgbClr val="C8C0B4"/>
          </a:solidFill>
          <a:ln/>
        </p:spPr>
        <p:txBody>
          <a:bodyPr/>
          <a:lstStyle/>
          <a:p>
            <a:endParaRPr lang="en-US"/>
          </a:p>
        </p:txBody>
      </p:sp>
      <p:sp>
        <p:nvSpPr>
          <p:cNvPr id="5" name="Text 3"/>
          <p:cNvSpPr/>
          <p:nvPr/>
        </p:nvSpPr>
        <p:spPr>
          <a:xfrm>
            <a:off x="457200" y="914400"/>
            <a:ext cx="6858000" cy="5303520"/>
          </a:xfrm>
          <a:prstGeom prst="rect">
            <a:avLst/>
          </a:prstGeom>
          <a:noFill/>
          <a:ln/>
        </p:spPr>
        <p:txBody>
          <a:bodyPr wrap="square" rtlCol="0" anchor="t"/>
          <a:lstStyle/>
          <a:p>
            <a:pPr marL="0" indent="0">
              <a:spcAft>
                <a:spcPts val="800"/>
              </a:spcAft>
              <a:buNone/>
            </a:pPr>
            <a:r>
              <a:rPr lang="en-US" sz="1300" dirty="0">
                <a:solidFill>
                  <a:srgbClr val="0F1F33"/>
                </a:solidFill>
                <a:latin typeface="DM Mono" pitchFamily="34" charset="0"/>
                <a:ea typeface="DM Mono" pitchFamily="34" charset="-122"/>
                <a:cs typeface="DM Mono" pitchFamily="34" charset="-120"/>
              </a:rPr>
              <a:t>USMC CapDev is progressing through critical seeker development phases with mixed momentum. Four tasks are currently in progress (IR YOLO benchmarking, IR intrinsic calibration, Jetson deployment, and DevOps integration) at 40% completion, one task is in review (Odyssey App deployment at 75%), and one task is complete (AI document access pipeline). However, seven tasks remain not started, creating schedule risk: key calibration documentation, Jetson environment validation, YOLO benchmark archival, and end-to-end pipeline testing are all at risk against May–June deadlines. GitLab repositories show active development in flight software optimization and IR web app deployment. Immediate focus required on Jetson Nano hardware integration and completion of seeker validation tasks to meet critical path milestones.</a:t>
            </a:r>
            <a:endParaRPr lang="en-US" sz="1300" dirty="0"/>
          </a:p>
        </p:txBody>
      </p:sp>
      <p:sp>
        <p:nvSpPr>
          <p:cNvPr id="6" name="Text 4"/>
          <p:cNvSpPr/>
          <p:nvPr/>
        </p:nvSpPr>
        <p:spPr>
          <a:xfrm>
            <a:off x="7589520" y="914400"/>
            <a:ext cx="4114800" cy="365760"/>
          </a:xfrm>
          <a:prstGeom prst="rect">
            <a:avLst/>
          </a:prstGeom>
          <a:noFill/>
          <a:ln/>
        </p:spPr>
        <p:txBody>
          <a:bodyPr wrap="square" rtlCol="0" anchor="ctr"/>
          <a:lstStyle/>
          <a:p>
            <a:pPr marL="0" indent="0" algn="ctr">
              <a:buNone/>
            </a:pPr>
            <a:r>
              <a:rPr lang="en-US" sz="1200" b="1" dirty="0">
                <a:solidFill>
                  <a:srgbClr val="6B7A8D"/>
                </a:solidFill>
                <a:latin typeface="Syne" pitchFamily="34" charset="0"/>
                <a:ea typeface="Syne" pitchFamily="34" charset="-122"/>
                <a:cs typeface="Syne" pitchFamily="34" charset="-120"/>
              </a:rPr>
              <a:t>Goal Status</a:t>
            </a:r>
            <a:endParaRPr lang="en-US" sz="1200" dirty="0"/>
          </a:p>
        </p:txBody>
      </p:sp>
      <p:graphicFrame>
        <p:nvGraphicFramePr>
          <p:cNvPr id="7" name="Chart 0"/>
          <p:cNvGraphicFramePr/>
          <p:nvPr/>
        </p:nvGraphicFramePr>
        <p:xfrm>
          <a:off x="7498080" y="1280160"/>
          <a:ext cx="4206240" cy="2926080"/>
        </p:xfrm>
        <a:graphic>
          <a:graphicData uri="http://schemas.openxmlformats.org/drawingml/2006/chart">
            <c:chart xmlns:c="http://schemas.openxmlformats.org/drawingml/2006/chart" xmlns:r="http://schemas.openxmlformats.org/officeDocument/2006/relationships" r:id="rId3"/>
          </a:graphicData>
        </a:graphic>
      </p:graphicFrame>
      <p:sp>
        <p:nvSpPr>
          <p:cNvPr id="8" name="Text 5"/>
          <p:cNvSpPr/>
          <p:nvPr/>
        </p:nvSpPr>
        <p:spPr>
          <a:xfrm>
            <a:off x="8686800" y="4480560"/>
            <a:ext cx="2011680" cy="731520"/>
          </a:xfrm>
          <a:prstGeom prst="rect">
            <a:avLst/>
          </a:prstGeom>
          <a:noFill/>
          <a:ln/>
        </p:spPr>
        <p:txBody>
          <a:bodyPr wrap="square" rtlCol="0" anchor="ctr"/>
          <a:lstStyle/>
          <a:p>
            <a:pPr marL="0" indent="0" algn="ctr">
              <a:buNone/>
            </a:pPr>
            <a:r>
              <a:rPr lang="en-US" sz="3200" b="1" dirty="0">
                <a:solidFill>
                  <a:srgbClr val="3A7A6A"/>
                </a:solidFill>
                <a:latin typeface="Syne" pitchFamily="34" charset="0"/>
                <a:ea typeface="Syne" pitchFamily="34" charset="-122"/>
                <a:cs typeface="Syne" pitchFamily="34" charset="-120"/>
              </a:rPr>
              <a:t>8%</a:t>
            </a:r>
            <a:endParaRPr lang="en-US" sz="3200" dirty="0"/>
          </a:p>
        </p:txBody>
      </p:sp>
      <p:sp>
        <p:nvSpPr>
          <p:cNvPr id="9" name="Text 6"/>
          <p:cNvSpPr/>
          <p:nvPr/>
        </p:nvSpPr>
        <p:spPr>
          <a:xfrm>
            <a:off x="8686800" y="5166360"/>
            <a:ext cx="2011680" cy="274320"/>
          </a:xfrm>
          <a:prstGeom prst="rect">
            <a:avLst/>
          </a:prstGeom>
          <a:noFill/>
          <a:ln/>
        </p:spPr>
        <p:txBody>
          <a:bodyPr wrap="square" rtlCol="0" anchor="ctr"/>
          <a:lstStyle/>
          <a:p>
            <a:pPr marL="0" indent="0" algn="ctr">
              <a:buNone/>
            </a:pPr>
            <a:r>
              <a:rPr lang="en-US" sz="1000" dirty="0">
                <a:solidFill>
                  <a:srgbClr val="6B7A8D"/>
                </a:solidFill>
                <a:latin typeface="DM Mono" pitchFamily="34" charset="0"/>
                <a:ea typeface="DM Mono" pitchFamily="34" charset="-122"/>
                <a:cs typeface="DM Mono" pitchFamily="34" charset="-120"/>
              </a:rPr>
              <a:t>Complete</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0E8"/>
        </a:solidFill>
        <a:effectLst/>
      </p:bgPr>
    </p:bg>
    <p:spTree>
      <p:nvGrpSpPr>
        <p:cNvPr id="1" name=""/>
        <p:cNvGrpSpPr/>
        <p:nvPr/>
      </p:nvGrpSpPr>
      <p:grpSpPr>
        <a:xfrm>
          <a:off x="0" y="0"/>
          <a:ext cx="0" cy="0"/>
          <a:chOff x="0" y="0"/>
          <a:chExt cx="0" cy="0"/>
        </a:xfrm>
      </p:grpSpPr>
      <p:sp>
        <p:nvSpPr>
          <p:cNvPr id="2" name="Shape 0"/>
          <p:cNvSpPr/>
          <p:nvPr/>
        </p:nvSpPr>
        <p:spPr>
          <a:xfrm>
            <a:off x="0" y="0"/>
            <a:ext cx="12192000" cy="91440"/>
          </a:xfrm>
          <a:prstGeom prst="rect">
            <a:avLst/>
          </a:prstGeom>
          <a:solidFill>
            <a:srgbClr val="1E3A5F"/>
          </a:solidFill>
          <a:ln/>
        </p:spPr>
        <p:txBody>
          <a:bodyPr/>
          <a:lstStyle/>
          <a:p>
            <a:endParaRPr lang="en-US"/>
          </a:p>
        </p:txBody>
      </p:sp>
      <p:sp>
        <p:nvSpPr>
          <p:cNvPr id="3" name="Text 1"/>
          <p:cNvSpPr/>
          <p:nvPr/>
        </p:nvSpPr>
        <p:spPr>
          <a:xfrm>
            <a:off x="457200" y="182880"/>
            <a:ext cx="11247120" cy="548640"/>
          </a:xfrm>
          <a:prstGeom prst="rect">
            <a:avLst/>
          </a:prstGeom>
          <a:noFill/>
          <a:ln/>
        </p:spPr>
        <p:txBody>
          <a:bodyPr wrap="square" rtlCol="0" anchor="ctr"/>
          <a:lstStyle/>
          <a:p>
            <a:pPr marL="0" indent="0">
              <a:buNone/>
            </a:pPr>
            <a:r>
              <a:rPr lang="en-US" sz="2400" b="1" dirty="0">
                <a:solidFill>
                  <a:srgbClr val="1E3A5F"/>
                </a:solidFill>
                <a:latin typeface="Syne" pitchFamily="34" charset="0"/>
                <a:ea typeface="Syne" pitchFamily="34" charset="-122"/>
                <a:cs typeface="Syne" pitchFamily="34" charset="-120"/>
              </a:rPr>
              <a:t>Goal Progress Overview</a:t>
            </a:r>
            <a:endParaRPr lang="en-US" sz="2400" dirty="0"/>
          </a:p>
        </p:txBody>
      </p:sp>
      <p:sp>
        <p:nvSpPr>
          <p:cNvPr id="4" name="Shape 2"/>
          <p:cNvSpPr/>
          <p:nvPr/>
        </p:nvSpPr>
        <p:spPr>
          <a:xfrm>
            <a:off x="457200" y="804672"/>
            <a:ext cx="11247120" cy="22860"/>
          </a:xfrm>
          <a:prstGeom prst="rect">
            <a:avLst/>
          </a:prstGeom>
          <a:solidFill>
            <a:srgbClr val="C8C0B4"/>
          </a:solidFill>
          <a:ln/>
        </p:spPr>
        <p:txBody>
          <a:bodyPr/>
          <a:lstStyle/>
          <a:p>
            <a:endParaRPr lang="en-US"/>
          </a:p>
        </p:txBody>
      </p:sp>
      <p:graphicFrame>
        <p:nvGraphicFramePr>
          <p:cNvPr id="5" name="Chart 0"/>
          <p:cNvGraphicFramePr/>
          <p:nvPr/>
        </p:nvGraphicFramePr>
        <p:xfrm>
          <a:off x="365760" y="914400"/>
          <a:ext cx="7772400" cy="5394960"/>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 3"/>
          <p:cNvSpPr/>
          <p:nvPr/>
        </p:nvSpPr>
        <p:spPr>
          <a:xfrm>
            <a:off x="8412480" y="868680"/>
            <a:ext cx="3291840" cy="320040"/>
          </a:xfrm>
          <a:prstGeom prst="rect">
            <a:avLst/>
          </a:prstGeom>
          <a:noFill/>
          <a:ln/>
        </p:spPr>
        <p:txBody>
          <a:bodyPr wrap="square" rtlCol="0" anchor="ctr"/>
          <a:lstStyle/>
          <a:p>
            <a:pPr marL="0" indent="0">
              <a:buNone/>
            </a:pPr>
            <a:r>
              <a:rPr lang="en-US" sz="1100" b="1" dirty="0">
                <a:solidFill>
                  <a:srgbClr val="6B7A8D"/>
                </a:solidFill>
                <a:latin typeface="Syne" pitchFamily="34" charset="0"/>
                <a:ea typeface="Syne" pitchFamily="34" charset="-122"/>
                <a:cs typeface="Syne" pitchFamily="34" charset="-120"/>
              </a:rPr>
              <a:t>Category</a:t>
            </a:r>
            <a:endParaRPr lang="en-US" sz="1100" dirty="0"/>
          </a:p>
        </p:txBody>
      </p:sp>
      <p:sp>
        <p:nvSpPr>
          <p:cNvPr id="7" name="Shape 4"/>
          <p:cNvSpPr/>
          <p:nvPr/>
        </p:nvSpPr>
        <p:spPr>
          <a:xfrm>
            <a:off x="8412480" y="1005840"/>
            <a:ext cx="164592" cy="164592"/>
          </a:xfrm>
          <a:prstGeom prst="rect">
            <a:avLst/>
          </a:prstGeom>
          <a:solidFill>
            <a:srgbClr val="3B8EEA"/>
          </a:solidFill>
          <a:ln/>
        </p:spPr>
        <p:txBody>
          <a:bodyPr/>
          <a:lstStyle/>
          <a:p>
            <a:endParaRPr lang="en-US"/>
          </a:p>
        </p:txBody>
      </p:sp>
      <p:sp>
        <p:nvSpPr>
          <p:cNvPr id="8" name="Text 5"/>
          <p:cNvSpPr/>
          <p:nvPr/>
        </p:nvSpPr>
        <p:spPr>
          <a:xfrm>
            <a:off x="8686800" y="987552"/>
            <a:ext cx="3017520" cy="201168"/>
          </a:xfrm>
          <a:prstGeom prst="rect">
            <a:avLst/>
          </a:prstGeom>
          <a:noFill/>
          <a:ln/>
        </p:spPr>
        <p:txBody>
          <a:bodyPr wrap="square" rtlCol="0" anchor="ctr"/>
          <a:lstStyle/>
          <a:p>
            <a:pPr marL="0" indent="0">
              <a:buNone/>
            </a:pPr>
            <a:r>
              <a:rPr lang="en-US" sz="1000" dirty="0">
                <a:solidFill>
                  <a:srgbClr val="0F1F33"/>
                </a:solidFill>
                <a:latin typeface="DM Mono" pitchFamily="34" charset="0"/>
                <a:ea typeface="DM Mono" pitchFamily="34" charset="-122"/>
                <a:cs typeface="DM Mono" pitchFamily="34" charset="-120"/>
              </a:rPr>
              <a:t>Seeker</a:t>
            </a:r>
            <a:endParaRPr lang="en-US" sz="1000" dirty="0"/>
          </a:p>
        </p:txBody>
      </p:sp>
      <p:sp>
        <p:nvSpPr>
          <p:cNvPr id="9" name="Shape 6"/>
          <p:cNvSpPr/>
          <p:nvPr/>
        </p:nvSpPr>
        <p:spPr>
          <a:xfrm>
            <a:off x="8412480" y="1298448"/>
            <a:ext cx="164592" cy="164592"/>
          </a:xfrm>
          <a:prstGeom prst="rect">
            <a:avLst/>
          </a:prstGeom>
          <a:solidFill>
            <a:srgbClr val="DC7070"/>
          </a:solidFill>
          <a:ln/>
        </p:spPr>
        <p:txBody>
          <a:bodyPr/>
          <a:lstStyle/>
          <a:p>
            <a:endParaRPr lang="en-US"/>
          </a:p>
        </p:txBody>
      </p:sp>
      <p:sp>
        <p:nvSpPr>
          <p:cNvPr id="10" name="Text 7"/>
          <p:cNvSpPr/>
          <p:nvPr/>
        </p:nvSpPr>
        <p:spPr>
          <a:xfrm>
            <a:off x="8686800" y="1280160"/>
            <a:ext cx="3017520" cy="201168"/>
          </a:xfrm>
          <a:prstGeom prst="rect">
            <a:avLst/>
          </a:prstGeom>
          <a:noFill/>
          <a:ln/>
        </p:spPr>
        <p:txBody>
          <a:bodyPr wrap="square" rtlCol="0" anchor="ctr"/>
          <a:lstStyle/>
          <a:p>
            <a:pPr marL="0" indent="0">
              <a:buNone/>
            </a:pPr>
            <a:r>
              <a:rPr lang="en-US" sz="1000" dirty="0">
                <a:solidFill>
                  <a:srgbClr val="0F1F33"/>
                </a:solidFill>
                <a:latin typeface="DM Mono" pitchFamily="34" charset="0"/>
                <a:ea typeface="DM Mono" pitchFamily="34" charset="-122"/>
                <a:cs typeface="DM Mono" pitchFamily="34" charset="-120"/>
              </a:rPr>
              <a:t>DevOps</a:t>
            </a:r>
            <a:endParaRPr lang="en-US" sz="1000" dirty="0"/>
          </a:p>
        </p:txBody>
      </p:sp>
      <p:sp>
        <p:nvSpPr>
          <p:cNvPr id="11" name="Shape 8"/>
          <p:cNvSpPr/>
          <p:nvPr/>
        </p:nvSpPr>
        <p:spPr>
          <a:xfrm>
            <a:off x="8412480" y="1591056"/>
            <a:ext cx="164592" cy="164592"/>
          </a:xfrm>
          <a:prstGeom prst="rect">
            <a:avLst/>
          </a:prstGeom>
          <a:solidFill>
            <a:srgbClr val="BD93F9"/>
          </a:solidFill>
          <a:ln/>
        </p:spPr>
        <p:txBody>
          <a:bodyPr/>
          <a:lstStyle/>
          <a:p>
            <a:endParaRPr lang="en-US"/>
          </a:p>
        </p:txBody>
      </p:sp>
      <p:sp>
        <p:nvSpPr>
          <p:cNvPr id="12" name="Text 9"/>
          <p:cNvSpPr/>
          <p:nvPr/>
        </p:nvSpPr>
        <p:spPr>
          <a:xfrm>
            <a:off x="8686800" y="1572768"/>
            <a:ext cx="3017520" cy="201168"/>
          </a:xfrm>
          <a:prstGeom prst="rect">
            <a:avLst/>
          </a:prstGeom>
          <a:noFill/>
          <a:ln/>
        </p:spPr>
        <p:txBody>
          <a:bodyPr wrap="square" rtlCol="0" anchor="ctr"/>
          <a:lstStyle/>
          <a:p>
            <a:pPr marL="0" indent="0">
              <a:buNone/>
            </a:pPr>
            <a:r>
              <a:rPr lang="en-US" sz="1000" dirty="0">
                <a:solidFill>
                  <a:srgbClr val="0F1F33"/>
                </a:solidFill>
                <a:latin typeface="DM Mono" pitchFamily="34" charset="0"/>
                <a:ea typeface="DM Mono" pitchFamily="34" charset="-122"/>
                <a:cs typeface="DM Mono" pitchFamily="34" charset="-120"/>
              </a:rPr>
              <a:t>Admin</a:t>
            </a:r>
            <a:endParaRPr lang="en-US" sz="1000" dirty="0"/>
          </a:p>
        </p:txBody>
      </p:sp>
      <p:sp>
        <p:nvSpPr>
          <p:cNvPr id="13" name="Shape 10"/>
          <p:cNvSpPr/>
          <p:nvPr/>
        </p:nvSpPr>
        <p:spPr>
          <a:xfrm>
            <a:off x="8412480" y="2157984"/>
            <a:ext cx="3291840" cy="731520"/>
          </a:xfrm>
          <a:prstGeom prst="rect">
            <a:avLst/>
          </a:prstGeom>
          <a:solidFill>
            <a:srgbClr val="ECE7DF"/>
          </a:solidFill>
          <a:ln w="12700">
            <a:solidFill>
              <a:srgbClr val="C8C0B4"/>
            </a:solidFill>
            <a:prstDash val="solid"/>
          </a:ln>
        </p:spPr>
        <p:txBody>
          <a:bodyPr/>
          <a:lstStyle/>
          <a:p>
            <a:endParaRPr lang="en-US"/>
          </a:p>
        </p:txBody>
      </p:sp>
      <p:sp>
        <p:nvSpPr>
          <p:cNvPr id="14" name="Text 11"/>
          <p:cNvSpPr/>
          <p:nvPr/>
        </p:nvSpPr>
        <p:spPr>
          <a:xfrm>
            <a:off x="8412480" y="2176272"/>
            <a:ext cx="3291840" cy="365760"/>
          </a:xfrm>
          <a:prstGeom prst="rect">
            <a:avLst/>
          </a:prstGeom>
          <a:noFill/>
          <a:ln/>
        </p:spPr>
        <p:txBody>
          <a:bodyPr wrap="square" rtlCol="0" anchor="ctr"/>
          <a:lstStyle/>
          <a:p>
            <a:pPr marL="0" indent="0" algn="ctr">
              <a:buNone/>
            </a:pPr>
            <a:r>
              <a:rPr lang="en-US" sz="2000" b="1" dirty="0">
                <a:solidFill>
                  <a:srgbClr val="1E3A5F"/>
                </a:solidFill>
                <a:latin typeface="Syne" pitchFamily="34" charset="0"/>
                <a:ea typeface="Syne" pitchFamily="34" charset="-122"/>
                <a:cs typeface="Syne" pitchFamily="34" charset="-120"/>
              </a:rPr>
              <a:t>32%</a:t>
            </a:r>
            <a:endParaRPr lang="en-US" sz="2000" dirty="0"/>
          </a:p>
        </p:txBody>
      </p:sp>
      <p:sp>
        <p:nvSpPr>
          <p:cNvPr id="15" name="Text 12"/>
          <p:cNvSpPr/>
          <p:nvPr/>
        </p:nvSpPr>
        <p:spPr>
          <a:xfrm>
            <a:off x="8412480" y="2542032"/>
            <a:ext cx="3291840" cy="256032"/>
          </a:xfrm>
          <a:prstGeom prst="rect">
            <a:avLst/>
          </a:prstGeom>
          <a:noFill/>
          <a:ln/>
        </p:spPr>
        <p:txBody>
          <a:bodyPr wrap="square" rtlCol="0" anchor="ctr"/>
          <a:lstStyle/>
          <a:p>
            <a:pPr marL="0" indent="0" algn="ctr">
              <a:buNone/>
            </a:pPr>
            <a:r>
              <a:rPr lang="en-US" sz="900" dirty="0">
                <a:solidFill>
                  <a:srgbClr val="6B7A8D"/>
                </a:solidFill>
                <a:latin typeface="DM Mono" pitchFamily="34" charset="0"/>
                <a:ea typeface="DM Mono" pitchFamily="34" charset="-122"/>
                <a:cs typeface="DM Mono" pitchFamily="34" charset="-120"/>
              </a:rPr>
              <a:t>Avg Progress</a:t>
            </a:r>
            <a:endParaRPr lang="en-US" sz="900" dirty="0"/>
          </a:p>
        </p:txBody>
      </p:sp>
      <p:sp>
        <p:nvSpPr>
          <p:cNvPr id="16" name="Shape 13"/>
          <p:cNvSpPr/>
          <p:nvPr/>
        </p:nvSpPr>
        <p:spPr>
          <a:xfrm>
            <a:off x="8412480" y="3072384"/>
            <a:ext cx="3291840" cy="731520"/>
          </a:xfrm>
          <a:prstGeom prst="rect">
            <a:avLst/>
          </a:prstGeom>
          <a:solidFill>
            <a:srgbClr val="ECE7DF"/>
          </a:solidFill>
          <a:ln w="12700">
            <a:solidFill>
              <a:srgbClr val="C8C0B4"/>
            </a:solidFill>
            <a:prstDash val="solid"/>
          </a:ln>
        </p:spPr>
        <p:txBody>
          <a:bodyPr/>
          <a:lstStyle/>
          <a:p>
            <a:endParaRPr lang="en-US"/>
          </a:p>
        </p:txBody>
      </p:sp>
      <p:sp>
        <p:nvSpPr>
          <p:cNvPr id="17" name="Text 14"/>
          <p:cNvSpPr/>
          <p:nvPr/>
        </p:nvSpPr>
        <p:spPr>
          <a:xfrm>
            <a:off x="8412480" y="3090672"/>
            <a:ext cx="3291840" cy="365760"/>
          </a:xfrm>
          <a:prstGeom prst="rect">
            <a:avLst/>
          </a:prstGeom>
          <a:noFill/>
          <a:ln/>
        </p:spPr>
        <p:txBody>
          <a:bodyPr wrap="square" rtlCol="0" anchor="ctr"/>
          <a:lstStyle/>
          <a:p>
            <a:pPr marL="0" indent="0" algn="ctr">
              <a:buNone/>
            </a:pPr>
            <a:r>
              <a:rPr lang="en-US" sz="2000" b="1" dirty="0">
                <a:solidFill>
                  <a:srgbClr val="1E3A5F"/>
                </a:solidFill>
                <a:latin typeface="Syne" pitchFamily="34" charset="0"/>
                <a:ea typeface="Syne" pitchFamily="34" charset="-122"/>
                <a:cs typeface="Syne" pitchFamily="34" charset="-120"/>
              </a:rPr>
              <a:t>1 / 13</a:t>
            </a:r>
            <a:endParaRPr lang="en-US" sz="2000" dirty="0"/>
          </a:p>
        </p:txBody>
      </p:sp>
      <p:sp>
        <p:nvSpPr>
          <p:cNvPr id="18" name="Text 15"/>
          <p:cNvSpPr/>
          <p:nvPr/>
        </p:nvSpPr>
        <p:spPr>
          <a:xfrm>
            <a:off x="8412480" y="3456432"/>
            <a:ext cx="3291840" cy="256032"/>
          </a:xfrm>
          <a:prstGeom prst="rect">
            <a:avLst/>
          </a:prstGeom>
          <a:noFill/>
          <a:ln/>
        </p:spPr>
        <p:txBody>
          <a:bodyPr wrap="square" rtlCol="0" anchor="ctr"/>
          <a:lstStyle/>
          <a:p>
            <a:pPr marL="0" indent="0" algn="ctr">
              <a:buNone/>
            </a:pPr>
            <a:r>
              <a:rPr lang="en-US" sz="900" dirty="0">
                <a:solidFill>
                  <a:srgbClr val="6B7A8D"/>
                </a:solidFill>
                <a:latin typeface="DM Mono" pitchFamily="34" charset="0"/>
                <a:ea typeface="DM Mono" pitchFamily="34" charset="-122"/>
                <a:cs typeface="DM Mono" pitchFamily="34" charset="-120"/>
              </a:rPr>
              <a:t>Done</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0E8"/>
        </a:solidFill>
        <a:effectLst/>
      </p:bgPr>
    </p:bg>
    <p:spTree>
      <p:nvGrpSpPr>
        <p:cNvPr id="1" name=""/>
        <p:cNvGrpSpPr/>
        <p:nvPr/>
      </p:nvGrpSpPr>
      <p:grpSpPr>
        <a:xfrm>
          <a:off x="0" y="0"/>
          <a:ext cx="0" cy="0"/>
          <a:chOff x="0" y="0"/>
          <a:chExt cx="0" cy="0"/>
        </a:xfrm>
      </p:grpSpPr>
      <p:sp>
        <p:nvSpPr>
          <p:cNvPr id="2" name="Shape 0"/>
          <p:cNvSpPr/>
          <p:nvPr/>
        </p:nvSpPr>
        <p:spPr>
          <a:xfrm>
            <a:off x="0" y="0"/>
            <a:ext cx="12192000" cy="91440"/>
          </a:xfrm>
          <a:prstGeom prst="rect">
            <a:avLst/>
          </a:prstGeom>
          <a:solidFill>
            <a:srgbClr val="1E3A5F"/>
          </a:solidFill>
          <a:ln/>
        </p:spPr>
        <p:txBody>
          <a:bodyPr/>
          <a:lstStyle/>
          <a:p>
            <a:endParaRPr lang="en-US"/>
          </a:p>
        </p:txBody>
      </p:sp>
      <p:sp>
        <p:nvSpPr>
          <p:cNvPr id="3" name="Text 1"/>
          <p:cNvSpPr/>
          <p:nvPr/>
        </p:nvSpPr>
        <p:spPr>
          <a:xfrm>
            <a:off x="457200" y="182880"/>
            <a:ext cx="11247120" cy="548640"/>
          </a:xfrm>
          <a:prstGeom prst="rect">
            <a:avLst/>
          </a:prstGeom>
          <a:noFill/>
          <a:ln/>
        </p:spPr>
        <p:txBody>
          <a:bodyPr wrap="square" rtlCol="0" anchor="ctr"/>
          <a:lstStyle/>
          <a:p>
            <a:pPr marL="0" indent="0">
              <a:buNone/>
            </a:pPr>
            <a:r>
              <a:rPr lang="en-US" sz="2400" b="1" dirty="0">
                <a:solidFill>
                  <a:srgbClr val="1E3A5F"/>
                </a:solidFill>
                <a:latin typeface="Syne" pitchFamily="34" charset="0"/>
                <a:ea typeface="Syne" pitchFamily="34" charset="-122"/>
                <a:cs typeface="Syne" pitchFamily="34" charset="-120"/>
              </a:rPr>
              <a:t>Progress by Category</a:t>
            </a:r>
            <a:endParaRPr lang="en-US" sz="2400" dirty="0"/>
          </a:p>
        </p:txBody>
      </p:sp>
      <p:sp>
        <p:nvSpPr>
          <p:cNvPr id="4" name="Shape 2"/>
          <p:cNvSpPr/>
          <p:nvPr/>
        </p:nvSpPr>
        <p:spPr>
          <a:xfrm>
            <a:off x="457200" y="804672"/>
            <a:ext cx="11247120" cy="22860"/>
          </a:xfrm>
          <a:prstGeom prst="rect">
            <a:avLst/>
          </a:prstGeom>
          <a:solidFill>
            <a:srgbClr val="C8C0B4"/>
          </a:solidFill>
          <a:ln/>
        </p:spPr>
        <p:txBody>
          <a:bodyPr/>
          <a:lstStyle/>
          <a:p>
            <a:endParaRPr lang="en-US"/>
          </a:p>
        </p:txBody>
      </p:sp>
      <p:graphicFrame>
        <p:nvGraphicFramePr>
          <p:cNvPr id="5" name="Chart 0"/>
          <p:cNvGraphicFramePr/>
          <p:nvPr/>
        </p:nvGraphicFramePr>
        <p:xfrm>
          <a:off x="365760" y="914400"/>
          <a:ext cx="6400800" cy="5394960"/>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 3"/>
          <p:cNvSpPr/>
          <p:nvPr/>
        </p:nvSpPr>
        <p:spPr>
          <a:xfrm>
            <a:off x="7040880" y="822960"/>
            <a:ext cx="4572000" cy="365760"/>
          </a:xfrm>
          <a:prstGeom prst="rect">
            <a:avLst/>
          </a:prstGeom>
          <a:noFill/>
          <a:ln/>
        </p:spPr>
        <p:txBody>
          <a:bodyPr wrap="square" rtlCol="0" anchor="ctr"/>
          <a:lstStyle/>
          <a:p>
            <a:pPr marL="0" indent="0">
              <a:buNone/>
            </a:pPr>
            <a:r>
              <a:rPr lang="en-US" sz="1200" b="1" dirty="0">
                <a:solidFill>
                  <a:srgbClr val="6B7A8D"/>
                </a:solidFill>
                <a:latin typeface="Syne" pitchFamily="34" charset="0"/>
                <a:ea typeface="Syne" pitchFamily="34" charset="-122"/>
                <a:cs typeface="Syne" pitchFamily="34" charset="-120"/>
              </a:rPr>
              <a:t>Category Detail</a:t>
            </a:r>
            <a:endParaRPr lang="en-US" sz="1200" dirty="0"/>
          </a:p>
        </p:txBody>
      </p:sp>
      <p:sp>
        <p:nvSpPr>
          <p:cNvPr id="7" name="Shape 4"/>
          <p:cNvSpPr/>
          <p:nvPr/>
        </p:nvSpPr>
        <p:spPr>
          <a:xfrm>
            <a:off x="7040880" y="914400"/>
            <a:ext cx="4572000" cy="777240"/>
          </a:xfrm>
          <a:prstGeom prst="rect">
            <a:avLst/>
          </a:prstGeom>
          <a:solidFill>
            <a:srgbClr val="ECE7DF"/>
          </a:solidFill>
          <a:ln w="12700">
            <a:solidFill>
              <a:srgbClr val="C8C0B4"/>
            </a:solidFill>
            <a:prstDash val="solid"/>
          </a:ln>
        </p:spPr>
        <p:txBody>
          <a:bodyPr/>
          <a:lstStyle/>
          <a:p>
            <a:endParaRPr lang="en-US"/>
          </a:p>
        </p:txBody>
      </p:sp>
      <p:sp>
        <p:nvSpPr>
          <p:cNvPr id="8" name="Shape 5"/>
          <p:cNvSpPr/>
          <p:nvPr/>
        </p:nvSpPr>
        <p:spPr>
          <a:xfrm>
            <a:off x="7040880" y="914400"/>
            <a:ext cx="73152" cy="777240"/>
          </a:xfrm>
          <a:prstGeom prst="rect">
            <a:avLst/>
          </a:prstGeom>
          <a:solidFill>
            <a:srgbClr val="3B8EEA"/>
          </a:solidFill>
          <a:ln/>
        </p:spPr>
        <p:txBody>
          <a:bodyPr/>
          <a:lstStyle/>
          <a:p>
            <a:endParaRPr lang="en-US"/>
          </a:p>
        </p:txBody>
      </p:sp>
      <p:sp>
        <p:nvSpPr>
          <p:cNvPr id="9" name="Text 6"/>
          <p:cNvSpPr/>
          <p:nvPr/>
        </p:nvSpPr>
        <p:spPr>
          <a:xfrm>
            <a:off x="7223760" y="960120"/>
            <a:ext cx="2560320" cy="320040"/>
          </a:xfrm>
          <a:prstGeom prst="rect">
            <a:avLst/>
          </a:prstGeom>
          <a:noFill/>
          <a:ln/>
        </p:spPr>
        <p:txBody>
          <a:bodyPr wrap="square" rtlCol="0" anchor="ctr"/>
          <a:lstStyle/>
          <a:p>
            <a:pPr marL="0" indent="0">
              <a:buNone/>
            </a:pPr>
            <a:r>
              <a:rPr lang="en-US" sz="1100" b="1" dirty="0">
                <a:solidFill>
                  <a:srgbClr val="0F1F33"/>
                </a:solidFill>
                <a:latin typeface="Syne" pitchFamily="34" charset="0"/>
                <a:ea typeface="Syne" pitchFamily="34" charset="-122"/>
                <a:cs typeface="Syne" pitchFamily="34" charset="-120"/>
              </a:rPr>
              <a:t>Seeker</a:t>
            </a:r>
            <a:endParaRPr lang="en-US" sz="1100" dirty="0"/>
          </a:p>
        </p:txBody>
      </p:sp>
      <p:sp>
        <p:nvSpPr>
          <p:cNvPr id="10" name="Text 7"/>
          <p:cNvSpPr/>
          <p:nvPr/>
        </p:nvSpPr>
        <p:spPr>
          <a:xfrm>
            <a:off x="7223760" y="1298448"/>
            <a:ext cx="4206240" cy="256032"/>
          </a:xfrm>
          <a:prstGeom prst="rect">
            <a:avLst/>
          </a:prstGeom>
          <a:noFill/>
          <a:ln/>
        </p:spPr>
        <p:txBody>
          <a:bodyPr wrap="square" rtlCol="0" anchor="ctr"/>
          <a:lstStyle/>
          <a:p>
            <a:pPr marL="0" indent="0">
              <a:buNone/>
            </a:pPr>
            <a:r>
              <a:rPr lang="en-US" sz="900" dirty="0">
                <a:solidFill>
                  <a:srgbClr val="6B7A8D"/>
                </a:solidFill>
                <a:latin typeface="DM Mono" pitchFamily="34" charset="0"/>
                <a:ea typeface="DM Mono" pitchFamily="34" charset="-122"/>
                <a:cs typeface="DM Mono" pitchFamily="34" charset="-120"/>
              </a:rPr>
              <a:t>15% avg  •  8 goals  •  0 done</a:t>
            </a:r>
            <a:endParaRPr lang="en-US" sz="900" dirty="0"/>
          </a:p>
        </p:txBody>
      </p:sp>
      <p:sp>
        <p:nvSpPr>
          <p:cNvPr id="11" name="Shape 8"/>
          <p:cNvSpPr/>
          <p:nvPr/>
        </p:nvSpPr>
        <p:spPr>
          <a:xfrm>
            <a:off x="7040880" y="1828800"/>
            <a:ext cx="4572000" cy="777240"/>
          </a:xfrm>
          <a:prstGeom prst="rect">
            <a:avLst/>
          </a:prstGeom>
          <a:solidFill>
            <a:srgbClr val="ECE7DF"/>
          </a:solidFill>
          <a:ln w="12700">
            <a:solidFill>
              <a:srgbClr val="C8C0B4"/>
            </a:solidFill>
            <a:prstDash val="solid"/>
          </a:ln>
        </p:spPr>
        <p:txBody>
          <a:bodyPr/>
          <a:lstStyle/>
          <a:p>
            <a:endParaRPr lang="en-US"/>
          </a:p>
        </p:txBody>
      </p:sp>
      <p:sp>
        <p:nvSpPr>
          <p:cNvPr id="12" name="Shape 9"/>
          <p:cNvSpPr/>
          <p:nvPr/>
        </p:nvSpPr>
        <p:spPr>
          <a:xfrm>
            <a:off x="7040880" y="1828800"/>
            <a:ext cx="73152" cy="777240"/>
          </a:xfrm>
          <a:prstGeom prst="rect">
            <a:avLst/>
          </a:prstGeom>
          <a:solidFill>
            <a:srgbClr val="DC7070"/>
          </a:solidFill>
          <a:ln/>
        </p:spPr>
        <p:txBody>
          <a:bodyPr/>
          <a:lstStyle/>
          <a:p>
            <a:endParaRPr lang="en-US"/>
          </a:p>
        </p:txBody>
      </p:sp>
      <p:sp>
        <p:nvSpPr>
          <p:cNvPr id="13" name="Text 10"/>
          <p:cNvSpPr/>
          <p:nvPr/>
        </p:nvSpPr>
        <p:spPr>
          <a:xfrm>
            <a:off x="7223760" y="1874520"/>
            <a:ext cx="2560320" cy="320040"/>
          </a:xfrm>
          <a:prstGeom prst="rect">
            <a:avLst/>
          </a:prstGeom>
          <a:noFill/>
          <a:ln/>
        </p:spPr>
        <p:txBody>
          <a:bodyPr wrap="square" rtlCol="0" anchor="ctr"/>
          <a:lstStyle/>
          <a:p>
            <a:pPr marL="0" indent="0">
              <a:buNone/>
            </a:pPr>
            <a:r>
              <a:rPr lang="en-US" sz="1100" b="1" dirty="0">
                <a:solidFill>
                  <a:srgbClr val="0F1F33"/>
                </a:solidFill>
                <a:latin typeface="Syne" pitchFamily="34" charset="0"/>
                <a:ea typeface="Syne" pitchFamily="34" charset="-122"/>
                <a:cs typeface="Syne" pitchFamily="34" charset="-120"/>
              </a:rPr>
              <a:t>DevOps</a:t>
            </a:r>
            <a:endParaRPr lang="en-US" sz="1100" dirty="0"/>
          </a:p>
        </p:txBody>
      </p:sp>
      <p:sp>
        <p:nvSpPr>
          <p:cNvPr id="14" name="Text 11"/>
          <p:cNvSpPr/>
          <p:nvPr/>
        </p:nvSpPr>
        <p:spPr>
          <a:xfrm>
            <a:off x="7223760" y="2212848"/>
            <a:ext cx="4206240" cy="256032"/>
          </a:xfrm>
          <a:prstGeom prst="rect">
            <a:avLst/>
          </a:prstGeom>
          <a:noFill/>
          <a:ln/>
        </p:spPr>
        <p:txBody>
          <a:bodyPr wrap="square" rtlCol="0" anchor="ctr"/>
          <a:lstStyle/>
          <a:p>
            <a:pPr marL="0" indent="0">
              <a:buNone/>
            </a:pPr>
            <a:r>
              <a:rPr lang="en-US" sz="900" dirty="0">
                <a:solidFill>
                  <a:srgbClr val="6B7A8D"/>
                </a:solidFill>
                <a:latin typeface="DM Mono" pitchFamily="34" charset="0"/>
                <a:ea typeface="DM Mono" pitchFamily="34" charset="-122"/>
                <a:cs typeface="DM Mono" pitchFamily="34" charset="-120"/>
              </a:rPr>
              <a:t>49% avg  •  4 goals  •  0 done</a:t>
            </a:r>
            <a:endParaRPr lang="en-US" sz="900" dirty="0"/>
          </a:p>
        </p:txBody>
      </p:sp>
      <p:sp>
        <p:nvSpPr>
          <p:cNvPr id="15" name="Shape 12"/>
          <p:cNvSpPr/>
          <p:nvPr/>
        </p:nvSpPr>
        <p:spPr>
          <a:xfrm>
            <a:off x="7040880" y="2743200"/>
            <a:ext cx="4572000" cy="777240"/>
          </a:xfrm>
          <a:prstGeom prst="rect">
            <a:avLst/>
          </a:prstGeom>
          <a:solidFill>
            <a:srgbClr val="ECE7DF"/>
          </a:solidFill>
          <a:ln w="12700">
            <a:solidFill>
              <a:srgbClr val="C8C0B4"/>
            </a:solidFill>
            <a:prstDash val="solid"/>
          </a:ln>
        </p:spPr>
        <p:txBody>
          <a:bodyPr/>
          <a:lstStyle/>
          <a:p>
            <a:endParaRPr lang="en-US"/>
          </a:p>
        </p:txBody>
      </p:sp>
      <p:sp>
        <p:nvSpPr>
          <p:cNvPr id="16" name="Shape 13"/>
          <p:cNvSpPr/>
          <p:nvPr/>
        </p:nvSpPr>
        <p:spPr>
          <a:xfrm>
            <a:off x="7040880" y="2743200"/>
            <a:ext cx="73152" cy="777240"/>
          </a:xfrm>
          <a:prstGeom prst="rect">
            <a:avLst/>
          </a:prstGeom>
          <a:solidFill>
            <a:srgbClr val="BD93F9"/>
          </a:solidFill>
          <a:ln/>
        </p:spPr>
        <p:txBody>
          <a:bodyPr/>
          <a:lstStyle/>
          <a:p>
            <a:endParaRPr lang="en-US"/>
          </a:p>
        </p:txBody>
      </p:sp>
      <p:sp>
        <p:nvSpPr>
          <p:cNvPr id="17" name="Text 14"/>
          <p:cNvSpPr/>
          <p:nvPr/>
        </p:nvSpPr>
        <p:spPr>
          <a:xfrm>
            <a:off x="7223760" y="2788920"/>
            <a:ext cx="2560320" cy="320040"/>
          </a:xfrm>
          <a:prstGeom prst="rect">
            <a:avLst/>
          </a:prstGeom>
          <a:noFill/>
          <a:ln/>
        </p:spPr>
        <p:txBody>
          <a:bodyPr wrap="square" rtlCol="0" anchor="ctr"/>
          <a:lstStyle/>
          <a:p>
            <a:pPr marL="0" indent="0">
              <a:buNone/>
            </a:pPr>
            <a:r>
              <a:rPr lang="en-US" sz="1100" b="1" dirty="0">
                <a:solidFill>
                  <a:srgbClr val="0F1F33"/>
                </a:solidFill>
                <a:latin typeface="Syne" pitchFamily="34" charset="0"/>
                <a:ea typeface="Syne" pitchFamily="34" charset="-122"/>
                <a:cs typeface="Syne" pitchFamily="34" charset="-120"/>
              </a:rPr>
              <a:t>Admin</a:t>
            </a:r>
            <a:endParaRPr lang="en-US" sz="1100" dirty="0"/>
          </a:p>
        </p:txBody>
      </p:sp>
      <p:sp>
        <p:nvSpPr>
          <p:cNvPr id="18" name="Text 15"/>
          <p:cNvSpPr/>
          <p:nvPr/>
        </p:nvSpPr>
        <p:spPr>
          <a:xfrm>
            <a:off x="7223760" y="3127248"/>
            <a:ext cx="4206240" cy="256032"/>
          </a:xfrm>
          <a:prstGeom prst="rect">
            <a:avLst/>
          </a:prstGeom>
          <a:noFill/>
          <a:ln/>
        </p:spPr>
        <p:txBody>
          <a:bodyPr wrap="square" rtlCol="0" anchor="ctr"/>
          <a:lstStyle/>
          <a:p>
            <a:pPr marL="0" indent="0">
              <a:buNone/>
            </a:pPr>
            <a:r>
              <a:rPr lang="en-US" sz="900" dirty="0">
                <a:solidFill>
                  <a:srgbClr val="6B7A8D"/>
                </a:solidFill>
                <a:latin typeface="DM Mono" pitchFamily="34" charset="0"/>
                <a:ea typeface="DM Mono" pitchFamily="34" charset="-122"/>
                <a:cs typeface="DM Mono" pitchFamily="34" charset="-120"/>
              </a:rPr>
              <a:t>100% avg  •  1 goal  •  1 done</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0E8"/>
        </a:solidFill>
        <a:effectLst/>
      </p:bgPr>
    </p:bg>
    <p:spTree>
      <p:nvGrpSpPr>
        <p:cNvPr id="1" name=""/>
        <p:cNvGrpSpPr/>
        <p:nvPr/>
      </p:nvGrpSpPr>
      <p:grpSpPr>
        <a:xfrm>
          <a:off x="0" y="0"/>
          <a:ext cx="0" cy="0"/>
          <a:chOff x="0" y="0"/>
          <a:chExt cx="0" cy="0"/>
        </a:xfrm>
      </p:grpSpPr>
      <p:sp>
        <p:nvSpPr>
          <p:cNvPr id="2" name="Shape 0"/>
          <p:cNvSpPr/>
          <p:nvPr/>
        </p:nvSpPr>
        <p:spPr>
          <a:xfrm>
            <a:off x="0" y="0"/>
            <a:ext cx="12192000" cy="91440"/>
          </a:xfrm>
          <a:prstGeom prst="rect">
            <a:avLst/>
          </a:prstGeom>
          <a:solidFill>
            <a:srgbClr val="1E3A5F"/>
          </a:solidFill>
          <a:ln/>
        </p:spPr>
        <p:txBody>
          <a:bodyPr/>
          <a:lstStyle/>
          <a:p>
            <a:endParaRPr lang="en-US"/>
          </a:p>
        </p:txBody>
      </p:sp>
      <p:sp>
        <p:nvSpPr>
          <p:cNvPr id="3" name="Text 1"/>
          <p:cNvSpPr/>
          <p:nvPr/>
        </p:nvSpPr>
        <p:spPr>
          <a:xfrm>
            <a:off x="457200" y="182880"/>
            <a:ext cx="11247120" cy="548640"/>
          </a:xfrm>
          <a:prstGeom prst="rect">
            <a:avLst/>
          </a:prstGeom>
          <a:noFill/>
          <a:ln/>
        </p:spPr>
        <p:txBody>
          <a:bodyPr wrap="square" rtlCol="0" anchor="ctr"/>
          <a:lstStyle/>
          <a:p>
            <a:pPr marL="0" indent="0">
              <a:buNone/>
            </a:pPr>
            <a:r>
              <a:rPr lang="en-US" sz="2200" b="1" dirty="0">
                <a:solidFill>
                  <a:srgbClr val="3A7A6A"/>
                </a:solidFill>
                <a:latin typeface="Syne" pitchFamily="34" charset="0"/>
                <a:ea typeface="Syne" pitchFamily="34" charset="-122"/>
                <a:cs typeface="Syne" pitchFamily="34" charset="-120"/>
              </a:rPr>
              <a:t>Task Status Overview &amp; Progress Breakdown</a:t>
            </a:r>
            <a:endParaRPr lang="en-US" sz="2200" dirty="0"/>
          </a:p>
        </p:txBody>
      </p:sp>
      <p:sp>
        <p:nvSpPr>
          <p:cNvPr id="4" name="Shape 2"/>
          <p:cNvSpPr/>
          <p:nvPr/>
        </p:nvSpPr>
        <p:spPr>
          <a:xfrm>
            <a:off x="457200" y="804672"/>
            <a:ext cx="11247120" cy="22860"/>
          </a:xfrm>
          <a:prstGeom prst="rect">
            <a:avLst/>
          </a:prstGeom>
          <a:solidFill>
            <a:srgbClr val="C8C0B4"/>
          </a:solidFill>
          <a:ln/>
        </p:spPr>
        <p:txBody>
          <a:bodyPr/>
          <a:lstStyle/>
          <a:p>
            <a:endParaRPr lang="en-US"/>
          </a:p>
        </p:txBody>
      </p:sp>
      <p:sp>
        <p:nvSpPr>
          <p:cNvPr id="5" name="Text 3"/>
          <p:cNvSpPr/>
          <p:nvPr/>
        </p:nvSpPr>
        <p:spPr>
          <a:xfrm>
            <a:off x="457200" y="914400"/>
            <a:ext cx="11247120" cy="914400"/>
          </a:xfrm>
          <a:prstGeom prst="rect">
            <a:avLst/>
          </a:prstGeom>
          <a:noFill/>
          <a:ln/>
        </p:spPr>
        <p:txBody>
          <a:bodyPr wrap="square" rtlCol="0" anchor="t"/>
          <a:lstStyle/>
          <a:p>
            <a:pPr marL="0" indent="0">
              <a:buNone/>
            </a:pPr>
            <a:r>
              <a:rPr lang="en-US" sz="1100" dirty="0">
                <a:solidFill>
                  <a:srgbClr val="1E3A5F"/>
                </a:solidFill>
                <a:latin typeface="DM Mono" pitchFamily="34" charset="0"/>
                <a:ea typeface="DM Mono" pitchFamily="34" charset="-122"/>
                <a:cs typeface="DM Mono" pitchFamily="34" charset="-120"/>
              </a:rPr>
              <a:t>Across the 13 tracked tasks for the period 2025-09-21 to 2026-03-21, one task is Complete (8%), three are In Progress (23%), two are In Review (15%), and seven are Not Started (54%). The sole completed task — 'Enable AI document content access via text extraction pipeline' — was delivered at 100% by its 2026-04-15 deadline. The majority of open tasks are concentrated in the Seeker subsystem, representing the highest area of schedule risk heading into Q2 2026.</a:t>
            </a:r>
            <a:endParaRPr lang="en-US" sz="1100" dirty="0"/>
          </a:p>
        </p:txBody>
      </p:sp>
      <p:graphicFrame>
        <p:nvGraphicFramePr>
          <p:cNvPr id="6" name="Table 0"/>
          <p:cNvGraphicFramePr>
            <a:graphicFrameLocks noGrp="1"/>
          </p:cNvGraphicFramePr>
          <p:nvPr>
            <p:extLst>
              <p:ext uri="{D42A27DB-BD31-4B8C-83A1-F6EECF244321}">
                <p14:modId xmlns:p14="http://schemas.microsoft.com/office/powerpoint/2010/main" val="2488571767"/>
              </p:ext>
            </p:extLst>
          </p:nvPr>
        </p:nvGraphicFramePr>
        <p:xfrm>
          <a:off x="457200" y="1823688"/>
          <a:ext cx="11247120" cy="3621024"/>
        </p:xfrm>
        <a:graphic>
          <a:graphicData uri="http://schemas.openxmlformats.org/drawingml/2006/table">
            <a:tbl>
              <a:tblPr/>
              <a:tblGrid>
                <a:gridCol w="2811780">
                  <a:extLst>
                    <a:ext uri="{9D8B030D-6E8A-4147-A177-3AD203B41FA5}">
                      <a16:colId xmlns:a16="http://schemas.microsoft.com/office/drawing/2014/main" val="20000"/>
                    </a:ext>
                  </a:extLst>
                </a:gridCol>
                <a:gridCol w="2811780">
                  <a:extLst>
                    <a:ext uri="{9D8B030D-6E8A-4147-A177-3AD203B41FA5}">
                      <a16:colId xmlns:a16="http://schemas.microsoft.com/office/drawing/2014/main" val="20001"/>
                    </a:ext>
                  </a:extLst>
                </a:gridCol>
                <a:gridCol w="2811780">
                  <a:extLst>
                    <a:ext uri="{9D8B030D-6E8A-4147-A177-3AD203B41FA5}">
                      <a16:colId xmlns:a16="http://schemas.microsoft.com/office/drawing/2014/main" val="20002"/>
                    </a:ext>
                  </a:extLst>
                </a:gridCol>
                <a:gridCol w="2811780">
                  <a:extLst>
                    <a:ext uri="{9D8B030D-6E8A-4147-A177-3AD203B41FA5}">
                      <a16:colId xmlns:a16="http://schemas.microsoft.com/office/drawing/2014/main" val="20003"/>
                    </a:ext>
                  </a:extLst>
                </a:gridCol>
              </a:tblGrid>
              <a:tr h="329184">
                <a:tc>
                  <a:txBody>
                    <a:bodyPr/>
                    <a:lstStyle/>
                    <a:p>
                      <a:pPr marL="0" indent="0">
                        <a:buNone/>
                      </a:pPr>
                      <a:r>
                        <a:rPr lang="en-US" sz="1000" b="1" dirty="0">
                          <a:solidFill>
                            <a:srgbClr val="0F1F33"/>
                          </a:solidFill>
                          <a:latin typeface="Syne" pitchFamily="34" charset="0"/>
                          <a:ea typeface="Syne" pitchFamily="34" charset="-122"/>
                          <a:cs typeface="Syne" pitchFamily="34" charset="-120"/>
                        </a:rPr>
                        <a:t>Task (Abbreviated)</a:t>
                      </a:r>
                      <a:endParaRPr lang="en-US" sz="1000" dirty="0">
                        <a:latin typeface="Syne" charset="0"/>
                        <a:ea typeface="Syne" charset="0"/>
                        <a:cs typeface="Syne" charset="0"/>
                      </a:endParaRPr>
                    </a:p>
                  </a:txBody>
                  <a:tcPr>
                    <a:lnL w="6350" cap="flat" cmpd="sng" algn="ctr">
                      <a:solidFill>
                        <a:srgbClr val="C8C0B4"/>
                      </a:solidFill>
                      <a:prstDash val="solid"/>
                      <a:round/>
                      <a:headEnd type="none" w="med" len="med"/>
                      <a:tailEnd type="none" w="med" len="med"/>
                    </a:lnL>
                    <a:lnR w="6350" cap="flat" cmpd="sng" algn="ctr">
                      <a:solidFill>
                        <a:srgbClr val="C8C0B4"/>
                      </a:solidFill>
                      <a:prstDash val="solid"/>
                      <a:round/>
                      <a:headEnd type="none" w="med" len="med"/>
                      <a:tailEnd type="none" w="med" len="med"/>
                    </a:lnR>
                    <a:lnT w="6350" cap="flat" cmpd="sng" algn="ctr">
                      <a:solidFill>
                        <a:srgbClr val="C8C0B4"/>
                      </a:solidFill>
                      <a:prstDash val="solid"/>
                      <a:round/>
                      <a:headEnd type="none" w="med" len="med"/>
                      <a:tailEnd type="none" w="med" len="med"/>
                    </a:lnT>
                    <a:lnB w="6350" cap="flat" cmpd="sng" algn="ctr">
                      <a:solidFill>
                        <a:srgbClr val="C8C0B4"/>
                      </a:solidFill>
                      <a:prstDash val="solid"/>
                      <a:round/>
                      <a:headEnd type="none" w="med" len="med"/>
                      <a:tailEnd type="none" w="med" len="med"/>
                    </a:lnB>
                    <a:solidFill>
                      <a:srgbClr val="C8C0B4"/>
                    </a:solidFill>
                  </a:tcPr>
                </a:tc>
                <a:tc>
                  <a:txBody>
                    <a:bodyPr/>
                    <a:lstStyle/>
                    <a:p>
                      <a:pPr marL="0" indent="0">
                        <a:buNone/>
                      </a:pPr>
                      <a:r>
                        <a:rPr lang="en-US" sz="1000" b="1" dirty="0">
                          <a:solidFill>
                            <a:srgbClr val="0F1F33"/>
                          </a:solidFill>
                          <a:latin typeface="Syne" pitchFamily="34" charset="0"/>
                          <a:ea typeface="Syne" pitchFamily="34" charset="-122"/>
                          <a:cs typeface="Syne" pitchFamily="34" charset="-120"/>
                        </a:rPr>
                        <a:t>Status</a:t>
                      </a:r>
                      <a:endParaRPr lang="en-US" sz="1000" dirty="0">
                        <a:latin typeface="Syne" charset="0"/>
                        <a:ea typeface="Syne" charset="0"/>
                        <a:cs typeface="Syne" charset="0"/>
                      </a:endParaRPr>
                    </a:p>
                  </a:txBody>
                  <a:tcPr>
                    <a:lnL w="6350" cap="flat" cmpd="sng" algn="ctr">
                      <a:solidFill>
                        <a:srgbClr val="C8C0B4"/>
                      </a:solidFill>
                      <a:prstDash val="solid"/>
                      <a:round/>
                      <a:headEnd type="none" w="med" len="med"/>
                      <a:tailEnd type="none" w="med" len="med"/>
                    </a:lnL>
                    <a:lnR w="6350" cap="flat" cmpd="sng" algn="ctr">
                      <a:solidFill>
                        <a:srgbClr val="C8C0B4"/>
                      </a:solidFill>
                      <a:prstDash val="solid"/>
                      <a:round/>
                      <a:headEnd type="none" w="med" len="med"/>
                      <a:tailEnd type="none" w="med" len="med"/>
                    </a:lnR>
                    <a:lnT w="6350" cap="flat" cmpd="sng" algn="ctr">
                      <a:solidFill>
                        <a:srgbClr val="C8C0B4"/>
                      </a:solidFill>
                      <a:prstDash val="solid"/>
                      <a:round/>
                      <a:headEnd type="none" w="med" len="med"/>
                      <a:tailEnd type="none" w="med" len="med"/>
                    </a:lnT>
                    <a:lnB w="6350" cap="flat" cmpd="sng" algn="ctr">
                      <a:solidFill>
                        <a:srgbClr val="C8C0B4"/>
                      </a:solidFill>
                      <a:prstDash val="solid"/>
                      <a:round/>
                      <a:headEnd type="none" w="med" len="med"/>
                      <a:tailEnd type="none" w="med" len="med"/>
                    </a:lnB>
                    <a:solidFill>
                      <a:srgbClr val="C8C0B4"/>
                    </a:solidFill>
                  </a:tcPr>
                </a:tc>
                <a:tc>
                  <a:txBody>
                    <a:bodyPr/>
                    <a:lstStyle/>
                    <a:p>
                      <a:pPr marL="0" indent="0">
                        <a:buNone/>
                      </a:pPr>
                      <a:r>
                        <a:rPr lang="en-US" sz="1000" b="1" dirty="0">
                          <a:solidFill>
                            <a:srgbClr val="0F1F33"/>
                          </a:solidFill>
                          <a:latin typeface="Syne" pitchFamily="34" charset="0"/>
                          <a:ea typeface="Syne" pitchFamily="34" charset="-122"/>
                          <a:cs typeface="Syne" pitchFamily="34" charset="-120"/>
                        </a:rPr>
                        <a:t>Progress</a:t>
                      </a:r>
                      <a:endParaRPr lang="en-US" sz="1000" dirty="0">
                        <a:latin typeface="Syne" charset="0"/>
                        <a:ea typeface="Syne" charset="0"/>
                        <a:cs typeface="Syne" charset="0"/>
                      </a:endParaRPr>
                    </a:p>
                  </a:txBody>
                  <a:tcPr>
                    <a:lnL w="6350" cap="flat" cmpd="sng" algn="ctr">
                      <a:solidFill>
                        <a:srgbClr val="C8C0B4"/>
                      </a:solidFill>
                      <a:prstDash val="solid"/>
                      <a:round/>
                      <a:headEnd type="none" w="med" len="med"/>
                      <a:tailEnd type="none" w="med" len="med"/>
                    </a:lnL>
                    <a:lnR w="6350" cap="flat" cmpd="sng" algn="ctr">
                      <a:solidFill>
                        <a:srgbClr val="C8C0B4"/>
                      </a:solidFill>
                      <a:prstDash val="solid"/>
                      <a:round/>
                      <a:headEnd type="none" w="med" len="med"/>
                      <a:tailEnd type="none" w="med" len="med"/>
                    </a:lnR>
                    <a:lnT w="6350" cap="flat" cmpd="sng" algn="ctr">
                      <a:solidFill>
                        <a:srgbClr val="C8C0B4"/>
                      </a:solidFill>
                      <a:prstDash val="solid"/>
                      <a:round/>
                      <a:headEnd type="none" w="med" len="med"/>
                      <a:tailEnd type="none" w="med" len="med"/>
                    </a:lnT>
                    <a:lnB w="6350" cap="flat" cmpd="sng" algn="ctr">
                      <a:solidFill>
                        <a:srgbClr val="C8C0B4"/>
                      </a:solidFill>
                      <a:prstDash val="solid"/>
                      <a:round/>
                      <a:headEnd type="none" w="med" len="med"/>
                      <a:tailEnd type="none" w="med" len="med"/>
                    </a:lnB>
                    <a:solidFill>
                      <a:srgbClr val="C8C0B4"/>
                    </a:solidFill>
                  </a:tcPr>
                </a:tc>
                <a:tc>
                  <a:txBody>
                    <a:bodyPr/>
                    <a:lstStyle/>
                    <a:p>
                      <a:pPr marL="0" indent="0">
                        <a:buNone/>
                      </a:pPr>
                      <a:r>
                        <a:rPr lang="en-US" sz="1000" b="1" dirty="0">
                          <a:solidFill>
                            <a:srgbClr val="0F1F33"/>
                          </a:solidFill>
                          <a:latin typeface="Syne" pitchFamily="34" charset="0"/>
                          <a:ea typeface="Syne" pitchFamily="34" charset="-122"/>
                          <a:cs typeface="Syne" pitchFamily="34" charset="-120"/>
                        </a:rPr>
                        <a:t>Due Date</a:t>
                      </a:r>
                      <a:endParaRPr lang="en-US" sz="1000" dirty="0">
                        <a:latin typeface="Syne" charset="0"/>
                        <a:ea typeface="Syne" charset="0"/>
                        <a:cs typeface="Syne" charset="0"/>
                      </a:endParaRPr>
                    </a:p>
                  </a:txBody>
                  <a:tcPr>
                    <a:lnL w="6350" cap="flat" cmpd="sng" algn="ctr">
                      <a:solidFill>
                        <a:srgbClr val="C8C0B4"/>
                      </a:solidFill>
                      <a:prstDash val="solid"/>
                      <a:round/>
                      <a:headEnd type="none" w="med" len="med"/>
                      <a:tailEnd type="none" w="med" len="med"/>
                    </a:lnL>
                    <a:lnR w="6350" cap="flat" cmpd="sng" algn="ctr">
                      <a:solidFill>
                        <a:srgbClr val="C8C0B4"/>
                      </a:solidFill>
                      <a:prstDash val="solid"/>
                      <a:round/>
                      <a:headEnd type="none" w="med" len="med"/>
                      <a:tailEnd type="none" w="med" len="med"/>
                    </a:lnR>
                    <a:lnT w="6350" cap="flat" cmpd="sng" algn="ctr">
                      <a:solidFill>
                        <a:srgbClr val="C8C0B4"/>
                      </a:solidFill>
                      <a:prstDash val="solid"/>
                      <a:round/>
                      <a:headEnd type="none" w="med" len="med"/>
                      <a:tailEnd type="none" w="med" len="med"/>
                    </a:lnT>
                    <a:lnB w="6350" cap="flat" cmpd="sng" algn="ctr">
                      <a:solidFill>
                        <a:srgbClr val="C8C0B4"/>
                      </a:solidFill>
                      <a:prstDash val="solid"/>
                      <a:round/>
                      <a:headEnd type="none" w="med" len="med"/>
                      <a:tailEnd type="none" w="med" len="med"/>
                    </a:lnB>
                    <a:solidFill>
                      <a:srgbClr val="C8C0B4"/>
                    </a:solidFill>
                  </a:tcPr>
                </a:tc>
                <a:extLst>
                  <a:ext uri="{0D108BD9-81ED-4DB2-BD59-A6C34878D82A}">
                    <a16:rowId xmlns:a16="http://schemas.microsoft.com/office/drawing/2014/main" val="10000"/>
                  </a:ext>
                </a:extLst>
              </a:tr>
              <a:tr h="329184">
                <a:tc>
                  <a:txBody>
                    <a:bodyPr/>
                    <a:lstStyle/>
                    <a:p>
                      <a:pPr marL="0" indent="0">
                        <a:buNone/>
                      </a:pPr>
                      <a:r>
                        <a:rPr lang="en-US" sz="1000" dirty="0">
                          <a:solidFill>
                            <a:srgbClr val="0F1F33"/>
                          </a:solidFill>
                          <a:latin typeface="DM Mono" pitchFamily="34" charset="0"/>
                          <a:ea typeface="DM Mono" pitchFamily="34" charset="-122"/>
                          <a:cs typeface="DM Mono" pitchFamily="34" charset="-120"/>
                        </a:rPr>
                        <a:t>AI Doc Text Pipeline</a:t>
                      </a:r>
                      <a:endParaRPr lang="en-US" sz="1000" dirty="0">
                        <a:latin typeface="DM Mono" charset="0"/>
                        <a:ea typeface="DM Mono" charset="0"/>
                        <a:cs typeface="DM Mono" charset="0"/>
                      </a:endParaRPr>
                    </a:p>
                  </a:txBody>
                  <a:tcPr>
                    <a:lnL w="6350" cap="flat" cmpd="sng" algn="ctr">
                      <a:solidFill>
                        <a:srgbClr val="C8C0B4"/>
                      </a:solidFill>
                      <a:prstDash val="solid"/>
                      <a:round/>
                      <a:headEnd type="none" w="med" len="med"/>
                      <a:tailEnd type="none" w="med" len="med"/>
                    </a:lnL>
                    <a:lnR w="6350" cap="flat" cmpd="sng" algn="ctr">
                      <a:solidFill>
                        <a:srgbClr val="C8C0B4"/>
                      </a:solidFill>
                      <a:prstDash val="solid"/>
                      <a:round/>
                      <a:headEnd type="none" w="med" len="med"/>
                      <a:tailEnd type="none" w="med" len="med"/>
                    </a:lnR>
                    <a:lnT w="6350" cap="flat" cmpd="sng" algn="ctr">
                      <a:solidFill>
                        <a:srgbClr val="C8C0B4"/>
                      </a:solidFill>
                      <a:prstDash val="solid"/>
                      <a:round/>
                      <a:headEnd type="none" w="med" len="med"/>
                      <a:tailEnd type="none" w="med" len="med"/>
                    </a:lnT>
                    <a:lnB w="6350" cap="flat" cmpd="sng" algn="ctr">
                      <a:solidFill>
                        <a:srgbClr val="C8C0B4"/>
                      </a:solidFill>
                      <a:prstDash val="solid"/>
                      <a:round/>
                      <a:headEnd type="none" w="med" len="med"/>
                      <a:tailEnd type="none" w="med" len="med"/>
                    </a:lnB>
                    <a:solidFill>
                      <a:srgbClr val="F5F0E8"/>
                    </a:solidFill>
                  </a:tcPr>
                </a:tc>
                <a:tc>
                  <a:txBody>
                    <a:bodyPr/>
                    <a:lstStyle/>
                    <a:p>
                      <a:pPr marL="0" indent="0">
                        <a:buNone/>
                      </a:pPr>
                      <a:r>
                        <a:rPr lang="en-US" sz="1000" dirty="0">
                          <a:solidFill>
                            <a:srgbClr val="0F1F33"/>
                          </a:solidFill>
                          <a:latin typeface="DM Mono" pitchFamily="34" charset="0"/>
                          <a:ea typeface="DM Mono" pitchFamily="34" charset="-122"/>
                          <a:cs typeface="DM Mono" pitchFamily="34" charset="-120"/>
                        </a:rPr>
                        <a:t>COMPLETE</a:t>
                      </a:r>
                      <a:endParaRPr lang="en-US" sz="1000" dirty="0">
                        <a:latin typeface="DM Mono" charset="0"/>
                        <a:ea typeface="DM Mono" charset="0"/>
                        <a:cs typeface="DM Mono" charset="0"/>
                      </a:endParaRPr>
                    </a:p>
                  </a:txBody>
                  <a:tcPr>
                    <a:lnL w="6350" cap="flat" cmpd="sng" algn="ctr">
                      <a:solidFill>
                        <a:srgbClr val="C8C0B4"/>
                      </a:solidFill>
                      <a:prstDash val="solid"/>
                      <a:round/>
                      <a:headEnd type="none" w="med" len="med"/>
                      <a:tailEnd type="none" w="med" len="med"/>
                    </a:lnL>
                    <a:lnR w="6350" cap="flat" cmpd="sng" algn="ctr">
                      <a:solidFill>
                        <a:srgbClr val="C8C0B4"/>
                      </a:solidFill>
                      <a:prstDash val="solid"/>
                      <a:round/>
                      <a:headEnd type="none" w="med" len="med"/>
                      <a:tailEnd type="none" w="med" len="med"/>
                    </a:lnR>
                    <a:lnT w="6350" cap="flat" cmpd="sng" algn="ctr">
                      <a:solidFill>
                        <a:srgbClr val="C8C0B4"/>
                      </a:solidFill>
                      <a:prstDash val="solid"/>
                      <a:round/>
                      <a:headEnd type="none" w="med" len="med"/>
                      <a:tailEnd type="none" w="med" len="med"/>
                    </a:lnT>
                    <a:lnB w="6350" cap="flat" cmpd="sng" algn="ctr">
                      <a:solidFill>
                        <a:srgbClr val="C8C0B4"/>
                      </a:solidFill>
                      <a:prstDash val="solid"/>
                      <a:round/>
                      <a:headEnd type="none" w="med" len="med"/>
                      <a:tailEnd type="none" w="med" len="med"/>
                    </a:lnB>
                    <a:solidFill>
                      <a:srgbClr val="F5F0E8"/>
                    </a:solidFill>
                  </a:tcPr>
                </a:tc>
                <a:tc>
                  <a:txBody>
                    <a:bodyPr/>
                    <a:lstStyle/>
                    <a:p>
                      <a:pPr marL="0" indent="0">
                        <a:buNone/>
                      </a:pPr>
                      <a:r>
                        <a:rPr lang="en-US" sz="1000" dirty="0">
                          <a:solidFill>
                            <a:srgbClr val="0F1F33"/>
                          </a:solidFill>
                          <a:latin typeface="DM Mono" pitchFamily="34" charset="0"/>
                          <a:ea typeface="DM Mono" pitchFamily="34" charset="-122"/>
                          <a:cs typeface="DM Mono" pitchFamily="34" charset="-120"/>
                        </a:rPr>
                        <a:t>100%</a:t>
                      </a:r>
                      <a:endParaRPr lang="en-US" sz="1000" dirty="0">
                        <a:latin typeface="DM Mono" charset="0"/>
                        <a:ea typeface="DM Mono" charset="0"/>
                        <a:cs typeface="DM Mono" charset="0"/>
                      </a:endParaRPr>
                    </a:p>
                  </a:txBody>
                  <a:tcPr>
                    <a:lnL w="6350" cap="flat" cmpd="sng" algn="ctr">
                      <a:solidFill>
                        <a:srgbClr val="C8C0B4"/>
                      </a:solidFill>
                      <a:prstDash val="solid"/>
                      <a:round/>
                      <a:headEnd type="none" w="med" len="med"/>
                      <a:tailEnd type="none" w="med" len="med"/>
                    </a:lnL>
                    <a:lnR w="6350" cap="flat" cmpd="sng" algn="ctr">
                      <a:solidFill>
                        <a:srgbClr val="C8C0B4"/>
                      </a:solidFill>
                      <a:prstDash val="solid"/>
                      <a:round/>
                      <a:headEnd type="none" w="med" len="med"/>
                      <a:tailEnd type="none" w="med" len="med"/>
                    </a:lnR>
                    <a:lnT w="6350" cap="flat" cmpd="sng" algn="ctr">
                      <a:solidFill>
                        <a:srgbClr val="C8C0B4"/>
                      </a:solidFill>
                      <a:prstDash val="solid"/>
                      <a:round/>
                      <a:headEnd type="none" w="med" len="med"/>
                      <a:tailEnd type="none" w="med" len="med"/>
                    </a:lnT>
                    <a:lnB w="6350" cap="flat" cmpd="sng" algn="ctr">
                      <a:solidFill>
                        <a:srgbClr val="C8C0B4"/>
                      </a:solidFill>
                      <a:prstDash val="solid"/>
                      <a:round/>
                      <a:headEnd type="none" w="med" len="med"/>
                      <a:tailEnd type="none" w="med" len="med"/>
                    </a:lnB>
                    <a:solidFill>
                      <a:srgbClr val="F5F0E8"/>
                    </a:solidFill>
                  </a:tcPr>
                </a:tc>
                <a:tc>
                  <a:txBody>
                    <a:bodyPr/>
                    <a:lstStyle/>
                    <a:p>
                      <a:pPr marL="0" indent="0">
                        <a:buNone/>
                      </a:pPr>
                      <a:r>
                        <a:rPr lang="en-US" sz="1000" dirty="0">
                          <a:solidFill>
                            <a:srgbClr val="0F1F33"/>
                          </a:solidFill>
                          <a:latin typeface="DM Mono" pitchFamily="34" charset="0"/>
                          <a:ea typeface="DM Mono" pitchFamily="34" charset="-122"/>
                          <a:cs typeface="DM Mono" pitchFamily="34" charset="-120"/>
                        </a:rPr>
                        <a:t>2026-04-15</a:t>
                      </a:r>
                      <a:endParaRPr lang="en-US" sz="1000" dirty="0">
                        <a:latin typeface="DM Mono" charset="0"/>
                        <a:ea typeface="DM Mono" charset="0"/>
                        <a:cs typeface="DM Mono" charset="0"/>
                      </a:endParaRPr>
                    </a:p>
                  </a:txBody>
                  <a:tcPr>
                    <a:lnL w="6350" cap="flat" cmpd="sng" algn="ctr">
                      <a:solidFill>
                        <a:srgbClr val="C8C0B4"/>
                      </a:solidFill>
                      <a:prstDash val="solid"/>
                      <a:round/>
                      <a:headEnd type="none" w="med" len="med"/>
                      <a:tailEnd type="none" w="med" len="med"/>
                    </a:lnL>
                    <a:lnR w="6350" cap="flat" cmpd="sng" algn="ctr">
                      <a:solidFill>
                        <a:srgbClr val="C8C0B4"/>
                      </a:solidFill>
                      <a:prstDash val="solid"/>
                      <a:round/>
                      <a:headEnd type="none" w="med" len="med"/>
                      <a:tailEnd type="none" w="med" len="med"/>
                    </a:lnR>
                    <a:lnT w="6350" cap="flat" cmpd="sng" algn="ctr">
                      <a:solidFill>
                        <a:srgbClr val="C8C0B4"/>
                      </a:solidFill>
                      <a:prstDash val="solid"/>
                      <a:round/>
                      <a:headEnd type="none" w="med" len="med"/>
                      <a:tailEnd type="none" w="med" len="med"/>
                    </a:lnT>
                    <a:lnB w="6350" cap="flat" cmpd="sng" algn="ctr">
                      <a:solidFill>
                        <a:srgbClr val="C8C0B4"/>
                      </a:solidFill>
                      <a:prstDash val="solid"/>
                      <a:round/>
                      <a:headEnd type="none" w="med" len="med"/>
                      <a:tailEnd type="none" w="med" len="med"/>
                    </a:lnB>
                    <a:solidFill>
                      <a:srgbClr val="F5F0E8"/>
                    </a:solidFill>
                  </a:tcPr>
                </a:tc>
                <a:extLst>
                  <a:ext uri="{0D108BD9-81ED-4DB2-BD59-A6C34878D82A}">
                    <a16:rowId xmlns:a16="http://schemas.microsoft.com/office/drawing/2014/main" val="10001"/>
                  </a:ext>
                </a:extLst>
              </a:tr>
              <a:tr h="329184">
                <a:tc>
                  <a:txBody>
                    <a:bodyPr/>
                    <a:lstStyle/>
                    <a:p>
                      <a:pPr marL="0" indent="0">
                        <a:buNone/>
                      </a:pPr>
                      <a:r>
                        <a:rPr lang="en-US" sz="1000" dirty="0">
                          <a:solidFill>
                            <a:srgbClr val="0F1F33"/>
                          </a:solidFill>
                          <a:latin typeface="DM Mono" pitchFamily="34" charset="0"/>
                          <a:ea typeface="DM Mono" pitchFamily="34" charset="-122"/>
                          <a:cs typeface="DM Mono" pitchFamily="34" charset="-120"/>
                        </a:rPr>
                        <a:t>IR Web App QA</a:t>
                      </a:r>
                      <a:endParaRPr lang="en-US" sz="1000" dirty="0">
                        <a:latin typeface="DM Mono" charset="0"/>
                        <a:ea typeface="DM Mono" charset="0"/>
                        <a:cs typeface="DM Mono" charset="0"/>
                      </a:endParaRPr>
                    </a:p>
                  </a:txBody>
                  <a:tcPr>
                    <a:lnL w="6350" cap="flat" cmpd="sng" algn="ctr">
                      <a:solidFill>
                        <a:srgbClr val="C8C0B4"/>
                      </a:solidFill>
                      <a:prstDash val="solid"/>
                      <a:round/>
                      <a:headEnd type="none" w="med" len="med"/>
                      <a:tailEnd type="none" w="med" len="med"/>
                    </a:lnL>
                    <a:lnR w="6350" cap="flat" cmpd="sng" algn="ctr">
                      <a:solidFill>
                        <a:srgbClr val="C8C0B4"/>
                      </a:solidFill>
                      <a:prstDash val="solid"/>
                      <a:round/>
                      <a:headEnd type="none" w="med" len="med"/>
                      <a:tailEnd type="none" w="med" len="med"/>
                    </a:lnR>
                    <a:lnT w="6350" cap="flat" cmpd="sng" algn="ctr">
                      <a:solidFill>
                        <a:srgbClr val="C8C0B4"/>
                      </a:solidFill>
                      <a:prstDash val="solid"/>
                      <a:round/>
                      <a:headEnd type="none" w="med" len="med"/>
                      <a:tailEnd type="none" w="med" len="med"/>
                    </a:lnT>
                    <a:lnB w="6350" cap="flat" cmpd="sng" algn="ctr">
                      <a:solidFill>
                        <a:srgbClr val="C8C0B4"/>
                      </a:solidFill>
                      <a:prstDash val="solid"/>
                      <a:round/>
                      <a:headEnd type="none" w="med" len="med"/>
                      <a:tailEnd type="none" w="med" len="med"/>
                    </a:lnB>
                    <a:solidFill>
                      <a:srgbClr val="ECE7DF"/>
                    </a:solidFill>
                  </a:tcPr>
                </a:tc>
                <a:tc>
                  <a:txBody>
                    <a:bodyPr/>
                    <a:lstStyle/>
                    <a:p>
                      <a:pPr marL="0" indent="0">
                        <a:buNone/>
                      </a:pPr>
                      <a:r>
                        <a:rPr lang="en-US" sz="1000" dirty="0">
                          <a:solidFill>
                            <a:srgbClr val="0F1F33"/>
                          </a:solidFill>
                          <a:latin typeface="DM Mono" pitchFamily="34" charset="0"/>
                          <a:ea typeface="DM Mono" pitchFamily="34" charset="-122"/>
                          <a:cs typeface="DM Mono" pitchFamily="34" charset="-120"/>
                        </a:rPr>
                        <a:t>IN REVIEW</a:t>
                      </a:r>
                      <a:endParaRPr lang="en-US" sz="1000" dirty="0">
                        <a:latin typeface="DM Mono" charset="0"/>
                        <a:ea typeface="DM Mono" charset="0"/>
                        <a:cs typeface="DM Mono" charset="0"/>
                      </a:endParaRPr>
                    </a:p>
                  </a:txBody>
                  <a:tcPr>
                    <a:lnL w="6350" cap="flat" cmpd="sng" algn="ctr">
                      <a:solidFill>
                        <a:srgbClr val="C8C0B4"/>
                      </a:solidFill>
                      <a:prstDash val="solid"/>
                      <a:round/>
                      <a:headEnd type="none" w="med" len="med"/>
                      <a:tailEnd type="none" w="med" len="med"/>
                    </a:lnL>
                    <a:lnR w="6350" cap="flat" cmpd="sng" algn="ctr">
                      <a:solidFill>
                        <a:srgbClr val="C8C0B4"/>
                      </a:solidFill>
                      <a:prstDash val="solid"/>
                      <a:round/>
                      <a:headEnd type="none" w="med" len="med"/>
                      <a:tailEnd type="none" w="med" len="med"/>
                    </a:lnR>
                    <a:lnT w="6350" cap="flat" cmpd="sng" algn="ctr">
                      <a:solidFill>
                        <a:srgbClr val="C8C0B4"/>
                      </a:solidFill>
                      <a:prstDash val="solid"/>
                      <a:round/>
                      <a:headEnd type="none" w="med" len="med"/>
                      <a:tailEnd type="none" w="med" len="med"/>
                    </a:lnT>
                    <a:lnB w="6350" cap="flat" cmpd="sng" algn="ctr">
                      <a:solidFill>
                        <a:srgbClr val="C8C0B4"/>
                      </a:solidFill>
                      <a:prstDash val="solid"/>
                      <a:round/>
                      <a:headEnd type="none" w="med" len="med"/>
                      <a:tailEnd type="none" w="med" len="med"/>
                    </a:lnB>
                    <a:solidFill>
                      <a:srgbClr val="ECE7DF"/>
                    </a:solidFill>
                  </a:tcPr>
                </a:tc>
                <a:tc>
                  <a:txBody>
                    <a:bodyPr/>
                    <a:lstStyle/>
                    <a:p>
                      <a:pPr marL="0" indent="0">
                        <a:buNone/>
                      </a:pPr>
                      <a:r>
                        <a:rPr lang="en-US" sz="1000" dirty="0">
                          <a:solidFill>
                            <a:srgbClr val="0F1F33"/>
                          </a:solidFill>
                          <a:latin typeface="DM Mono" pitchFamily="34" charset="0"/>
                          <a:ea typeface="DM Mono" pitchFamily="34" charset="-122"/>
                          <a:cs typeface="DM Mono" pitchFamily="34" charset="-120"/>
                        </a:rPr>
                        <a:t>80%</a:t>
                      </a:r>
                      <a:endParaRPr lang="en-US" sz="1000" dirty="0">
                        <a:latin typeface="DM Mono" charset="0"/>
                        <a:ea typeface="DM Mono" charset="0"/>
                        <a:cs typeface="DM Mono" charset="0"/>
                      </a:endParaRPr>
                    </a:p>
                  </a:txBody>
                  <a:tcPr>
                    <a:lnL w="6350" cap="flat" cmpd="sng" algn="ctr">
                      <a:solidFill>
                        <a:srgbClr val="C8C0B4"/>
                      </a:solidFill>
                      <a:prstDash val="solid"/>
                      <a:round/>
                      <a:headEnd type="none" w="med" len="med"/>
                      <a:tailEnd type="none" w="med" len="med"/>
                    </a:lnL>
                    <a:lnR w="6350" cap="flat" cmpd="sng" algn="ctr">
                      <a:solidFill>
                        <a:srgbClr val="C8C0B4"/>
                      </a:solidFill>
                      <a:prstDash val="solid"/>
                      <a:round/>
                      <a:headEnd type="none" w="med" len="med"/>
                      <a:tailEnd type="none" w="med" len="med"/>
                    </a:lnR>
                    <a:lnT w="6350" cap="flat" cmpd="sng" algn="ctr">
                      <a:solidFill>
                        <a:srgbClr val="C8C0B4"/>
                      </a:solidFill>
                      <a:prstDash val="solid"/>
                      <a:round/>
                      <a:headEnd type="none" w="med" len="med"/>
                      <a:tailEnd type="none" w="med" len="med"/>
                    </a:lnT>
                    <a:lnB w="6350" cap="flat" cmpd="sng" algn="ctr">
                      <a:solidFill>
                        <a:srgbClr val="C8C0B4"/>
                      </a:solidFill>
                      <a:prstDash val="solid"/>
                      <a:round/>
                      <a:headEnd type="none" w="med" len="med"/>
                      <a:tailEnd type="none" w="med" len="med"/>
                    </a:lnB>
                    <a:solidFill>
                      <a:srgbClr val="ECE7DF"/>
                    </a:solidFill>
                  </a:tcPr>
                </a:tc>
                <a:tc>
                  <a:txBody>
                    <a:bodyPr/>
                    <a:lstStyle/>
                    <a:p>
                      <a:pPr marL="0" indent="0">
                        <a:buNone/>
                      </a:pPr>
                      <a:r>
                        <a:rPr lang="en-US" sz="1000" dirty="0">
                          <a:solidFill>
                            <a:srgbClr val="0F1F33"/>
                          </a:solidFill>
                          <a:latin typeface="DM Mono" pitchFamily="34" charset="0"/>
                          <a:ea typeface="DM Mono" pitchFamily="34" charset="-122"/>
                          <a:cs typeface="DM Mono" pitchFamily="34" charset="-120"/>
                        </a:rPr>
                        <a:t>2026-05-30</a:t>
                      </a:r>
                      <a:endParaRPr lang="en-US" sz="1000" dirty="0">
                        <a:latin typeface="DM Mono" charset="0"/>
                        <a:ea typeface="DM Mono" charset="0"/>
                        <a:cs typeface="DM Mono" charset="0"/>
                      </a:endParaRPr>
                    </a:p>
                  </a:txBody>
                  <a:tcPr>
                    <a:lnL w="6350" cap="flat" cmpd="sng" algn="ctr">
                      <a:solidFill>
                        <a:srgbClr val="C8C0B4"/>
                      </a:solidFill>
                      <a:prstDash val="solid"/>
                      <a:round/>
                      <a:headEnd type="none" w="med" len="med"/>
                      <a:tailEnd type="none" w="med" len="med"/>
                    </a:lnL>
                    <a:lnR w="6350" cap="flat" cmpd="sng" algn="ctr">
                      <a:solidFill>
                        <a:srgbClr val="C8C0B4"/>
                      </a:solidFill>
                      <a:prstDash val="solid"/>
                      <a:round/>
                      <a:headEnd type="none" w="med" len="med"/>
                      <a:tailEnd type="none" w="med" len="med"/>
                    </a:lnR>
                    <a:lnT w="6350" cap="flat" cmpd="sng" algn="ctr">
                      <a:solidFill>
                        <a:srgbClr val="C8C0B4"/>
                      </a:solidFill>
                      <a:prstDash val="solid"/>
                      <a:round/>
                      <a:headEnd type="none" w="med" len="med"/>
                      <a:tailEnd type="none" w="med" len="med"/>
                    </a:lnT>
                    <a:lnB w="6350" cap="flat" cmpd="sng" algn="ctr">
                      <a:solidFill>
                        <a:srgbClr val="C8C0B4"/>
                      </a:solidFill>
                      <a:prstDash val="solid"/>
                      <a:round/>
                      <a:headEnd type="none" w="med" len="med"/>
                      <a:tailEnd type="none" w="med" len="med"/>
                    </a:lnB>
                    <a:solidFill>
                      <a:srgbClr val="ECE7DF"/>
                    </a:solidFill>
                  </a:tcPr>
                </a:tc>
                <a:extLst>
                  <a:ext uri="{0D108BD9-81ED-4DB2-BD59-A6C34878D82A}">
                    <a16:rowId xmlns:a16="http://schemas.microsoft.com/office/drawing/2014/main" val="10002"/>
                  </a:ext>
                </a:extLst>
              </a:tr>
              <a:tr h="329184">
                <a:tc>
                  <a:txBody>
                    <a:bodyPr/>
                    <a:lstStyle/>
                    <a:p>
                      <a:pPr marL="0" indent="0">
                        <a:buNone/>
                      </a:pPr>
                      <a:r>
                        <a:rPr lang="en-US" sz="1000" dirty="0">
                          <a:solidFill>
                            <a:srgbClr val="0F1F33"/>
                          </a:solidFill>
                          <a:latin typeface="DM Mono" pitchFamily="34" charset="0"/>
                          <a:ea typeface="DM Mono" pitchFamily="34" charset="-122"/>
                          <a:cs typeface="DM Mono" pitchFamily="34" charset="-120"/>
                        </a:rPr>
                        <a:t>Deploy Odyssey App</a:t>
                      </a:r>
                      <a:endParaRPr lang="en-US" sz="1000" dirty="0">
                        <a:latin typeface="DM Mono" charset="0"/>
                        <a:ea typeface="DM Mono" charset="0"/>
                        <a:cs typeface="DM Mono" charset="0"/>
                      </a:endParaRPr>
                    </a:p>
                  </a:txBody>
                  <a:tcPr>
                    <a:lnL w="6350" cap="flat" cmpd="sng" algn="ctr">
                      <a:solidFill>
                        <a:srgbClr val="C8C0B4"/>
                      </a:solidFill>
                      <a:prstDash val="solid"/>
                      <a:round/>
                      <a:headEnd type="none" w="med" len="med"/>
                      <a:tailEnd type="none" w="med" len="med"/>
                    </a:lnL>
                    <a:lnR w="6350" cap="flat" cmpd="sng" algn="ctr">
                      <a:solidFill>
                        <a:srgbClr val="C8C0B4"/>
                      </a:solidFill>
                      <a:prstDash val="solid"/>
                      <a:round/>
                      <a:headEnd type="none" w="med" len="med"/>
                      <a:tailEnd type="none" w="med" len="med"/>
                    </a:lnR>
                    <a:lnT w="6350" cap="flat" cmpd="sng" algn="ctr">
                      <a:solidFill>
                        <a:srgbClr val="C8C0B4"/>
                      </a:solidFill>
                      <a:prstDash val="solid"/>
                      <a:round/>
                      <a:headEnd type="none" w="med" len="med"/>
                      <a:tailEnd type="none" w="med" len="med"/>
                    </a:lnT>
                    <a:lnB w="6350" cap="flat" cmpd="sng" algn="ctr">
                      <a:solidFill>
                        <a:srgbClr val="C8C0B4"/>
                      </a:solidFill>
                      <a:prstDash val="solid"/>
                      <a:round/>
                      <a:headEnd type="none" w="med" len="med"/>
                      <a:tailEnd type="none" w="med" len="med"/>
                    </a:lnB>
                    <a:solidFill>
                      <a:srgbClr val="F5F0E8"/>
                    </a:solidFill>
                  </a:tcPr>
                </a:tc>
                <a:tc>
                  <a:txBody>
                    <a:bodyPr/>
                    <a:lstStyle/>
                    <a:p>
                      <a:pPr marL="0" indent="0">
                        <a:buNone/>
                      </a:pPr>
                      <a:r>
                        <a:rPr lang="en-US" sz="1000" dirty="0">
                          <a:solidFill>
                            <a:srgbClr val="0F1F33"/>
                          </a:solidFill>
                          <a:latin typeface="DM Mono" pitchFamily="34" charset="0"/>
                          <a:ea typeface="DM Mono" pitchFamily="34" charset="-122"/>
                          <a:cs typeface="DM Mono" pitchFamily="34" charset="-120"/>
                        </a:rPr>
                        <a:t>IN REVIEW</a:t>
                      </a:r>
                      <a:endParaRPr lang="en-US" sz="1000" dirty="0">
                        <a:latin typeface="DM Mono" charset="0"/>
                        <a:ea typeface="DM Mono" charset="0"/>
                        <a:cs typeface="DM Mono" charset="0"/>
                      </a:endParaRPr>
                    </a:p>
                  </a:txBody>
                  <a:tcPr>
                    <a:lnL w="6350" cap="flat" cmpd="sng" algn="ctr">
                      <a:solidFill>
                        <a:srgbClr val="C8C0B4"/>
                      </a:solidFill>
                      <a:prstDash val="solid"/>
                      <a:round/>
                      <a:headEnd type="none" w="med" len="med"/>
                      <a:tailEnd type="none" w="med" len="med"/>
                    </a:lnL>
                    <a:lnR w="6350" cap="flat" cmpd="sng" algn="ctr">
                      <a:solidFill>
                        <a:srgbClr val="C8C0B4"/>
                      </a:solidFill>
                      <a:prstDash val="solid"/>
                      <a:round/>
                      <a:headEnd type="none" w="med" len="med"/>
                      <a:tailEnd type="none" w="med" len="med"/>
                    </a:lnR>
                    <a:lnT w="6350" cap="flat" cmpd="sng" algn="ctr">
                      <a:solidFill>
                        <a:srgbClr val="C8C0B4"/>
                      </a:solidFill>
                      <a:prstDash val="solid"/>
                      <a:round/>
                      <a:headEnd type="none" w="med" len="med"/>
                      <a:tailEnd type="none" w="med" len="med"/>
                    </a:lnT>
                    <a:lnB w="6350" cap="flat" cmpd="sng" algn="ctr">
                      <a:solidFill>
                        <a:srgbClr val="C8C0B4"/>
                      </a:solidFill>
                      <a:prstDash val="solid"/>
                      <a:round/>
                      <a:headEnd type="none" w="med" len="med"/>
                      <a:tailEnd type="none" w="med" len="med"/>
                    </a:lnB>
                    <a:solidFill>
                      <a:srgbClr val="F5F0E8"/>
                    </a:solidFill>
                  </a:tcPr>
                </a:tc>
                <a:tc>
                  <a:txBody>
                    <a:bodyPr/>
                    <a:lstStyle/>
                    <a:p>
                      <a:pPr marL="0" indent="0">
                        <a:buNone/>
                      </a:pPr>
                      <a:r>
                        <a:rPr lang="en-US" sz="1000" dirty="0">
                          <a:solidFill>
                            <a:srgbClr val="0F1F33"/>
                          </a:solidFill>
                          <a:latin typeface="DM Mono" pitchFamily="34" charset="0"/>
                          <a:ea typeface="DM Mono" pitchFamily="34" charset="-122"/>
                          <a:cs typeface="DM Mono" pitchFamily="34" charset="-120"/>
                        </a:rPr>
                        <a:t>75%</a:t>
                      </a:r>
                      <a:endParaRPr lang="en-US" sz="1000" dirty="0">
                        <a:latin typeface="DM Mono" charset="0"/>
                        <a:ea typeface="DM Mono" charset="0"/>
                        <a:cs typeface="DM Mono" charset="0"/>
                      </a:endParaRPr>
                    </a:p>
                  </a:txBody>
                  <a:tcPr>
                    <a:lnL w="6350" cap="flat" cmpd="sng" algn="ctr">
                      <a:solidFill>
                        <a:srgbClr val="C8C0B4"/>
                      </a:solidFill>
                      <a:prstDash val="solid"/>
                      <a:round/>
                      <a:headEnd type="none" w="med" len="med"/>
                      <a:tailEnd type="none" w="med" len="med"/>
                    </a:lnL>
                    <a:lnR w="6350" cap="flat" cmpd="sng" algn="ctr">
                      <a:solidFill>
                        <a:srgbClr val="C8C0B4"/>
                      </a:solidFill>
                      <a:prstDash val="solid"/>
                      <a:round/>
                      <a:headEnd type="none" w="med" len="med"/>
                      <a:tailEnd type="none" w="med" len="med"/>
                    </a:lnR>
                    <a:lnT w="6350" cap="flat" cmpd="sng" algn="ctr">
                      <a:solidFill>
                        <a:srgbClr val="C8C0B4"/>
                      </a:solidFill>
                      <a:prstDash val="solid"/>
                      <a:round/>
                      <a:headEnd type="none" w="med" len="med"/>
                      <a:tailEnd type="none" w="med" len="med"/>
                    </a:lnT>
                    <a:lnB w="6350" cap="flat" cmpd="sng" algn="ctr">
                      <a:solidFill>
                        <a:srgbClr val="C8C0B4"/>
                      </a:solidFill>
                      <a:prstDash val="solid"/>
                      <a:round/>
                      <a:headEnd type="none" w="med" len="med"/>
                      <a:tailEnd type="none" w="med" len="med"/>
                    </a:lnB>
                    <a:solidFill>
                      <a:srgbClr val="F5F0E8"/>
                    </a:solidFill>
                  </a:tcPr>
                </a:tc>
                <a:tc>
                  <a:txBody>
                    <a:bodyPr/>
                    <a:lstStyle/>
                    <a:p>
                      <a:pPr marL="0" indent="0">
                        <a:buNone/>
                      </a:pPr>
                      <a:r>
                        <a:rPr lang="en-US" sz="1000" dirty="0">
                          <a:solidFill>
                            <a:srgbClr val="0F1F33"/>
                          </a:solidFill>
                          <a:latin typeface="DM Mono" pitchFamily="34" charset="0"/>
                          <a:ea typeface="DM Mono" pitchFamily="34" charset="-122"/>
                          <a:cs typeface="DM Mono" pitchFamily="34" charset="-120"/>
                        </a:rPr>
                        <a:t>2026-06-27</a:t>
                      </a:r>
                      <a:endParaRPr lang="en-US" sz="1000" dirty="0">
                        <a:latin typeface="DM Mono" charset="0"/>
                        <a:ea typeface="DM Mono" charset="0"/>
                        <a:cs typeface="DM Mono" charset="0"/>
                      </a:endParaRPr>
                    </a:p>
                  </a:txBody>
                  <a:tcPr>
                    <a:lnL w="6350" cap="flat" cmpd="sng" algn="ctr">
                      <a:solidFill>
                        <a:srgbClr val="C8C0B4"/>
                      </a:solidFill>
                      <a:prstDash val="solid"/>
                      <a:round/>
                      <a:headEnd type="none" w="med" len="med"/>
                      <a:tailEnd type="none" w="med" len="med"/>
                    </a:lnL>
                    <a:lnR w="6350" cap="flat" cmpd="sng" algn="ctr">
                      <a:solidFill>
                        <a:srgbClr val="C8C0B4"/>
                      </a:solidFill>
                      <a:prstDash val="solid"/>
                      <a:round/>
                      <a:headEnd type="none" w="med" len="med"/>
                      <a:tailEnd type="none" w="med" len="med"/>
                    </a:lnR>
                    <a:lnT w="6350" cap="flat" cmpd="sng" algn="ctr">
                      <a:solidFill>
                        <a:srgbClr val="C8C0B4"/>
                      </a:solidFill>
                      <a:prstDash val="solid"/>
                      <a:round/>
                      <a:headEnd type="none" w="med" len="med"/>
                      <a:tailEnd type="none" w="med" len="med"/>
                    </a:lnT>
                    <a:lnB w="6350" cap="flat" cmpd="sng" algn="ctr">
                      <a:solidFill>
                        <a:srgbClr val="C8C0B4"/>
                      </a:solidFill>
                      <a:prstDash val="solid"/>
                      <a:round/>
                      <a:headEnd type="none" w="med" len="med"/>
                      <a:tailEnd type="none" w="med" len="med"/>
                    </a:lnB>
                    <a:solidFill>
                      <a:srgbClr val="F5F0E8"/>
                    </a:solidFill>
                  </a:tcPr>
                </a:tc>
                <a:extLst>
                  <a:ext uri="{0D108BD9-81ED-4DB2-BD59-A6C34878D82A}">
                    <a16:rowId xmlns:a16="http://schemas.microsoft.com/office/drawing/2014/main" val="10003"/>
                  </a:ext>
                </a:extLst>
              </a:tr>
              <a:tr h="329184">
                <a:tc>
                  <a:txBody>
                    <a:bodyPr/>
                    <a:lstStyle/>
                    <a:p>
                      <a:pPr marL="0" indent="0">
                        <a:buNone/>
                      </a:pPr>
                      <a:r>
                        <a:rPr lang="en-US" sz="1000" dirty="0">
                          <a:solidFill>
                            <a:srgbClr val="0F1F33"/>
                          </a:solidFill>
                          <a:latin typeface="DM Mono" pitchFamily="34" charset="0"/>
                          <a:ea typeface="DM Mono" pitchFamily="34" charset="-122"/>
                          <a:cs typeface="DM Mono" pitchFamily="34" charset="-120"/>
                        </a:rPr>
                        <a:t>IR YOLO Benchmarking</a:t>
                      </a:r>
                      <a:endParaRPr lang="en-US" sz="1000" dirty="0">
                        <a:latin typeface="DM Mono" charset="0"/>
                        <a:ea typeface="DM Mono" charset="0"/>
                        <a:cs typeface="DM Mono" charset="0"/>
                      </a:endParaRPr>
                    </a:p>
                  </a:txBody>
                  <a:tcPr>
                    <a:lnL w="6350" cap="flat" cmpd="sng" algn="ctr">
                      <a:solidFill>
                        <a:srgbClr val="C8C0B4"/>
                      </a:solidFill>
                      <a:prstDash val="solid"/>
                      <a:round/>
                      <a:headEnd type="none" w="med" len="med"/>
                      <a:tailEnd type="none" w="med" len="med"/>
                    </a:lnL>
                    <a:lnR w="6350" cap="flat" cmpd="sng" algn="ctr">
                      <a:solidFill>
                        <a:srgbClr val="C8C0B4"/>
                      </a:solidFill>
                      <a:prstDash val="solid"/>
                      <a:round/>
                      <a:headEnd type="none" w="med" len="med"/>
                      <a:tailEnd type="none" w="med" len="med"/>
                    </a:lnR>
                    <a:lnT w="6350" cap="flat" cmpd="sng" algn="ctr">
                      <a:solidFill>
                        <a:srgbClr val="C8C0B4"/>
                      </a:solidFill>
                      <a:prstDash val="solid"/>
                      <a:round/>
                      <a:headEnd type="none" w="med" len="med"/>
                      <a:tailEnd type="none" w="med" len="med"/>
                    </a:lnT>
                    <a:lnB w="6350" cap="flat" cmpd="sng" algn="ctr">
                      <a:solidFill>
                        <a:srgbClr val="C8C0B4"/>
                      </a:solidFill>
                      <a:prstDash val="solid"/>
                      <a:round/>
                      <a:headEnd type="none" w="med" len="med"/>
                      <a:tailEnd type="none" w="med" len="med"/>
                    </a:lnB>
                    <a:solidFill>
                      <a:srgbClr val="ECE7DF"/>
                    </a:solidFill>
                  </a:tcPr>
                </a:tc>
                <a:tc>
                  <a:txBody>
                    <a:bodyPr/>
                    <a:lstStyle/>
                    <a:p>
                      <a:pPr marL="0" indent="0">
                        <a:buNone/>
                      </a:pPr>
                      <a:r>
                        <a:rPr lang="en-US" sz="1000" dirty="0">
                          <a:solidFill>
                            <a:srgbClr val="0F1F33"/>
                          </a:solidFill>
                          <a:latin typeface="DM Mono" pitchFamily="34" charset="0"/>
                          <a:ea typeface="DM Mono" pitchFamily="34" charset="-122"/>
                          <a:cs typeface="DM Mono" pitchFamily="34" charset="-120"/>
                        </a:rPr>
                        <a:t>IN PROGRESS</a:t>
                      </a:r>
                      <a:endParaRPr lang="en-US" sz="1000" dirty="0">
                        <a:latin typeface="DM Mono" charset="0"/>
                        <a:ea typeface="DM Mono" charset="0"/>
                        <a:cs typeface="DM Mono" charset="0"/>
                      </a:endParaRPr>
                    </a:p>
                  </a:txBody>
                  <a:tcPr>
                    <a:lnL w="6350" cap="flat" cmpd="sng" algn="ctr">
                      <a:solidFill>
                        <a:srgbClr val="C8C0B4"/>
                      </a:solidFill>
                      <a:prstDash val="solid"/>
                      <a:round/>
                      <a:headEnd type="none" w="med" len="med"/>
                      <a:tailEnd type="none" w="med" len="med"/>
                    </a:lnL>
                    <a:lnR w="6350" cap="flat" cmpd="sng" algn="ctr">
                      <a:solidFill>
                        <a:srgbClr val="C8C0B4"/>
                      </a:solidFill>
                      <a:prstDash val="solid"/>
                      <a:round/>
                      <a:headEnd type="none" w="med" len="med"/>
                      <a:tailEnd type="none" w="med" len="med"/>
                    </a:lnR>
                    <a:lnT w="6350" cap="flat" cmpd="sng" algn="ctr">
                      <a:solidFill>
                        <a:srgbClr val="C8C0B4"/>
                      </a:solidFill>
                      <a:prstDash val="solid"/>
                      <a:round/>
                      <a:headEnd type="none" w="med" len="med"/>
                      <a:tailEnd type="none" w="med" len="med"/>
                    </a:lnT>
                    <a:lnB w="6350" cap="flat" cmpd="sng" algn="ctr">
                      <a:solidFill>
                        <a:srgbClr val="C8C0B4"/>
                      </a:solidFill>
                      <a:prstDash val="solid"/>
                      <a:round/>
                      <a:headEnd type="none" w="med" len="med"/>
                      <a:tailEnd type="none" w="med" len="med"/>
                    </a:lnB>
                    <a:solidFill>
                      <a:srgbClr val="ECE7DF"/>
                    </a:solidFill>
                  </a:tcPr>
                </a:tc>
                <a:tc>
                  <a:txBody>
                    <a:bodyPr/>
                    <a:lstStyle/>
                    <a:p>
                      <a:pPr marL="0" indent="0">
                        <a:buNone/>
                      </a:pPr>
                      <a:r>
                        <a:rPr lang="en-US" sz="1000" dirty="0">
                          <a:solidFill>
                            <a:srgbClr val="0F1F33"/>
                          </a:solidFill>
                          <a:latin typeface="DM Mono" pitchFamily="34" charset="0"/>
                          <a:ea typeface="DM Mono" pitchFamily="34" charset="-122"/>
                          <a:cs typeface="DM Mono" pitchFamily="34" charset="-120"/>
                        </a:rPr>
                        <a:t>40%</a:t>
                      </a:r>
                      <a:endParaRPr lang="en-US" sz="1000" dirty="0">
                        <a:latin typeface="DM Mono" charset="0"/>
                        <a:ea typeface="DM Mono" charset="0"/>
                        <a:cs typeface="DM Mono" charset="0"/>
                      </a:endParaRPr>
                    </a:p>
                  </a:txBody>
                  <a:tcPr>
                    <a:lnL w="6350" cap="flat" cmpd="sng" algn="ctr">
                      <a:solidFill>
                        <a:srgbClr val="C8C0B4"/>
                      </a:solidFill>
                      <a:prstDash val="solid"/>
                      <a:round/>
                      <a:headEnd type="none" w="med" len="med"/>
                      <a:tailEnd type="none" w="med" len="med"/>
                    </a:lnL>
                    <a:lnR w="6350" cap="flat" cmpd="sng" algn="ctr">
                      <a:solidFill>
                        <a:srgbClr val="C8C0B4"/>
                      </a:solidFill>
                      <a:prstDash val="solid"/>
                      <a:round/>
                      <a:headEnd type="none" w="med" len="med"/>
                      <a:tailEnd type="none" w="med" len="med"/>
                    </a:lnR>
                    <a:lnT w="6350" cap="flat" cmpd="sng" algn="ctr">
                      <a:solidFill>
                        <a:srgbClr val="C8C0B4"/>
                      </a:solidFill>
                      <a:prstDash val="solid"/>
                      <a:round/>
                      <a:headEnd type="none" w="med" len="med"/>
                      <a:tailEnd type="none" w="med" len="med"/>
                    </a:lnT>
                    <a:lnB w="6350" cap="flat" cmpd="sng" algn="ctr">
                      <a:solidFill>
                        <a:srgbClr val="C8C0B4"/>
                      </a:solidFill>
                      <a:prstDash val="solid"/>
                      <a:round/>
                      <a:headEnd type="none" w="med" len="med"/>
                      <a:tailEnd type="none" w="med" len="med"/>
                    </a:lnB>
                    <a:solidFill>
                      <a:srgbClr val="ECE7DF"/>
                    </a:solidFill>
                  </a:tcPr>
                </a:tc>
                <a:tc>
                  <a:txBody>
                    <a:bodyPr/>
                    <a:lstStyle/>
                    <a:p>
                      <a:pPr marL="0" indent="0">
                        <a:buNone/>
                      </a:pPr>
                      <a:r>
                        <a:rPr lang="en-US" sz="1000" dirty="0">
                          <a:solidFill>
                            <a:srgbClr val="0F1F33"/>
                          </a:solidFill>
                          <a:latin typeface="DM Mono" pitchFamily="34" charset="0"/>
                          <a:ea typeface="DM Mono" pitchFamily="34" charset="-122"/>
                          <a:cs typeface="DM Mono" pitchFamily="34" charset="-120"/>
                        </a:rPr>
                        <a:t>2026-05-30</a:t>
                      </a:r>
                      <a:endParaRPr lang="en-US" sz="1000" dirty="0">
                        <a:latin typeface="DM Mono" charset="0"/>
                        <a:ea typeface="DM Mono" charset="0"/>
                        <a:cs typeface="DM Mono" charset="0"/>
                      </a:endParaRPr>
                    </a:p>
                  </a:txBody>
                  <a:tcPr>
                    <a:lnL w="6350" cap="flat" cmpd="sng" algn="ctr">
                      <a:solidFill>
                        <a:srgbClr val="C8C0B4"/>
                      </a:solidFill>
                      <a:prstDash val="solid"/>
                      <a:round/>
                      <a:headEnd type="none" w="med" len="med"/>
                      <a:tailEnd type="none" w="med" len="med"/>
                    </a:lnL>
                    <a:lnR w="6350" cap="flat" cmpd="sng" algn="ctr">
                      <a:solidFill>
                        <a:srgbClr val="C8C0B4"/>
                      </a:solidFill>
                      <a:prstDash val="solid"/>
                      <a:round/>
                      <a:headEnd type="none" w="med" len="med"/>
                      <a:tailEnd type="none" w="med" len="med"/>
                    </a:lnR>
                    <a:lnT w="6350" cap="flat" cmpd="sng" algn="ctr">
                      <a:solidFill>
                        <a:srgbClr val="C8C0B4"/>
                      </a:solidFill>
                      <a:prstDash val="solid"/>
                      <a:round/>
                      <a:headEnd type="none" w="med" len="med"/>
                      <a:tailEnd type="none" w="med" len="med"/>
                    </a:lnT>
                    <a:lnB w="6350" cap="flat" cmpd="sng" algn="ctr">
                      <a:solidFill>
                        <a:srgbClr val="C8C0B4"/>
                      </a:solidFill>
                      <a:prstDash val="solid"/>
                      <a:round/>
                      <a:headEnd type="none" w="med" len="med"/>
                      <a:tailEnd type="none" w="med" len="med"/>
                    </a:lnB>
                    <a:solidFill>
                      <a:srgbClr val="ECE7DF"/>
                    </a:solidFill>
                  </a:tcPr>
                </a:tc>
                <a:extLst>
                  <a:ext uri="{0D108BD9-81ED-4DB2-BD59-A6C34878D82A}">
                    <a16:rowId xmlns:a16="http://schemas.microsoft.com/office/drawing/2014/main" val="10004"/>
                  </a:ext>
                </a:extLst>
              </a:tr>
              <a:tr h="329184">
                <a:tc>
                  <a:txBody>
                    <a:bodyPr/>
                    <a:lstStyle/>
                    <a:p>
                      <a:pPr marL="0" indent="0">
                        <a:buNone/>
                      </a:pPr>
                      <a:r>
                        <a:rPr lang="en-US" sz="1000" dirty="0">
                          <a:solidFill>
                            <a:srgbClr val="0F1F33"/>
                          </a:solidFill>
                          <a:latin typeface="DM Mono" pitchFamily="34" charset="0"/>
                          <a:ea typeface="DM Mono" pitchFamily="34" charset="-122"/>
                          <a:cs typeface="DM Mono" pitchFamily="34" charset="-120"/>
                        </a:rPr>
                        <a:t>Fix IR Intrinsic Calib.</a:t>
                      </a:r>
                      <a:endParaRPr lang="en-US" sz="1000" dirty="0">
                        <a:latin typeface="DM Mono" charset="0"/>
                        <a:ea typeface="DM Mono" charset="0"/>
                        <a:cs typeface="DM Mono" charset="0"/>
                      </a:endParaRPr>
                    </a:p>
                  </a:txBody>
                  <a:tcPr>
                    <a:lnL w="6350" cap="flat" cmpd="sng" algn="ctr">
                      <a:solidFill>
                        <a:srgbClr val="C8C0B4"/>
                      </a:solidFill>
                      <a:prstDash val="solid"/>
                      <a:round/>
                      <a:headEnd type="none" w="med" len="med"/>
                      <a:tailEnd type="none" w="med" len="med"/>
                    </a:lnL>
                    <a:lnR w="6350" cap="flat" cmpd="sng" algn="ctr">
                      <a:solidFill>
                        <a:srgbClr val="C8C0B4"/>
                      </a:solidFill>
                      <a:prstDash val="solid"/>
                      <a:round/>
                      <a:headEnd type="none" w="med" len="med"/>
                      <a:tailEnd type="none" w="med" len="med"/>
                    </a:lnR>
                    <a:lnT w="6350" cap="flat" cmpd="sng" algn="ctr">
                      <a:solidFill>
                        <a:srgbClr val="C8C0B4"/>
                      </a:solidFill>
                      <a:prstDash val="solid"/>
                      <a:round/>
                      <a:headEnd type="none" w="med" len="med"/>
                      <a:tailEnd type="none" w="med" len="med"/>
                    </a:lnT>
                    <a:lnB w="6350" cap="flat" cmpd="sng" algn="ctr">
                      <a:solidFill>
                        <a:srgbClr val="C8C0B4"/>
                      </a:solidFill>
                      <a:prstDash val="solid"/>
                      <a:round/>
                      <a:headEnd type="none" w="med" len="med"/>
                      <a:tailEnd type="none" w="med" len="med"/>
                    </a:lnB>
                    <a:solidFill>
                      <a:srgbClr val="F5F0E8"/>
                    </a:solidFill>
                  </a:tcPr>
                </a:tc>
                <a:tc>
                  <a:txBody>
                    <a:bodyPr/>
                    <a:lstStyle/>
                    <a:p>
                      <a:pPr marL="0" indent="0">
                        <a:buNone/>
                      </a:pPr>
                      <a:r>
                        <a:rPr lang="en-US" sz="1000" dirty="0">
                          <a:solidFill>
                            <a:srgbClr val="0F1F33"/>
                          </a:solidFill>
                          <a:latin typeface="DM Mono" pitchFamily="34" charset="0"/>
                          <a:ea typeface="DM Mono" pitchFamily="34" charset="-122"/>
                          <a:cs typeface="DM Mono" pitchFamily="34" charset="-120"/>
                        </a:rPr>
                        <a:t>IN PROGRESS</a:t>
                      </a:r>
                      <a:endParaRPr lang="en-US" sz="1000" dirty="0">
                        <a:latin typeface="DM Mono" charset="0"/>
                        <a:ea typeface="DM Mono" charset="0"/>
                        <a:cs typeface="DM Mono" charset="0"/>
                      </a:endParaRPr>
                    </a:p>
                  </a:txBody>
                  <a:tcPr>
                    <a:lnL w="6350" cap="flat" cmpd="sng" algn="ctr">
                      <a:solidFill>
                        <a:srgbClr val="C8C0B4"/>
                      </a:solidFill>
                      <a:prstDash val="solid"/>
                      <a:round/>
                      <a:headEnd type="none" w="med" len="med"/>
                      <a:tailEnd type="none" w="med" len="med"/>
                    </a:lnL>
                    <a:lnR w="6350" cap="flat" cmpd="sng" algn="ctr">
                      <a:solidFill>
                        <a:srgbClr val="C8C0B4"/>
                      </a:solidFill>
                      <a:prstDash val="solid"/>
                      <a:round/>
                      <a:headEnd type="none" w="med" len="med"/>
                      <a:tailEnd type="none" w="med" len="med"/>
                    </a:lnR>
                    <a:lnT w="6350" cap="flat" cmpd="sng" algn="ctr">
                      <a:solidFill>
                        <a:srgbClr val="C8C0B4"/>
                      </a:solidFill>
                      <a:prstDash val="solid"/>
                      <a:round/>
                      <a:headEnd type="none" w="med" len="med"/>
                      <a:tailEnd type="none" w="med" len="med"/>
                    </a:lnT>
                    <a:lnB w="6350" cap="flat" cmpd="sng" algn="ctr">
                      <a:solidFill>
                        <a:srgbClr val="C8C0B4"/>
                      </a:solidFill>
                      <a:prstDash val="solid"/>
                      <a:round/>
                      <a:headEnd type="none" w="med" len="med"/>
                      <a:tailEnd type="none" w="med" len="med"/>
                    </a:lnB>
                    <a:solidFill>
                      <a:srgbClr val="F5F0E8"/>
                    </a:solidFill>
                  </a:tcPr>
                </a:tc>
                <a:tc>
                  <a:txBody>
                    <a:bodyPr/>
                    <a:lstStyle/>
                    <a:p>
                      <a:pPr marL="0" indent="0">
                        <a:buNone/>
                      </a:pPr>
                      <a:r>
                        <a:rPr lang="en-US" sz="1000" dirty="0">
                          <a:solidFill>
                            <a:srgbClr val="0F1F33"/>
                          </a:solidFill>
                          <a:latin typeface="DM Mono" pitchFamily="34" charset="0"/>
                          <a:ea typeface="DM Mono" pitchFamily="34" charset="-122"/>
                          <a:cs typeface="DM Mono" pitchFamily="34" charset="-120"/>
                        </a:rPr>
                        <a:t>40%</a:t>
                      </a:r>
                      <a:endParaRPr lang="en-US" sz="1000" dirty="0">
                        <a:latin typeface="DM Mono" charset="0"/>
                        <a:ea typeface="DM Mono" charset="0"/>
                        <a:cs typeface="DM Mono" charset="0"/>
                      </a:endParaRPr>
                    </a:p>
                  </a:txBody>
                  <a:tcPr>
                    <a:lnL w="6350" cap="flat" cmpd="sng" algn="ctr">
                      <a:solidFill>
                        <a:srgbClr val="C8C0B4"/>
                      </a:solidFill>
                      <a:prstDash val="solid"/>
                      <a:round/>
                      <a:headEnd type="none" w="med" len="med"/>
                      <a:tailEnd type="none" w="med" len="med"/>
                    </a:lnL>
                    <a:lnR w="6350" cap="flat" cmpd="sng" algn="ctr">
                      <a:solidFill>
                        <a:srgbClr val="C8C0B4"/>
                      </a:solidFill>
                      <a:prstDash val="solid"/>
                      <a:round/>
                      <a:headEnd type="none" w="med" len="med"/>
                      <a:tailEnd type="none" w="med" len="med"/>
                    </a:lnR>
                    <a:lnT w="6350" cap="flat" cmpd="sng" algn="ctr">
                      <a:solidFill>
                        <a:srgbClr val="C8C0B4"/>
                      </a:solidFill>
                      <a:prstDash val="solid"/>
                      <a:round/>
                      <a:headEnd type="none" w="med" len="med"/>
                      <a:tailEnd type="none" w="med" len="med"/>
                    </a:lnT>
                    <a:lnB w="6350" cap="flat" cmpd="sng" algn="ctr">
                      <a:solidFill>
                        <a:srgbClr val="C8C0B4"/>
                      </a:solidFill>
                      <a:prstDash val="solid"/>
                      <a:round/>
                      <a:headEnd type="none" w="med" len="med"/>
                      <a:tailEnd type="none" w="med" len="med"/>
                    </a:lnB>
                    <a:solidFill>
                      <a:srgbClr val="F5F0E8"/>
                    </a:solidFill>
                  </a:tcPr>
                </a:tc>
                <a:tc>
                  <a:txBody>
                    <a:bodyPr/>
                    <a:lstStyle/>
                    <a:p>
                      <a:pPr marL="0" indent="0">
                        <a:buNone/>
                      </a:pPr>
                      <a:r>
                        <a:rPr lang="en-US" sz="1000" dirty="0">
                          <a:solidFill>
                            <a:srgbClr val="0F1F33"/>
                          </a:solidFill>
                          <a:latin typeface="DM Mono" pitchFamily="34" charset="0"/>
                          <a:ea typeface="DM Mono" pitchFamily="34" charset="-122"/>
                          <a:cs typeface="DM Mono" pitchFamily="34" charset="-120"/>
                        </a:rPr>
                        <a:t>2026-05-30</a:t>
                      </a:r>
                      <a:endParaRPr lang="en-US" sz="1000" dirty="0">
                        <a:latin typeface="DM Mono" charset="0"/>
                        <a:ea typeface="DM Mono" charset="0"/>
                        <a:cs typeface="DM Mono" charset="0"/>
                      </a:endParaRPr>
                    </a:p>
                  </a:txBody>
                  <a:tcPr>
                    <a:lnL w="6350" cap="flat" cmpd="sng" algn="ctr">
                      <a:solidFill>
                        <a:srgbClr val="C8C0B4"/>
                      </a:solidFill>
                      <a:prstDash val="solid"/>
                      <a:round/>
                      <a:headEnd type="none" w="med" len="med"/>
                      <a:tailEnd type="none" w="med" len="med"/>
                    </a:lnL>
                    <a:lnR w="6350" cap="flat" cmpd="sng" algn="ctr">
                      <a:solidFill>
                        <a:srgbClr val="C8C0B4"/>
                      </a:solidFill>
                      <a:prstDash val="solid"/>
                      <a:round/>
                      <a:headEnd type="none" w="med" len="med"/>
                      <a:tailEnd type="none" w="med" len="med"/>
                    </a:lnR>
                    <a:lnT w="6350" cap="flat" cmpd="sng" algn="ctr">
                      <a:solidFill>
                        <a:srgbClr val="C8C0B4"/>
                      </a:solidFill>
                      <a:prstDash val="solid"/>
                      <a:round/>
                      <a:headEnd type="none" w="med" len="med"/>
                      <a:tailEnd type="none" w="med" len="med"/>
                    </a:lnT>
                    <a:lnB w="6350" cap="flat" cmpd="sng" algn="ctr">
                      <a:solidFill>
                        <a:srgbClr val="C8C0B4"/>
                      </a:solidFill>
                      <a:prstDash val="solid"/>
                      <a:round/>
                      <a:headEnd type="none" w="med" len="med"/>
                      <a:tailEnd type="none" w="med" len="med"/>
                    </a:lnB>
                    <a:solidFill>
                      <a:srgbClr val="F5F0E8"/>
                    </a:solidFill>
                  </a:tcPr>
                </a:tc>
                <a:extLst>
                  <a:ext uri="{0D108BD9-81ED-4DB2-BD59-A6C34878D82A}">
                    <a16:rowId xmlns:a16="http://schemas.microsoft.com/office/drawing/2014/main" val="10005"/>
                  </a:ext>
                </a:extLst>
              </a:tr>
              <a:tr h="329184">
                <a:tc>
                  <a:txBody>
                    <a:bodyPr/>
                    <a:lstStyle/>
                    <a:p>
                      <a:pPr marL="0" indent="0">
                        <a:buNone/>
                      </a:pPr>
                      <a:r>
                        <a:rPr lang="en-US" sz="1000" dirty="0">
                          <a:solidFill>
                            <a:srgbClr val="0F1F33"/>
                          </a:solidFill>
                          <a:latin typeface="DM Mono" pitchFamily="34" charset="0"/>
                          <a:ea typeface="DM Mono" pitchFamily="34" charset="-122"/>
                          <a:cs typeface="DM Mono" pitchFamily="34" charset="-120"/>
                        </a:rPr>
                        <a:t>Validate IR Calib. Pipeline</a:t>
                      </a:r>
                      <a:endParaRPr lang="en-US" sz="1000" dirty="0">
                        <a:latin typeface="DM Mono" charset="0"/>
                        <a:ea typeface="DM Mono" charset="0"/>
                        <a:cs typeface="DM Mono" charset="0"/>
                      </a:endParaRPr>
                    </a:p>
                  </a:txBody>
                  <a:tcPr>
                    <a:lnL w="6350" cap="flat" cmpd="sng" algn="ctr">
                      <a:solidFill>
                        <a:srgbClr val="C8C0B4"/>
                      </a:solidFill>
                      <a:prstDash val="solid"/>
                      <a:round/>
                      <a:headEnd type="none" w="med" len="med"/>
                      <a:tailEnd type="none" w="med" len="med"/>
                    </a:lnL>
                    <a:lnR w="6350" cap="flat" cmpd="sng" algn="ctr">
                      <a:solidFill>
                        <a:srgbClr val="C8C0B4"/>
                      </a:solidFill>
                      <a:prstDash val="solid"/>
                      <a:round/>
                      <a:headEnd type="none" w="med" len="med"/>
                      <a:tailEnd type="none" w="med" len="med"/>
                    </a:lnR>
                    <a:lnT w="6350" cap="flat" cmpd="sng" algn="ctr">
                      <a:solidFill>
                        <a:srgbClr val="C8C0B4"/>
                      </a:solidFill>
                      <a:prstDash val="solid"/>
                      <a:round/>
                      <a:headEnd type="none" w="med" len="med"/>
                      <a:tailEnd type="none" w="med" len="med"/>
                    </a:lnT>
                    <a:lnB w="6350" cap="flat" cmpd="sng" algn="ctr">
                      <a:solidFill>
                        <a:srgbClr val="C8C0B4"/>
                      </a:solidFill>
                      <a:prstDash val="solid"/>
                      <a:round/>
                      <a:headEnd type="none" w="med" len="med"/>
                      <a:tailEnd type="none" w="med" len="med"/>
                    </a:lnB>
                    <a:solidFill>
                      <a:srgbClr val="ECE7DF"/>
                    </a:solidFill>
                  </a:tcPr>
                </a:tc>
                <a:tc>
                  <a:txBody>
                    <a:bodyPr/>
                    <a:lstStyle/>
                    <a:p>
                      <a:pPr marL="0" indent="0">
                        <a:buNone/>
                      </a:pPr>
                      <a:r>
                        <a:rPr lang="en-US" sz="1000" dirty="0">
                          <a:solidFill>
                            <a:srgbClr val="0F1F33"/>
                          </a:solidFill>
                          <a:latin typeface="DM Mono" pitchFamily="34" charset="0"/>
                          <a:ea typeface="DM Mono" pitchFamily="34" charset="-122"/>
                          <a:cs typeface="DM Mono" pitchFamily="34" charset="-120"/>
                        </a:rPr>
                        <a:t>IN PROGRESS</a:t>
                      </a:r>
                      <a:endParaRPr lang="en-US" sz="1000" dirty="0">
                        <a:latin typeface="DM Mono" charset="0"/>
                        <a:ea typeface="DM Mono" charset="0"/>
                        <a:cs typeface="DM Mono" charset="0"/>
                      </a:endParaRPr>
                    </a:p>
                  </a:txBody>
                  <a:tcPr>
                    <a:lnL w="6350" cap="flat" cmpd="sng" algn="ctr">
                      <a:solidFill>
                        <a:srgbClr val="C8C0B4"/>
                      </a:solidFill>
                      <a:prstDash val="solid"/>
                      <a:round/>
                      <a:headEnd type="none" w="med" len="med"/>
                      <a:tailEnd type="none" w="med" len="med"/>
                    </a:lnL>
                    <a:lnR w="6350" cap="flat" cmpd="sng" algn="ctr">
                      <a:solidFill>
                        <a:srgbClr val="C8C0B4"/>
                      </a:solidFill>
                      <a:prstDash val="solid"/>
                      <a:round/>
                      <a:headEnd type="none" w="med" len="med"/>
                      <a:tailEnd type="none" w="med" len="med"/>
                    </a:lnR>
                    <a:lnT w="6350" cap="flat" cmpd="sng" algn="ctr">
                      <a:solidFill>
                        <a:srgbClr val="C8C0B4"/>
                      </a:solidFill>
                      <a:prstDash val="solid"/>
                      <a:round/>
                      <a:headEnd type="none" w="med" len="med"/>
                      <a:tailEnd type="none" w="med" len="med"/>
                    </a:lnT>
                    <a:lnB w="6350" cap="flat" cmpd="sng" algn="ctr">
                      <a:solidFill>
                        <a:srgbClr val="C8C0B4"/>
                      </a:solidFill>
                      <a:prstDash val="solid"/>
                      <a:round/>
                      <a:headEnd type="none" w="med" len="med"/>
                      <a:tailEnd type="none" w="med" len="med"/>
                    </a:lnB>
                    <a:solidFill>
                      <a:srgbClr val="ECE7DF"/>
                    </a:solidFill>
                  </a:tcPr>
                </a:tc>
                <a:tc>
                  <a:txBody>
                    <a:bodyPr/>
                    <a:lstStyle/>
                    <a:p>
                      <a:pPr marL="0" indent="0">
                        <a:buNone/>
                      </a:pPr>
                      <a:r>
                        <a:rPr lang="en-US" sz="1000" dirty="0">
                          <a:solidFill>
                            <a:srgbClr val="0F1F33"/>
                          </a:solidFill>
                          <a:latin typeface="DM Mono" pitchFamily="34" charset="0"/>
                          <a:ea typeface="DM Mono" pitchFamily="34" charset="-122"/>
                          <a:cs typeface="DM Mono" pitchFamily="34" charset="-120"/>
                        </a:rPr>
                        <a:t>40%</a:t>
                      </a:r>
                      <a:endParaRPr lang="en-US" sz="1000" dirty="0">
                        <a:latin typeface="DM Mono" charset="0"/>
                        <a:ea typeface="DM Mono" charset="0"/>
                        <a:cs typeface="DM Mono" charset="0"/>
                      </a:endParaRPr>
                    </a:p>
                  </a:txBody>
                  <a:tcPr>
                    <a:lnL w="6350" cap="flat" cmpd="sng" algn="ctr">
                      <a:solidFill>
                        <a:srgbClr val="C8C0B4"/>
                      </a:solidFill>
                      <a:prstDash val="solid"/>
                      <a:round/>
                      <a:headEnd type="none" w="med" len="med"/>
                      <a:tailEnd type="none" w="med" len="med"/>
                    </a:lnL>
                    <a:lnR w="6350" cap="flat" cmpd="sng" algn="ctr">
                      <a:solidFill>
                        <a:srgbClr val="C8C0B4"/>
                      </a:solidFill>
                      <a:prstDash val="solid"/>
                      <a:round/>
                      <a:headEnd type="none" w="med" len="med"/>
                      <a:tailEnd type="none" w="med" len="med"/>
                    </a:lnR>
                    <a:lnT w="6350" cap="flat" cmpd="sng" algn="ctr">
                      <a:solidFill>
                        <a:srgbClr val="C8C0B4"/>
                      </a:solidFill>
                      <a:prstDash val="solid"/>
                      <a:round/>
                      <a:headEnd type="none" w="med" len="med"/>
                      <a:tailEnd type="none" w="med" len="med"/>
                    </a:lnT>
                    <a:lnB w="6350" cap="flat" cmpd="sng" algn="ctr">
                      <a:solidFill>
                        <a:srgbClr val="C8C0B4"/>
                      </a:solidFill>
                      <a:prstDash val="solid"/>
                      <a:round/>
                      <a:headEnd type="none" w="med" len="med"/>
                      <a:tailEnd type="none" w="med" len="med"/>
                    </a:lnB>
                    <a:solidFill>
                      <a:srgbClr val="ECE7DF"/>
                    </a:solidFill>
                  </a:tcPr>
                </a:tc>
                <a:tc>
                  <a:txBody>
                    <a:bodyPr/>
                    <a:lstStyle/>
                    <a:p>
                      <a:pPr marL="0" indent="0">
                        <a:buNone/>
                      </a:pPr>
                      <a:r>
                        <a:rPr lang="en-US" sz="1000" dirty="0">
                          <a:solidFill>
                            <a:srgbClr val="0F1F33"/>
                          </a:solidFill>
                          <a:latin typeface="DM Mono" pitchFamily="34" charset="0"/>
                          <a:ea typeface="DM Mono" pitchFamily="34" charset="-122"/>
                          <a:cs typeface="DM Mono" pitchFamily="34" charset="-120"/>
                        </a:rPr>
                        <a:t>2026-05-30</a:t>
                      </a:r>
                      <a:endParaRPr lang="en-US" sz="1000" dirty="0">
                        <a:latin typeface="DM Mono" charset="0"/>
                        <a:ea typeface="DM Mono" charset="0"/>
                        <a:cs typeface="DM Mono" charset="0"/>
                      </a:endParaRPr>
                    </a:p>
                  </a:txBody>
                  <a:tcPr>
                    <a:lnL w="6350" cap="flat" cmpd="sng" algn="ctr">
                      <a:solidFill>
                        <a:srgbClr val="C8C0B4"/>
                      </a:solidFill>
                      <a:prstDash val="solid"/>
                      <a:round/>
                      <a:headEnd type="none" w="med" len="med"/>
                      <a:tailEnd type="none" w="med" len="med"/>
                    </a:lnL>
                    <a:lnR w="6350" cap="flat" cmpd="sng" algn="ctr">
                      <a:solidFill>
                        <a:srgbClr val="C8C0B4"/>
                      </a:solidFill>
                      <a:prstDash val="solid"/>
                      <a:round/>
                      <a:headEnd type="none" w="med" len="med"/>
                      <a:tailEnd type="none" w="med" len="med"/>
                    </a:lnR>
                    <a:lnT w="6350" cap="flat" cmpd="sng" algn="ctr">
                      <a:solidFill>
                        <a:srgbClr val="C8C0B4"/>
                      </a:solidFill>
                      <a:prstDash val="solid"/>
                      <a:round/>
                      <a:headEnd type="none" w="med" len="med"/>
                      <a:tailEnd type="none" w="med" len="med"/>
                    </a:lnT>
                    <a:lnB w="6350" cap="flat" cmpd="sng" algn="ctr">
                      <a:solidFill>
                        <a:srgbClr val="C8C0B4"/>
                      </a:solidFill>
                      <a:prstDash val="solid"/>
                      <a:round/>
                      <a:headEnd type="none" w="med" len="med"/>
                      <a:tailEnd type="none" w="med" len="med"/>
                    </a:lnB>
                    <a:solidFill>
                      <a:srgbClr val="ECE7DF"/>
                    </a:solidFill>
                  </a:tcPr>
                </a:tc>
                <a:extLst>
                  <a:ext uri="{0D108BD9-81ED-4DB2-BD59-A6C34878D82A}">
                    <a16:rowId xmlns:a16="http://schemas.microsoft.com/office/drawing/2014/main" val="10006"/>
                  </a:ext>
                </a:extLst>
              </a:tr>
              <a:tr h="329184">
                <a:tc>
                  <a:txBody>
                    <a:bodyPr/>
                    <a:lstStyle/>
                    <a:p>
                      <a:pPr marL="0" indent="0">
                        <a:buNone/>
                      </a:pPr>
                      <a:r>
                        <a:rPr lang="en-US" sz="1000" dirty="0">
                          <a:solidFill>
                            <a:srgbClr val="0F1F33"/>
                          </a:solidFill>
                          <a:latin typeface="DM Mono" pitchFamily="34" charset="0"/>
                          <a:ea typeface="DM Mono" pitchFamily="34" charset="-122"/>
                          <a:cs typeface="DM Mono" pitchFamily="34" charset="-120"/>
                        </a:rPr>
                        <a:t>Onboard GitLab Contributors</a:t>
                      </a:r>
                      <a:endParaRPr lang="en-US" sz="1000" dirty="0">
                        <a:latin typeface="DM Mono" charset="0"/>
                        <a:ea typeface="DM Mono" charset="0"/>
                        <a:cs typeface="DM Mono" charset="0"/>
                      </a:endParaRPr>
                    </a:p>
                  </a:txBody>
                  <a:tcPr>
                    <a:lnL w="6350" cap="flat" cmpd="sng" algn="ctr">
                      <a:solidFill>
                        <a:srgbClr val="C8C0B4"/>
                      </a:solidFill>
                      <a:prstDash val="solid"/>
                      <a:round/>
                      <a:headEnd type="none" w="med" len="med"/>
                      <a:tailEnd type="none" w="med" len="med"/>
                    </a:lnL>
                    <a:lnR w="6350" cap="flat" cmpd="sng" algn="ctr">
                      <a:solidFill>
                        <a:srgbClr val="C8C0B4"/>
                      </a:solidFill>
                      <a:prstDash val="solid"/>
                      <a:round/>
                      <a:headEnd type="none" w="med" len="med"/>
                      <a:tailEnd type="none" w="med" len="med"/>
                    </a:lnR>
                    <a:lnT w="6350" cap="flat" cmpd="sng" algn="ctr">
                      <a:solidFill>
                        <a:srgbClr val="C8C0B4"/>
                      </a:solidFill>
                      <a:prstDash val="solid"/>
                      <a:round/>
                      <a:headEnd type="none" w="med" len="med"/>
                      <a:tailEnd type="none" w="med" len="med"/>
                    </a:lnT>
                    <a:lnB w="6350" cap="flat" cmpd="sng" algn="ctr">
                      <a:solidFill>
                        <a:srgbClr val="C8C0B4"/>
                      </a:solidFill>
                      <a:prstDash val="solid"/>
                      <a:round/>
                      <a:headEnd type="none" w="med" len="med"/>
                      <a:tailEnd type="none" w="med" len="med"/>
                    </a:lnB>
                    <a:solidFill>
                      <a:srgbClr val="F5F0E8"/>
                    </a:solidFill>
                  </a:tcPr>
                </a:tc>
                <a:tc>
                  <a:txBody>
                    <a:bodyPr/>
                    <a:lstStyle/>
                    <a:p>
                      <a:pPr marL="0" indent="0">
                        <a:buNone/>
                      </a:pPr>
                      <a:r>
                        <a:rPr lang="en-US" sz="1000" dirty="0">
                          <a:solidFill>
                            <a:srgbClr val="0F1F33"/>
                          </a:solidFill>
                          <a:latin typeface="DM Mono" pitchFamily="34" charset="0"/>
                          <a:ea typeface="DM Mono" pitchFamily="34" charset="-122"/>
                          <a:cs typeface="DM Mono" pitchFamily="34" charset="-120"/>
                        </a:rPr>
                        <a:t>IN PROGRESS</a:t>
                      </a:r>
                      <a:endParaRPr lang="en-US" sz="1000" dirty="0">
                        <a:latin typeface="DM Mono" charset="0"/>
                        <a:ea typeface="DM Mono" charset="0"/>
                        <a:cs typeface="DM Mono" charset="0"/>
                      </a:endParaRPr>
                    </a:p>
                  </a:txBody>
                  <a:tcPr>
                    <a:lnL w="6350" cap="flat" cmpd="sng" algn="ctr">
                      <a:solidFill>
                        <a:srgbClr val="C8C0B4"/>
                      </a:solidFill>
                      <a:prstDash val="solid"/>
                      <a:round/>
                      <a:headEnd type="none" w="med" len="med"/>
                      <a:tailEnd type="none" w="med" len="med"/>
                    </a:lnL>
                    <a:lnR w="6350" cap="flat" cmpd="sng" algn="ctr">
                      <a:solidFill>
                        <a:srgbClr val="C8C0B4"/>
                      </a:solidFill>
                      <a:prstDash val="solid"/>
                      <a:round/>
                      <a:headEnd type="none" w="med" len="med"/>
                      <a:tailEnd type="none" w="med" len="med"/>
                    </a:lnR>
                    <a:lnT w="6350" cap="flat" cmpd="sng" algn="ctr">
                      <a:solidFill>
                        <a:srgbClr val="C8C0B4"/>
                      </a:solidFill>
                      <a:prstDash val="solid"/>
                      <a:round/>
                      <a:headEnd type="none" w="med" len="med"/>
                      <a:tailEnd type="none" w="med" len="med"/>
                    </a:lnT>
                    <a:lnB w="6350" cap="flat" cmpd="sng" algn="ctr">
                      <a:solidFill>
                        <a:srgbClr val="C8C0B4"/>
                      </a:solidFill>
                      <a:prstDash val="solid"/>
                      <a:round/>
                      <a:headEnd type="none" w="med" len="med"/>
                      <a:tailEnd type="none" w="med" len="med"/>
                    </a:lnB>
                    <a:solidFill>
                      <a:srgbClr val="F5F0E8"/>
                    </a:solidFill>
                  </a:tcPr>
                </a:tc>
                <a:tc>
                  <a:txBody>
                    <a:bodyPr/>
                    <a:lstStyle/>
                    <a:p>
                      <a:pPr marL="0" indent="0">
                        <a:buNone/>
                      </a:pPr>
                      <a:r>
                        <a:rPr lang="en-US" sz="1000" dirty="0">
                          <a:solidFill>
                            <a:srgbClr val="0F1F33"/>
                          </a:solidFill>
                          <a:latin typeface="DM Mono" pitchFamily="34" charset="0"/>
                          <a:ea typeface="DM Mono" pitchFamily="34" charset="-122"/>
                          <a:cs typeface="DM Mono" pitchFamily="34" charset="-120"/>
                        </a:rPr>
                        <a:t>40%</a:t>
                      </a:r>
                      <a:endParaRPr lang="en-US" sz="1000" dirty="0">
                        <a:latin typeface="DM Mono" charset="0"/>
                        <a:ea typeface="DM Mono" charset="0"/>
                        <a:cs typeface="DM Mono" charset="0"/>
                      </a:endParaRPr>
                    </a:p>
                  </a:txBody>
                  <a:tcPr>
                    <a:lnL w="6350" cap="flat" cmpd="sng" algn="ctr">
                      <a:solidFill>
                        <a:srgbClr val="C8C0B4"/>
                      </a:solidFill>
                      <a:prstDash val="solid"/>
                      <a:round/>
                      <a:headEnd type="none" w="med" len="med"/>
                      <a:tailEnd type="none" w="med" len="med"/>
                    </a:lnL>
                    <a:lnR w="6350" cap="flat" cmpd="sng" algn="ctr">
                      <a:solidFill>
                        <a:srgbClr val="C8C0B4"/>
                      </a:solidFill>
                      <a:prstDash val="solid"/>
                      <a:round/>
                      <a:headEnd type="none" w="med" len="med"/>
                      <a:tailEnd type="none" w="med" len="med"/>
                    </a:lnR>
                    <a:lnT w="6350" cap="flat" cmpd="sng" algn="ctr">
                      <a:solidFill>
                        <a:srgbClr val="C8C0B4"/>
                      </a:solidFill>
                      <a:prstDash val="solid"/>
                      <a:round/>
                      <a:headEnd type="none" w="med" len="med"/>
                      <a:tailEnd type="none" w="med" len="med"/>
                    </a:lnT>
                    <a:lnB w="6350" cap="flat" cmpd="sng" algn="ctr">
                      <a:solidFill>
                        <a:srgbClr val="C8C0B4"/>
                      </a:solidFill>
                      <a:prstDash val="solid"/>
                      <a:round/>
                      <a:headEnd type="none" w="med" len="med"/>
                      <a:tailEnd type="none" w="med" len="med"/>
                    </a:lnB>
                    <a:solidFill>
                      <a:srgbClr val="F5F0E8"/>
                    </a:solidFill>
                  </a:tcPr>
                </a:tc>
                <a:tc>
                  <a:txBody>
                    <a:bodyPr/>
                    <a:lstStyle/>
                    <a:p>
                      <a:pPr marL="0" indent="0">
                        <a:buNone/>
                      </a:pPr>
                      <a:r>
                        <a:rPr lang="en-US" sz="1000" dirty="0">
                          <a:solidFill>
                            <a:srgbClr val="0F1F33"/>
                          </a:solidFill>
                          <a:latin typeface="DM Mono" pitchFamily="34" charset="0"/>
                          <a:ea typeface="DM Mono" pitchFamily="34" charset="-122"/>
                          <a:cs typeface="DM Mono" pitchFamily="34" charset="-120"/>
                        </a:rPr>
                        <a:t>2026-04-30</a:t>
                      </a:r>
                      <a:endParaRPr lang="en-US" sz="1000" dirty="0">
                        <a:latin typeface="DM Mono" charset="0"/>
                        <a:ea typeface="DM Mono" charset="0"/>
                        <a:cs typeface="DM Mono" charset="0"/>
                      </a:endParaRPr>
                    </a:p>
                  </a:txBody>
                  <a:tcPr>
                    <a:lnL w="6350" cap="flat" cmpd="sng" algn="ctr">
                      <a:solidFill>
                        <a:srgbClr val="C8C0B4"/>
                      </a:solidFill>
                      <a:prstDash val="solid"/>
                      <a:round/>
                      <a:headEnd type="none" w="med" len="med"/>
                      <a:tailEnd type="none" w="med" len="med"/>
                    </a:lnL>
                    <a:lnR w="6350" cap="flat" cmpd="sng" algn="ctr">
                      <a:solidFill>
                        <a:srgbClr val="C8C0B4"/>
                      </a:solidFill>
                      <a:prstDash val="solid"/>
                      <a:round/>
                      <a:headEnd type="none" w="med" len="med"/>
                      <a:tailEnd type="none" w="med" len="med"/>
                    </a:lnR>
                    <a:lnT w="6350" cap="flat" cmpd="sng" algn="ctr">
                      <a:solidFill>
                        <a:srgbClr val="C8C0B4"/>
                      </a:solidFill>
                      <a:prstDash val="solid"/>
                      <a:round/>
                      <a:headEnd type="none" w="med" len="med"/>
                      <a:tailEnd type="none" w="med" len="med"/>
                    </a:lnT>
                    <a:lnB w="6350" cap="flat" cmpd="sng" algn="ctr">
                      <a:solidFill>
                        <a:srgbClr val="C8C0B4"/>
                      </a:solidFill>
                      <a:prstDash val="solid"/>
                      <a:round/>
                      <a:headEnd type="none" w="med" len="med"/>
                      <a:tailEnd type="none" w="med" len="med"/>
                    </a:lnB>
                    <a:solidFill>
                      <a:srgbClr val="F5F0E8"/>
                    </a:solidFill>
                  </a:tcPr>
                </a:tc>
                <a:extLst>
                  <a:ext uri="{0D108BD9-81ED-4DB2-BD59-A6C34878D82A}">
                    <a16:rowId xmlns:a16="http://schemas.microsoft.com/office/drawing/2014/main" val="10007"/>
                  </a:ext>
                </a:extLst>
              </a:tr>
              <a:tr h="329184">
                <a:tc>
                  <a:txBody>
                    <a:bodyPr/>
                    <a:lstStyle/>
                    <a:p>
                      <a:pPr marL="0" indent="0">
                        <a:buNone/>
                      </a:pPr>
                      <a:r>
                        <a:rPr lang="en-US" sz="1000" dirty="0">
                          <a:solidFill>
                            <a:srgbClr val="0F1F33"/>
                          </a:solidFill>
                          <a:latin typeface="DM Mono" pitchFamily="34" charset="0"/>
                          <a:ea typeface="DM Mono" pitchFamily="34" charset="-122"/>
                          <a:cs typeface="DM Mono" pitchFamily="34" charset="-120"/>
                        </a:rPr>
                        <a:t>Add DT GitLab Contributors</a:t>
                      </a:r>
                      <a:endParaRPr lang="en-US" sz="1000" dirty="0">
                        <a:latin typeface="DM Mono" charset="0"/>
                        <a:ea typeface="DM Mono" charset="0"/>
                        <a:cs typeface="DM Mono" charset="0"/>
                      </a:endParaRPr>
                    </a:p>
                  </a:txBody>
                  <a:tcPr>
                    <a:lnL w="6350" cap="flat" cmpd="sng" algn="ctr">
                      <a:solidFill>
                        <a:srgbClr val="C8C0B4"/>
                      </a:solidFill>
                      <a:prstDash val="solid"/>
                      <a:round/>
                      <a:headEnd type="none" w="med" len="med"/>
                      <a:tailEnd type="none" w="med" len="med"/>
                    </a:lnL>
                    <a:lnR w="6350" cap="flat" cmpd="sng" algn="ctr">
                      <a:solidFill>
                        <a:srgbClr val="C8C0B4"/>
                      </a:solidFill>
                      <a:prstDash val="solid"/>
                      <a:round/>
                      <a:headEnd type="none" w="med" len="med"/>
                      <a:tailEnd type="none" w="med" len="med"/>
                    </a:lnR>
                    <a:lnT w="6350" cap="flat" cmpd="sng" algn="ctr">
                      <a:solidFill>
                        <a:srgbClr val="C8C0B4"/>
                      </a:solidFill>
                      <a:prstDash val="solid"/>
                      <a:round/>
                      <a:headEnd type="none" w="med" len="med"/>
                      <a:tailEnd type="none" w="med" len="med"/>
                    </a:lnT>
                    <a:lnB w="6350" cap="flat" cmpd="sng" algn="ctr">
                      <a:solidFill>
                        <a:srgbClr val="C8C0B4"/>
                      </a:solidFill>
                      <a:prstDash val="solid"/>
                      <a:round/>
                      <a:headEnd type="none" w="med" len="med"/>
                      <a:tailEnd type="none" w="med" len="med"/>
                    </a:lnB>
                    <a:solidFill>
                      <a:srgbClr val="ECE7DF"/>
                    </a:solidFill>
                  </a:tcPr>
                </a:tc>
                <a:tc>
                  <a:txBody>
                    <a:bodyPr/>
                    <a:lstStyle/>
                    <a:p>
                      <a:pPr marL="0" indent="0">
                        <a:buNone/>
                      </a:pPr>
                      <a:r>
                        <a:rPr lang="en-US" sz="1000" dirty="0">
                          <a:solidFill>
                            <a:srgbClr val="0F1F33"/>
                          </a:solidFill>
                          <a:latin typeface="DM Mono" pitchFamily="34" charset="0"/>
                          <a:ea typeface="DM Mono" pitchFamily="34" charset="-122"/>
                          <a:cs typeface="DM Mono" pitchFamily="34" charset="-120"/>
                        </a:rPr>
                        <a:t>NOT STARTED</a:t>
                      </a:r>
                      <a:endParaRPr lang="en-US" sz="1000" dirty="0">
                        <a:latin typeface="DM Mono" charset="0"/>
                        <a:ea typeface="DM Mono" charset="0"/>
                        <a:cs typeface="DM Mono" charset="0"/>
                      </a:endParaRPr>
                    </a:p>
                  </a:txBody>
                  <a:tcPr>
                    <a:lnL w="6350" cap="flat" cmpd="sng" algn="ctr">
                      <a:solidFill>
                        <a:srgbClr val="C8C0B4"/>
                      </a:solidFill>
                      <a:prstDash val="solid"/>
                      <a:round/>
                      <a:headEnd type="none" w="med" len="med"/>
                      <a:tailEnd type="none" w="med" len="med"/>
                    </a:lnL>
                    <a:lnR w="6350" cap="flat" cmpd="sng" algn="ctr">
                      <a:solidFill>
                        <a:srgbClr val="C8C0B4"/>
                      </a:solidFill>
                      <a:prstDash val="solid"/>
                      <a:round/>
                      <a:headEnd type="none" w="med" len="med"/>
                      <a:tailEnd type="none" w="med" len="med"/>
                    </a:lnR>
                    <a:lnT w="6350" cap="flat" cmpd="sng" algn="ctr">
                      <a:solidFill>
                        <a:srgbClr val="C8C0B4"/>
                      </a:solidFill>
                      <a:prstDash val="solid"/>
                      <a:round/>
                      <a:headEnd type="none" w="med" len="med"/>
                      <a:tailEnd type="none" w="med" len="med"/>
                    </a:lnT>
                    <a:lnB w="6350" cap="flat" cmpd="sng" algn="ctr">
                      <a:solidFill>
                        <a:srgbClr val="C8C0B4"/>
                      </a:solidFill>
                      <a:prstDash val="solid"/>
                      <a:round/>
                      <a:headEnd type="none" w="med" len="med"/>
                      <a:tailEnd type="none" w="med" len="med"/>
                    </a:lnB>
                    <a:solidFill>
                      <a:srgbClr val="ECE7DF"/>
                    </a:solidFill>
                  </a:tcPr>
                </a:tc>
                <a:tc>
                  <a:txBody>
                    <a:bodyPr/>
                    <a:lstStyle/>
                    <a:p>
                      <a:pPr marL="0" indent="0">
                        <a:buNone/>
                      </a:pPr>
                      <a:r>
                        <a:rPr lang="en-US" sz="1000" dirty="0">
                          <a:solidFill>
                            <a:srgbClr val="0F1F33"/>
                          </a:solidFill>
                          <a:latin typeface="DM Mono" pitchFamily="34" charset="0"/>
                          <a:ea typeface="DM Mono" pitchFamily="34" charset="-122"/>
                          <a:cs typeface="DM Mono" pitchFamily="34" charset="-120"/>
                        </a:rPr>
                        <a:t>0%</a:t>
                      </a:r>
                      <a:endParaRPr lang="en-US" sz="1000" dirty="0">
                        <a:latin typeface="DM Mono" charset="0"/>
                        <a:ea typeface="DM Mono" charset="0"/>
                        <a:cs typeface="DM Mono" charset="0"/>
                      </a:endParaRPr>
                    </a:p>
                  </a:txBody>
                  <a:tcPr>
                    <a:lnL w="6350" cap="flat" cmpd="sng" algn="ctr">
                      <a:solidFill>
                        <a:srgbClr val="C8C0B4"/>
                      </a:solidFill>
                      <a:prstDash val="solid"/>
                      <a:round/>
                      <a:headEnd type="none" w="med" len="med"/>
                      <a:tailEnd type="none" w="med" len="med"/>
                    </a:lnL>
                    <a:lnR w="6350" cap="flat" cmpd="sng" algn="ctr">
                      <a:solidFill>
                        <a:srgbClr val="C8C0B4"/>
                      </a:solidFill>
                      <a:prstDash val="solid"/>
                      <a:round/>
                      <a:headEnd type="none" w="med" len="med"/>
                      <a:tailEnd type="none" w="med" len="med"/>
                    </a:lnR>
                    <a:lnT w="6350" cap="flat" cmpd="sng" algn="ctr">
                      <a:solidFill>
                        <a:srgbClr val="C8C0B4"/>
                      </a:solidFill>
                      <a:prstDash val="solid"/>
                      <a:round/>
                      <a:headEnd type="none" w="med" len="med"/>
                      <a:tailEnd type="none" w="med" len="med"/>
                    </a:lnT>
                    <a:lnB w="6350" cap="flat" cmpd="sng" algn="ctr">
                      <a:solidFill>
                        <a:srgbClr val="C8C0B4"/>
                      </a:solidFill>
                      <a:prstDash val="solid"/>
                      <a:round/>
                      <a:headEnd type="none" w="med" len="med"/>
                      <a:tailEnd type="none" w="med" len="med"/>
                    </a:lnB>
                    <a:solidFill>
                      <a:srgbClr val="ECE7DF"/>
                    </a:solidFill>
                  </a:tcPr>
                </a:tc>
                <a:tc>
                  <a:txBody>
                    <a:bodyPr/>
                    <a:lstStyle/>
                    <a:p>
                      <a:pPr marL="0" indent="0">
                        <a:buNone/>
                      </a:pPr>
                      <a:r>
                        <a:rPr lang="en-US" sz="1000" dirty="0">
                          <a:solidFill>
                            <a:srgbClr val="0F1F33"/>
                          </a:solidFill>
                          <a:latin typeface="DM Mono" pitchFamily="34" charset="0"/>
                          <a:ea typeface="DM Mono" pitchFamily="34" charset="-122"/>
                          <a:cs typeface="DM Mono" pitchFamily="34" charset="-120"/>
                        </a:rPr>
                        <a:t>2026-04-30</a:t>
                      </a:r>
                      <a:endParaRPr lang="en-US" sz="1000" dirty="0">
                        <a:latin typeface="DM Mono" charset="0"/>
                        <a:ea typeface="DM Mono" charset="0"/>
                        <a:cs typeface="DM Mono" charset="0"/>
                      </a:endParaRPr>
                    </a:p>
                  </a:txBody>
                  <a:tcPr>
                    <a:lnL w="6350" cap="flat" cmpd="sng" algn="ctr">
                      <a:solidFill>
                        <a:srgbClr val="C8C0B4"/>
                      </a:solidFill>
                      <a:prstDash val="solid"/>
                      <a:round/>
                      <a:headEnd type="none" w="med" len="med"/>
                      <a:tailEnd type="none" w="med" len="med"/>
                    </a:lnL>
                    <a:lnR w="6350" cap="flat" cmpd="sng" algn="ctr">
                      <a:solidFill>
                        <a:srgbClr val="C8C0B4"/>
                      </a:solidFill>
                      <a:prstDash val="solid"/>
                      <a:round/>
                      <a:headEnd type="none" w="med" len="med"/>
                      <a:tailEnd type="none" w="med" len="med"/>
                    </a:lnR>
                    <a:lnT w="6350" cap="flat" cmpd="sng" algn="ctr">
                      <a:solidFill>
                        <a:srgbClr val="C8C0B4"/>
                      </a:solidFill>
                      <a:prstDash val="solid"/>
                      <a:round/>
                      <a:headEnd type="none" w="med" len="med"/>
                      <a:tailEnd type="none" w="med" len="med"/>
                    </a:lnT>
                    <a:lnB w="6350" cap="flat" cmpd="sng" algn="ctr">
                      <a:solidFill>
                        <a:srgbClr val="C8C0B4"/>
                      </a:solidFill>
                      <a:prstDash val="solid"/>
                      <a:round/>
                      <a:headEnd type="none" w="med" len="med"/>
                      <a:tailEnd type="none" w="med" len="med"/>
                    </a:lnB>
                    <a:solidFill>
                      <a:srgbClr val="ECE7DF"/>
                    </a:solidFill>
                  </a:tcPr>
                </a:tc>
                <a:extLst>
                  <a:ext uri="{0D108BD9-81ED-4DB2-BD59-A6C34878D82A}">
                    <a16:rowId xmlns:a16="http://schemas.microsoft.com/office/drawing/2014/main" val="10008"/>
                  </a:ext>
                </a:extLst>
              </a:tr>
              <a:tr h="329184">
                <a:tc>
                  <a:txBody>
                    <a:bodyPr/>
                    <a:lstStyle/>
                    <a:p>
                      <a:pPr marL="0" indent="0">
                        <a:buNone/>
                      </a:pPr>
                      <a:r>
                        <a:rPr lang="en-US" sz="1000" dirty="0">
                          <a:solidFill>
                            <a:srgbClr val="0F1F33"/>
                          </a:solidFill>
                          <a:latin typeface="DM Mono" pitchFamily="34" charset="0"/>
                          <a:ea typeface="DM Mono" pitchFamily="34" charset="-122"/>
                          <a:cs typeface="DM Mono" pitchFamily="34" charset="-120"/>
                        </a:rPr>
                        <a:t>Install IR Suite on Jetson</a:t>
                      </a:r>
                      <a:endParaRPr lang="en-US" sz="1000" dirty="0">
                        <a:latin typeface="DM Mono" charset="0"/>
                        <a:ea typeface="DM Mono" charset="0"/>
                        <a:cs typeface="DM Mono" charset="0"/>
                      </a:endParaRPr>
                    </a:p>
                  </a:txBody>
                  <a:tcPr>
                    <a:lnL w="6350" cap="flat" cmpd="sng" algn="ctr">
                      <a:solidFill>
                        <a:srgbClr val="C8C0B4"/>
                      </a:solidFill>
                      <a:prstDash val="solid"/>
                      <a:round/>
                      <a:headEnd type="none" w="med" len="med"/>
                      <a:tailEnd type="none" w="med" len="med"/>
                    </a:lnL>
                    <a:lnR w="6350" cap="flat" cmpd="sng" algn="ctr">
                      <a:solidFill>
                        <a:srgbClr val="C8C0B4"/>
                      </a:solidFill>
                      <a:prstDash val="solid"/>
                      <a:round/>
                      <a:headEnd type="none" w="med" len="med"/>
                      <a:tailEnd type="none" w="med" len="med"/>
                    </a:lnR>
                    <a:lnT w="6350" cap="flat" cmpd="sng" algn="ctr">
                      <a:solidFill>
                        <a:srgbClr val="C8C0B4"/>
                      </a:solidFill>
                      <a:prstDash val="solid"/>
                      <a:round/>
                      <a:headEnd type="none" w="med" len="med"/>
                      <a:tailEnd type="none" w="med" len="med"/>
                    </a:lnT>
                    <a:lnB w="6350" cap="flat" cmpd="sng" algn="ctr">
                      <a:solidFill>
                        <a:srgbClr val="C8C0B4"/>
                      </a:solidFill>
                      <a:prstDash val="solid"/>
                      <a:round/>
                      <a:headEnd type="none" w="med" len="med"/>
                      <a:tailEnd type="none" w="med" len="med"/>
                    </a:lnB>
                    <a:solidFill>
                      <a:srgbClr val="F5F0E8"/>
                    </a:solidFill>
                  </a:tcPr>
                </a:tc>
                <a:tc>
                  <a:txBody>
                    <a:bodyPr/>
                    <a:lstStyle/>
                    <a:p>
                      <a:pPr marL="0" indent="0">
                        <a:buNone/>
                      </a:pPr>
                      <a:r>
                        <a:rPr lang="en-US" sz="1000" dirty="0">
                          <a:solidFill>
                            <a:srgbClr val="0F1F33"/>
                          </a:solidFill>
                          <a:latin typeface="DM Mono" pitchFamily="34" charset="0"/>
                          <a:ea typeface="DM Mono" pitchFamily="34" charset="-122"/>
                          <a:cs typeface="DM Mono" pitchFamily="34" charset="-120"/>
                        </a:rPr>
                        <a:t>NOT STARTED</a:t>
                      </a:r>
                      <a:endParaRPr lang="en-US" sz="1000" dirty="0">
                        <a:latin typeface="DM Mono" charset="0"/>
                        <a:ea typeface="DM Mono" charset="0"/>
                        <a:cs typeface="DM Mono" charset="0"/>
                      </a:endParaRPr>
                    </a:p>
                  </a:txBody>
                  <a:tcPr>
                    <a:lnL w="6350" cap="flat" cmpd="sng" algn="ctr">
                      <a:solidFill>
                        <a:srgbClr val="C8C0B4"/>
                      </a:solidFill>
                      <a:prstDash val="solid"/>
                      <a:round/>
                      <a:headEnd type="none" w="med" len="med"/>
                      <a:tailEnd type="none" w="med" len="med"/>
                    </a:lnL>
                    <a:lnR w="6350" cap="flat" cmpd="sng" algn="ctr">
                      <a:solidFill>
                        <a:srgbClr val="C8C0B4"/>
                      </a:solidFill>
                      <a:prstDash val="solid"/>
                      <a:round/>
                      <a:headEnd type="none" w="med" len="med"/>
                      <a:tailEnd type="none" w="med" len="med"/>
                    </a:lnR>
                    <a:lnT w="6350" cap="flat" cmpd="sng" algn="ctr">
                      <a:solidFill>
                        <a:srgbClr val="C8C0B4"/>
                      </a:solidFill>
                      <a:prstDash val="solid"/>
                      <a:round/>
                      <a:headEnd type="none" w="med" len="med"/>
                      <a:tailEnd type="none" w="med" len="med"/>
                    </a:lnT>
                    <a:lnB w="6350" cap="flat" cmpd="sng" algn="ctr">
                      <a:solidFill>
                        <a:srgbClr val="C8C0B4"/>
                      </a:solidFill>
                      <a:prstDash val="solid"/>
                      <a:round/>
                      <a:headEnd type="none" w="med" len="med"/>
                      <a:tailEnd type="none" w="med" len="med"/>
                    </a:lnB>
                    <a:solidFill>
                      <a:srgbClr val="F5F0E8"/>
                    </a:solidFill>
                  </a:tcPr>
                </a:tc>
                <a:tc>
                  <a:txBody>
                    <a:bodyPr/>
                    <a:lstStyle/>
                    <a:p>
                      <a:pPr marL="0" indent="0">
                        <a:buNone/>
                      </a:pPr>
                      <a:r>
                        <a:rPr lang="en-US" sz="1000" dirty="0">
                          <a:solidFill>
                            <a:srgbClr val="0F1F33"/>
                          </a:solidFill>
                          <a:latin typeface="DM Mono" pitchFamily="34" charset="0"/>
                          <a:ea typeface="DM Mono" pitchFamily="34" charset="-122"/>
                          <a:cs typeface="DM Mono" pitchFamily="34" charset="-120"/>
                        </a:rPr>
                        <a:t>0%</a:t>
                      </a:r>
                      <a:endParaRPr lang="en-US" sz="1000" dirty="0">
                        <a:latin typeface="DM Mono" charset="0"/>
                        <a:ea typeface="DM Mono" charset="0"/>
                        <a:cs typeface="DM Mono" charset="0"/>
                      </a:endParaRPr>
                    </a:p>
                  </a:txBody>
                  <a:tcPr>
                    <a:lnL w="6350" cap="flat" cmpd="sng" algn="ctr">
                      <a:solidFill>
                        <a:srgbClr val="C8C0B4"/>
                      </a:solidFill>
                      <a:prstDash val="solid"/>
                      <a:round/>
                      <a:headEnd type="none" w="med" len="med"/>
                      <a:tailEnd type="none" w="med" len="med"/>
                    </a:lnL>
                    <a:lnR w="6350" cap="flat" cmpd="sng" algn="ctr">
                      <a:solidFill>
                        <a:srgbClr val="C8C0B4"/>
                      </a:solidFill>
                      <a:prstDash val="solid"/>
                      <a:round/>
                      <a:headEnd type="none" w="med" len="med"/>
                      <a:tailEnd type="none" w="med" len="med"/>
                    </a:lnR>
                    <a:lnT w="6350" cap="flat" cmpd="sng" algn="ctr">
                      <a:solidFill>
                        <a:srgbClr val="C8C0B4"/>
                      </a:solidFill>
                      <a:prstDash val="solid"/>
                      <a:round/>
                      <a:headEnd type="none" w="med" len="med"/>
                      <a:tailEnd type="none" w="med" len="med"/>
                    </a:lnT>
                    <a:lnB w="6350" cap="flat" cmpd="sng" algn="ctr">
                      <a:solidFill>
                        <a:srgbClr val="C8C0B4"/>
                      </a:solidFill>
                      <a:prstDash val="solid"/>
                      <a:round/>
                      <a:headEnd type="none" w="med" len="med"/>
                      <a:tailEnd type="none" w="med" len="med"/>
                    </a:lnB>
                    <a:solidFill>
                      <a:srgbClr val="F5F0E8"/>
                    </a:solidFill>
                  </a:tcPr>
                </a:tc>
                <a:tc>
                  <a:txBody>
                    <a:bodyPr/>
                    <a:lstStyle/>
                    <a:p>
                      <a:pPr marL="0" indent="0">
                        <a:buNone/>
                      </a:pPr>
                      <a:r>
                        <a:rPr lang="en-US" sz="1000" dirty="0">
                          <a:solidFill>
                            <a:srgbClr val="0F1F33"/>
                          </a:solidFill>
                          <a:latin typeface="DM Mono" pitchFamily="34" charset="0"/>
                          <a:ea typeface="DM Mono" pitchFamily="34" charset="-122"/>
                          <a:cs typeface="DM Mono" pitchFamily="34" charset="-120"/>
                        </a:rPr>
                        <a:t>2026-05-01</a:t>
                      </a:r>
                      <a:endParaRPr lang="en-US" sz="1000" dirty="0">
                        <a:latin typeface="DM Mono" charset="0"/>
                        <a:ea typeface="DM Mono" charset="0"/>
                        <a:cs typeface="DM Mono" charset="0"/>
                      </a:endParaRPr>
                    </a:p>
                  </a:txBody>
                  <a:tcPr>
                    <a:lnL w="6350" cap="flat" cmpd="sng" algn="ctr">
                      <a:solidFill>
                        <a:srgbClr val="C8C0B4"/>
                      </a:solidFill>
                      <a:prstDash val="solid"/>
                      <a:round/>
                      <a:headEnd type="none" w="med" len="med"/>
                      <a:tailEnd type="none" w="med" len="med"/>
                    </a:lnL>
                    <a:lnR w="6350" cap="flat" cmpd="sng" algn="ctr">
                      <a:solidFill>
                        <a:srgbClr val="C8C0B4"/>
                      </a:solidFill>
                      <a:prstDash val="solid"/>
                      <a:round/>
                      <a:headEnd type="none" w="med" len="med"/>
                      <a:tailEnd type="none" w="med" len="med"/>
                    </a:lnR>
                    <a:lnT w="6350" cap="flat" cmpd="sng" algn="ctr">
                      <a:solidFill>
                        <a:srgbClr val="C8C0B4"/>
                      </a:solidFill>
                      <a:prstDash val="solid"/>
                      <a:round/>
                      <a:headEnd type="none" w="med" len="med"/>
                      <a:tailEnd type="none" w="med" len="med"/>
                    </a:lnT>
                    <a:lnB w="6350" cap="flat" cmpd="sng" algn="ctr">
                      <a:solidFill>
                        <a:srgbClr val="C8C0B4"/>
                      </a:solidFill>
                      <a:prstDash val="solid"/>
                      <a:round/>
                      <a:headEnd type="none" w="med" len="med"/>
                      <a:tailEnd type="none" w="med" len="med"/>
                    </a:lnB>
                    <a:solidFill>
                      <a:srgbClr val="F5F0E8"/>
                    </a:solidFill>
                  </a:tcPr>
                </a:tc>
                <a:extLst>
                  <a:ext uri="{0D108BD9-81ED-4DB2-BD59-A6C34878D82A}">
                    <a16:rowId xmlns:a16="http://schemas.microsoft.com/office/drawing/2014/main" val="10009"/>
                  </a:ext>
                </a:extLst>
              </a:tr>
              <a:tr h="329184">
                <a:tc>
                  <a:txBody>
                    <a:bodyPr/>
                    <a:lstStyle/>
                    <a:p>
                      <a:pPr marL="0" indent="0">
                        <a:buNone/>
                      </a:pPr>
                      <a:r>
                        <a:rPr lang="en-US" sz="1000" dirty="0">
                          <a:solidFill>
                            <a:srgbClr val="0F1F33"/>
                          </a:solidFill>
                          <a:latin typeface="DM Mono" pitchFamily="34" charset="0"/>
                          <a:ea typeface="DM Mono" pitchFamily="34" charset="-122"/>
                          <a:cs typeface="DM Mono" pitchFamily="34" charset="-120"/>
                        </a:rPr>
                        <a:t>Validate Jetson Env Setup</a:t>
                      </a:r>
                      <a:endParaRPr lang="en-US" sz="1000" dirty="0">
                        <a:latin typeface="DM Mono" charset="0"/>
                        <a:ea typeface="DM Mono" charset="0"/>
                        <a:cs typeface="DM Mono" charset="0"/>
                      </a:endParaRPr>
                    </a:p>
                  </a:txBody>
                  <a:tcPr>
                    <a:lnL w="6350" cap="flat" cmpd="sng" algn="ctr">
                      <a:solidFill>
                        <a:srgbClr val="C8C0B4"/>
                      </a:solidFill>
                      <a:prstDash val="solid"/>
                      <a:round/>
                      <a:headEnd type="none" w="med" len="med"/>
                      <a:tailEnd type="none" w="med" len="med"/>
                    </a:lnL>
                    <a:lnR w="6350" cap="flat" cmpd="sng" algn="ctr">
                      <a:solidFill>
                        <a:srgbClr val="C8C0B4"/>
                      </a:solidFill>
                      <a:prstDash val="solid"/>
                      <a:round/>
                      <a:headEnd type="none" w="med" len="med"/>
                      <a:tailEnd type="none" w="med" len="med"/>
                    </a:lnR>
                    <a:lnT w="6350" cap="flat" cmpd="sng" algn="ctr">
                      <a:solidFill>
                        <a:srgbClr val="C8C0B4"/>
                      </a:solidFill>
                      <a:prstDash val="solid"/>
                      <a:round/>
                      <a:headEnd type="none" w="med" len="med"/>
                      <a:tailEnd type="none" w="med" len="med"/>
                    </a:lnT>
                    <a:lnB w="6350" cap="flat" cmpd="sng" algn="ctr">
                      <a:solidFill>
                        <a:srgbClr val="C8C0B4"/>
                      </a:solidFill>
                      <a:prstDash val="solid"/>
                      <a:round/>
                      <a:headEnd type="none" w="med" len="med"/>
                      <a:tailEnd type="none" w="med" len="med"/>
                    </a:lnB>
                    <a:solidFill>
                      <a:srgbClr val="ECE7DF"/>
                    </a:solidFill>
                  </a:tcPr>
                </a:tc>
                <a:tc>
                  <a:txBody>
                    <a:bodyPr/>
                    <a:lstStyle/>
                    <a:p>
                      <a:pPr marL="0" indent="0">
                        <a:buNone/>
                      </a:pPr>
                      <a:r>
                        <a:rPr lang="en-US" sz="1000" dirty="0">
                          <a:solidFill>
                            <a:srgbClr val="0F1F33"/>
                          </a:solidFill>
                          <a:latin typeface="DM Mono" pitchFamily="34" charset="0"/>
                          <a:ea typeface="DM Mono" pitchFamily="34" charset="-122"/>
                          <a:cs typeface="DM Mono" pitchFamily="34" charset="-120"/>
                        </a:rPr>
                        <a:t>NOT STARTED</a:t>
                      </a:r>
                      <a:endParaRPr lang="en-US" sz="1000" dirty="0">
                        <a:latin typeface="DM Mono" charset="0"/>
                        <a:ea typeface="DM Mono" charset="0"/>
                        <a:cs typeface="DM Mono" charset="0"/>
                      </a:endParaRPr>
                    </a:p>
                  </a:txBody>
                  <a:tcPr>
                    <a:lnL w="6350" cap="flat" cmpd="sng" algn="ctr">
                      <a:solidFill>
                        <a:srgbClr val="C8C0B4"/>
                      </a:solidFill>
                      <a:prstDash val="solid"/>
                      <a:round/>
                      <a:headEnd type="none" w="med" len="med"/>
                      <a:tailEnd type="none" w="med" len="med"/>
                    </a:lnL>
                    <a:lnR w="6350" cap="flat" cmpd="sng" algn="ctr">
                      <a:solidFill>
                        <a:srgbClr val="C8C0B4"/>
                      </a:solidFill>
                      <a:prstDash val="solid"/>
                      <a:round/>
                      <a:headEnd type="none" w="med" len="med"/>
                      <a:tailEnd type="none" w="med" len="med"/>
                    </a:lnR>
                    <a:lnT w="6350" cap="flat" cmpd="sng" algn="ctr">
                      <a:solidFill>
                        <a:srgbClr val="C8C0B4"/>
                      </a:solidFill>
                      <a:prstDash val="solid"/>
                      <a:round/>
                      <a:headEnd type="none" w="med" len="med"/>
                      <a:tailEnd type="none" w="med" len="med"/>
                    </a:lnT>
                    <a:lnB w="6350" cap="flat" cmpd="sng" algn="ctr">
                      <a:solidFill>
                        <a:srgbClr val="C8C0B4"/>
                      </a:solidFill>
                      <a:prstDash val="solid"/>
                      <a:round/>
                      <a:headEnd type="none" w="med" len="med"/>
                      <a:tailEnd type="none" w="med" len="med"/>
                    </a:lnB>
                    <a:solidFill>
                      <a:srgbClr val="ECE7DF"/>
                    </a:solidFill>
                  </a:tcPr>
                </a:tc>
                <a:tc>
                  <a:txBody>
                    <a:bodyPr/>
                    <a:lstStyle/>
                    <a:p>
                      <a:pPr marL="0" indent="0">
                        <a:buNone/>
                      </a:pPr>
                      <a:r>
                        <a:rPr lang="en-US" sz="1000" dirty="0">
                          <a:solidFill>
                            <a:srgbClr val="0F1F33"/>
                          </a:solidFill>
                          <a:latin typeface="DM Mono" pitchFamily="34" charset="0"/>
                          <a:ea typeface="DM Mono" pitchFamily="34" charset="-122"/>
                          <a:cs typeface="DM Mono" pitchFamily="34" charset="-120"/>
                        </a:rPr>
                        <a:t>0%</a:t>
                      </a:r>
                      <a:endParaRPr lang="en-US" sz="1000" dirty="0">
                        <a:latin typeface="DM Mono" charset="0"/>
                        <a:ea typeface="DM Mono" charset="0"/>
                        <a:cs typeface="DM Mono" charset="0"/>
                      </a:endParaRPr>
                    </a:p>
                  </a:txBody>
                  <a:tcPr>
                    <a:lnL w="6350" cap="flat" cmpd="sng" algn="ctr">
                      <a:solidFill>
                        <a:srgbClr val="C8C0B4"/>
                      </a:solidFill>
                      <a:prstDash val="solid"/>
                      <a:round/>
                      <a:headEnd type="none" w="med" len="med"/>
                      <a:tailEnd type="none" w="med" len="med"/>
                    </a:lnL>
                    <a:lnR w="6350" cap="flat" cmpd="sng" algn="ctr">
                      <a:solidFill>
                        <a:srgbClr val="C8C0B4"/>
                      </a:solidFill>
                      <a:prstDash val="solid"/>
                      <a:round/>
                      <a:headEnd type="none" w="med" len="med"/>
                      <a:tailEnd type="none" w="med" len="med"/>
                    </a:lnR>
                    <a:lnT w="6350" cap="flat" cmpd="sng" algn="ctr">
                      <a:solidFill>
                        <a:srgbClr val="C8C0B4"/>
                      </a:solidFill>
                      <a:prstDash val="solid"/>
                      <a:round/>
                      <a:headEnd type="none" w="med" len="med"/>
                      <a:tailEnd type="none" w="med" len="med"/>
                    </a:lnT>
                    <a:lnB w="6350" cap="flat" cmpd="sng" algn="ctr">
                      <a:solidFill>
                        <a:srgbClr val="C8C0B4"/>
                      </a:solidFill>
                      <a:prstDash val="solid"/>
                      <a:round/>
                      <a:headEnd type="none" w="med" len="med"/>
                      <a:tailEnd type="none" w="med" len="med"/>
                    </a:lnB>
                    <a:solidFill>
                      <a:srgbClr val="ECE7DF"/>
                    </a:solidFill>
                  </a:tcPr>
                </a:tc>
                <a:tc>
                  <a:txBody>
                    <a:bodyPr/>
                    <a:lstStyle/>
                    <a:p>
                      <a:pPr marL="0" indent="0">
                        <a:buNone/>
                      </a:pPr>
                      <a:r>
                        <a:rPr lang="en-US" sz="1000" dirty="0">
                          <a:solidFill>
                            <a:srgbClr val="0F1F33"/>
                          </a:solidFill>
                          <a:latin typeface="DM Mono" pitchFamily="34" charset="0"/>
                          <a:ea typeface="DM Mono" pitchFamily="34" charset="-122"/>
                          <a:cs typeface="DM Mono" pitchFamily="34" charset="-120"/>
                        </a:rPr>
                        <a:t>2026-05-22</a:t>
                      </a:r>
                      <a:endParaRPr lang="en-US" sz="1000" dirty="0">
                        <a:latin typeface="DM Mono" charset="0"/>
                        <a:ea typeface="DM Mono" charset="0"/>
                        <a:cs typeface="DM Mono" charset="0"/>
                      </a:endParaRPr>
                    </a:p>
                  </a:txBody>
                  <a:tcPr>
                    <a:lnL w="6350" cap="flat" cmpd="sng" algn="ctr">
                      <a:solidFill>
                        <a:srgbClr val="C8C0B4"/>
                      </a:solidFill>
                      <a:prstDash val="solid"/>
                      <a:round/>
                      <a:headEnd type="none" w="med" len="med"/>
                      <a:tailEnd type="none" w="med" len="med"/>
                    </a:lnL>
                    <a:lnR w="6350" cap="flat" cmpd="sng" algn="ctr">
                      <a:solidFill>
                        <a:srgbClr val="C8C0B4"/>
                      </a:solidFill>
                      <a:prstDash val="solid"/>
                      <a:round/>
                      <a:headEnd type="none" w="med" len="med"/>
                      <a:tailEnd type="none" w="med" len="med"/>
                    </a:lnR>
                    <a:lnT w="6350" cap="flat" cmpd="sng" algn="ctr">
                      <a:solidFill>
                        <a:srgbClr val="C8C0B4"/>
                      </a:solidFill>
                      <a:prstDash val="solid"/>
                      <a:round/>
                      <a:headEnd type="none" w="med" len="med"/>
                      <a:tailEnd type="none" w="med" len="med"/>
                    </a:lnT>
                    <a:lnB w="6350" cap="flat" cmpd="sng" algn="ctr">
                      <a:solidFill>
                        <a:srgbClr val="C8C0B4"/>
                      </a:solidFill>
                      <a:prstDash val="solid"/>
                      <a:round/>
                      <a:headEnd type="none" w="med" len="med"/>
                      <a:tailEnd type="none" w="med" len="med"/>
                    </a:lnB>
                    <a:solidFill>
                      <a:srgbClr val="ECE7DF"/>
                    </a:solidFill>
                  </a:tcPr>
                </a:tc>
                <a:extLst>
                  <a:ext uri="{0D108BD9-81ED-4DB2-BD59-A6C34878D82A}">
                    <a16:rowId xmlns:a16="http://schemas.microsoft.com/office/drawing/2014/main" val="10010"/>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0E8"/>
        </a:solidFill>
        <a:effectLst/>
      </p:bgPr>
    </p:bg>
    <p:spTree>
      <p:nvGrpSpPr>
        <p:cNvPr id="1" name=""/>
        <p:cNvGrpSpPr/>
        <p:nvPr/>
      </p:nvGrpSpPr>
      <p:grpSpPr>
        <a:xfrm>
          <a:off x="0" y="0"/>
          <a:ext cx="0" cy="0"/>
          <a:chOff x="0" y="0"/>
          <a:chExt cx="0" cy="0"/>
        </a:xfrm>
      </p:grpSpPr>
      <p:sp>
        <p:nvSpPr>
          <p:cNvPr id="2" name="Shape 0"/>
          <p:cNvSpPr/>
          <p:nvPr/>
        </p:nvSpPr>
        <p:spPr>
          <a:xfrm>
            <a:off x="0" y="0"/>
            <a:ext cx="12192000" cy="91440"/>
          </a:xfrm>
          <a:prstGeom prst="rect">
            <a:avLst/>
          </a:prstGeom>
          <a:solidFill>
            <a:srgbClr val="1E3A5F"/>
          </a:solidFill>
          <a:ln/>
        </p:spPr>
        <p:txBody>
          <a:bodyPr/>
          <a:lstStyle/>
          <a:p>
            <a:endParaRPr lang="en-US"/>
          </a:p>
        </p:txBody>
      </p:sp>
      <p:sp>
        <p:nvSpPr>
          <p:cNvPr id="3" name="Text 1"/>
          <p:cNvSpPr/>
          <p:nvPr/>
        </p:nvSpPr>
        <p:spPr>
          <a:xfrm>
            <a:off x="457200" y="182880"/>
            <a:ext cx="11247120" cy="548640"/>
          </a:xfrm>
          <a:prstGeom prst="rect">
            <a:avLst/>
          </a:prstGeom>
          <a:noFill/>
          <a:ln/>
        </p:spPr>
        <p:txBody>
          <a:bodyPr wrap="square" rtlCol="0" anchor="ctr"/>
          <a:lstStyle/>
          <a:p>
            <a:pPr marL="0" indent="0">
              <a:buNone/>
            </a:pPr>
            <a:r>
              <a:rPr lang="en-US" sz="2200" b="1" dirty="0">
                <a:solidFill>
                  <a:srgbClr val="3A7A6A"/>
                </a:solidFill>
                <a:latin typeface="Syne" pitchFamily="34" charset="0"/>
                <a:ea typeface="Syne" pitchFamily="34" charset="-122"/>
                <a:cs typeface="Syne" pitchFamily="34" charset="-120"/>
              </a:rPr>
              <a:t>Schedule Risk Assessment &amp; Deadline Status</a:t>
            </a:r>
            <a:endParaRPr lang="en-US" sz="2200" dirty="0"/>
          </a:p>
        </p:txBody>
      </p:sp>
      <p:sp>
        <p:nvSpPr>
          <p:cNvPr id="4" name="Shape 2"/>
          <p:cNvSpPr/>
          <p:nvPr/>
        </p:nvSpPr>
        <p:spPr>
          <a:xfrm>
            <a:off x="457200" y="804672"/>
            <a:ext cx="11247120" cy="22860"/>
          </a:xfrm>
          <a:prstGeom prst="rect">
            <a:avLst/>
          </a:prstGeom>
          <a:solidFill>
            <a:srgbClr val="C8C0B4"/>
          </a:solidFill>
          <a:ln/>
        </p:spPr>
        <p:txBody>
          <a:bodyPr/>
          <a:lstStyle/>
          <a:p>
            <a:endParaRPr lang="en-US"/>
          </a:p>
        </p:txBody>
      </p:sp>
      <p:sp>
        <p:nvSpPr>
          <p:cNvPr id="5" name="Text 3"/>
          <p:cNvSpPr/>
          <p:nvPr/>
        </p:nvSpPr>
        <p:spPr>
          <a:xfrm>
            <a:off x="457200" y="914400"/>
            <a:ext cx="11247120" cy="914400"/>
          </a:xfrm>
          <a:prstGeom prst="rect">
            <a:avLst/>
          </a:prstGeom>
          <a:noFill/>
          <a:ln/>
        </p:spPr>
        <p:txBody>
          <a:bodyPr wrap="square" rtlCol="0" anchor="t"/>
          <a:lstStyle/>
          <a:p>
            <a:pPr marL="0" indent="0">
              <a:buNone/>
            </a:pPr>
            <a:r>
              <a:rPr lang="en-US" sz="1100" dirty="0">
                <a:solidFill>
                  <a:srgbClr val="1E3A5F"/>
                </a:solidFill>
                <a:latin typeface="DM Mono" pitchFamily="34" charset="0"/>
                <a:ea typeface="DM Mono" pitchFamily="34" charset="-122"/>
                <a:cs typeface="DM Mono" pitchFamily="34" charset="-120"/>
              </a:rPr>
              <a:t>Of the 13 active tasks in the USMC CapDev project, only 1 task (8%) is fully complete as of the report period ending 2026-03-21, while 4 tasks remain Not Started and 4 are In Progress at 40% completion. The heaviest concentration of deadlines falls between 2026-04-30 and 2026-06-15, creating a late-stage schedule compression risk given the low overall completion rate.</a:t>
            </a:r>
            <a:endParaRPr lang="en-US" sz="1100" dirty="0"/>
          </a:p>
        </p:txBody>
      </p:sp>
      <p:graphicFrame>
        <p:nvGraphicFramePr>
          <p:cNvPr id="7" name="Table 0"/>
          <p:cNvGraphicFramePr>
            <a:graphicFrameLocks noGrp="1"/>
          </p:cNvGraphicFramePr>
          <p:nvPr>
            <p:extLst>
              <p:ext uri="{D42A27DB-BD31-4B8C-83A1-F6EECF244321}">
                <p14:modId xmlns:p14="http://schemas.microsoft.com/office/powerpoint/2010/main" val="3160474661"/>
              </p:ext>
            </p:extLst>
          </p:nvPr>
        </p:nvGraphicFramePr>
        <p:xfrm>
          <a:off x="457200" y="1828800"/>
          <a:ext cx="11247120" cy="3621024"/>
        </p:xfrm>
        <a:graphic>
          <a:graphicData uri="http://schemas.openxmlformats.org/drawingml/2006/table">
            <a:tbl>
              <a:tblPr/>
              <a:tblGrid>
                <a:gridCol w="2811780">
                  <a:extLst>
                    <a:ext uri="{9D8B030D-6E8A-4147-A177-3AD203B41FA5}">
                      <a16:colId xmlns:a16="http://schemas.microsoft.com/office/drawing/2014/main" val="20000"/>
                    </a:ext>
                  </a:extLst>
                </a:gridCol>
                <a:gridCol w="2811780">
                  <a:extLst>
                    <a:ext uri="{9D8B030D-6E8A-4147-A177-3AD203B41FA5}">
                      <a16:colId xmlns:a16="http://schemas.microsoft.com/office/drawing/2014/main" val="20001"/>
                    </a:ext>
                  </a:extLst>
                </a:gridCol>
                <a:gridCol w="2811780">
                  <a:extLst>
                    <a:ext uri="{9D8B030D-6E8A-4147-A177-3AD203B41FA5}">
                      <a16:colId xmlns:a16="http://schemas.microsoft.com/office/drawing/2014/main" val="20002"/>
                    </a:ext>
                  </a:extLst>
                </a:gridCol>
                <a:gridCol w="2811780">
                  <a:extLst>
                    <a:ext uri="{9D8B030D-6E8A-4147-A177-3AD203B41FA5}">
                      <a16:colId xmlns:a16="http://schemas.microsoft.com/office/drawing/2014/main" val="20003"/>
                    </a:ext>
                  </a:extLst>
                </a:gridCol>
              </a:tblGrid>
              <a:tr h="329184">
                <a:tc>
                  <a:txBody>
                    <a:bodyPr/>
                    <a:lstStyle/>
                    <a:p>
                      <a:pPr marL="0" indent="0">
                        <a:buNone/>
                      </a:pPr>
                      <a:r>
                        <a:rPr lang="en-US" sz="1000" b="1" dirty="0">
                          <a:solidFill>
                            <a:srgbClr val="0F1F33"/>
                          </a:solidFill>
                          <a:latin typeface="Syne" pitchFamily="34" charset="0"/>
                          <a:ea typeface="Syne" pitchFamily="34" charset="-122"/>
                          <a:cs typeface="Syne" pitchFamily="34" charset="-120"/>
                        </a:rPr>
                        <a:t>Task (Abbrev.)</a:t>
                      </a:r>
                      <a:endParaRPr lang="en-US" sz="1000" dirty="0">
                        <a:latin typeface="Syne" charset="0"/>
                        <a:ea typeface="Syne" charset="0"/>
                        <a:cs typeface="Syne" charset="0"/>
                      </a:endParaRPr>
                    </a:p>
                  </a:txBody>
                  <a:tcPr>
                    <a:lnL w="6350" cap="flat" cmpd="sng" algn="ctr">
                      <a:solidFill>
                        <a:srgbClr val="C8C0B4"/>
                      </a:solidFill>
                      <a:prstDash val="solid"/>
                      <a:round/>
                      <a:headEnd type="none" w="med" len="med"/>
                      <a:tailEnd type="none" w="med" len="med"/>
                    </a:lnL>
                    <a:lnR w="6350" cap="flat" cmpd="sng" algn="ctr">
                      <a:solidFill>
                        <a:srgbClr val="C8C0B4"/>
                      </a:solidFill>
                      <a:prstDash val="solid"/>
                      <a:round/>
                      <a:headEnd type="none" w="med" len="med"/>
                      <a:tailEnd type="none" w="med" len="med"/>
                    </a:lnR>
                    <a:lnT w="6350" cap="flat" cmpd="sng" algn="ctr">
                      <a:solidFill>
                        <a:srgbClr val="C8C0B4"/>
                      </a:solidFill>
                      <a:prstDash val="solid"/>
                      <a:round/>
                      <a:headEnd type="none" w="med" len="med"/>
                      <a:tailEnd type="none" w="med" len="med"/>
                    </a:lnT>
                    <a:lnB w="6350" cap="flat" cmpd="sng" algn="ctr">
                      <a:solidFill>
                        <a:srgbClr val="C8C0B4"/>
                      </a:solidFill>
                      <a:prstDash val="solid"/>
                      <a:round/>
                      <a:headEnd type="none" w="med" len="med"/>
                      <a:tailEnd type="none" w="med" len="med"/>
                    </a:lnB>
                    <a:solidFill>
                      <a:srgbClr val="C8C0B4"/>
                    </a:solidFill>
                  </a:tcPr>
                </a:tc>
                <a:tc>
                  <a:txBody>
                    <a:bodyPr/>
                    <a:lstStyle/>
                    <a:p>
                      <a:pPr marL="0" indent="0">
                        <a:buNone/>
                      </a:pPr>
                      <a:r>
                        <a:rPr lang="en-US" sz="1000" b="1" dirty="0">
                          <a:solidFill>
                            <a:srgbClr val="0F1F33"/>
                          </a:solidFill>
                          <a:latin typeface="Syne" pitchFamily="34" charset="0"/>
                          <a:ea typeface="Syne" pitchFamily="34" charset="-122"/>
                          <a:cs typeface="Syne" pitchFamily="34" charset="-120"/>
                        </a:rPr>
                        <a:t>Status</a:t>
                      </a:r>
                      <a:endParaRPr lang="en-US" sz="1000" dirty="0">
                        <a:latin typeface="Syne" charset="0"/>
                        <a:ea typeface="Syne" charset="0"/>
                        <a:cs typeface="Syne" charset="0"/>
                      </a:endParaRPr>
                    </a:p>
                  </a:txBody>
                  <a:tcPr>
                    <a:lnL w="6350" cap="flat" cmpd="sng" algn="ctr">
                      <a:solidFill>
                        <a:srgbClr val="C8C0B4"/>
                      </a:solidFill>
                      <a:prstDash val="solid"/>
                      <a:round/>
                      <a:headEnd type="none" w="med" len="med"/>
                      <a:tailEnd type="none" w="med" len="med"/>
                    </a:lnL>
                    <a:lnR w="6350" cap="flat" cmpd="sng" algn="ctr">
                      <a:solidFill>
                        <a:srgbClr val="C8C0B4"/>
                      </a:solidFill>
                      <a:prstDash val="solid"/>
                      <a:round/>
                      <a:headEnd type="none" w="med" len="med"/>
                      <a:tailEnd type="none" w="med" len="med"/>
                    </a:lnR>
                    <a:lnT w="6350" cap="flat" cmpd="sng" algn="ctr">
                      <a:solidFill>
                        <a:srgbClr val="C8C0B4"/>
                      </a:solidFill>
                      <a:prstDash val="solid"/>
                      <a:round/>
                      <a:headEnd type="none" w="med" len="med"/>
                      <a:tailEnd type="none" w="med" len="med"/>
                    </a:lnT>
                    <a:lnB w="6350" cap="flat" cmpd="sng" algn="ctr">
                      <a:solidFill>
                        <a:srgbClr val="C8C0B4"/>
                      </a:solidFill>
                      <a:prstDash val="solid"/>
                      <a:round/>
                      <a:headEnd type="none" w="med" len="med"/>
                      <a:tailEnd type="none" w="med" len="med"/>
                    </a:lnB>
                    <a:solidFill>
                      <a:srgbClr val="C8C0B4"/>
                    </a:solidFill>
                  </a:tcPr>
                </a:tc>
                <a:tc>
                  <a:txBody>
                    <a:bodyPr/>
                    <a:lstStyle/>
                    <a:p>
                      <a:pPr marL="0" indent="0">
                        <a:buNone/>
                      </a:pPr>
                      <a:r>
                        <a:rPr lang="en-US" sz="1000" b="1" dirty="0">
                          <a:solidFill>
                            <a:srgbClr val="0F1F33"/>
                          </a:solidFill>
                          <a:latin typeface="Syne" pitchFamily="34" charset="0"/>
                          <a:ea typeface="Syne" pitchFamily="34" charset="-122"/>
                          <a:cs typeface="Syne" pitchFamily="34" charset="-120"/>
                        </a:rPr>
                        <a:t>Progress</a:t>
                      </a:r>
                      <a:endParaRPr lang="en-US" sz="1000" dirty="0">
                        <a:latin typeface="Syne" charset="0"/>
                        <a:ea typeface="Syne" charset="0"/>
                        <a:cs typeface="Syne" charset="0"/>
                      </a:endParaRPr>
                    </a:p>
                  </a:txBody>
                  <a:tcPr>
                    <a:lnL w="6350" cap="flat" cmpd="sng" algn="ctr">
                      <a:solidFill>
                        <a:srgbClr val="C8C0B4"/>
                      </a:solidFill>
                      <a:prstDash val="solid"/>
                      <a:round/>
                      <a:headEnd type="none" w="med" len="med"/>
                      <a:tailEnd type="none" w="med" len="med"/>
                    </a:lnL>
                    <a:lnR w="6350" cap="flat" cmpd="sng" algn="ctr">
                      <a:solidFill>
                        <a:srgbClr val="C8C0B4"/>
                      </a:solidFill>
                      <a:prstDash val="solid"/>
                      <a:round/>
                      <a:headEnd type="none" w="med" len="med"/>
                      <a:tailEnd type="none" w="med" len="med"/>
                    </a:lnR>
                    <a:lnT w="6350" cap="flat" cmpd="sng" algn="ctr">
                      <a:solidFill>
                        <a:srgbClr val="C8C0B4"/>
                      </a:solidFill>
                      <a:prstDash val="solid"/>
                      <a:round/>
                      <a:headEnd type="none" w="med" len="med"/>
                      <a:tailEnd type="none" w="med" len="med"/>
                    </a:lnT>
                    <a:lnB w="6350" cap="flat" cmpd="sng" algn="ctr">
                      <a:solidFill>
                        <a:srgbClr val="C8C0B4"/>
                      </a:solidFill>
                      <a:prstDash val="solid"/>
                      <a:round/>
                      <a:headEnd type="none" w="med" len="med"/>
                      <a:tailEnd type="none" w="med" len="med"/>
                    </a:lnB>
                    <a:solidFill>
                      <a:srgbClr val="C8C0B4"/>
                    </a:solidFill>
                  </a:tcPr>
                </a:tc>
                <a:tc>
                  <a:txBody>
                    <a:bodyPr/>
                    <a:lstStyle/>
                    <a:p>
                      <a:pPr marL="0" indent="0">
                        <a:buNone/>
                      </a:pPr>
                      <a:r>
                        <a:rPr lang="en-US" sz="1000" b="1" dirty="0">
                          <a:solidFill>
                            <a:srgbClr val="0F1F33"/>
                          </a:solidFill>
                          <a:latin typeface="Syne" pitchFamily="34" charset="0"/>
                          <a:ea typeface="Syne" pitchFamily="34" charset="-122"/>
                          <a:cs typeface="Syne" pitchFamily="34" charset="-120"/>
                        </a:rPr>
                        <a:t>Due Date</a:t>
                      </a:r>
                      <a:endParaRPr lang="en-US" sz="1000" dirty="0">
                        <a:latin typeface="Syne" charset="0"/>
                        <a:ea typeface="Syne" charset="0"/>
                        <a:cs typeface="Syne" charset="0"/>
                      </a:endParaRPr>
                    </a:p>
                  </a:txBody>
                  <a:tcPr>
                    <a:lnL w="6350" cap="flat" cmpd="sng" algn="ctr">
                      <a:solidFill>
                        <a:srgbClr val="C8C0B4"/>
                      </a:solidFill>
                      <a:prstDash val="solid"/>
                      <a:round/>
                      <a:headEnd type="none" w="med" len="med"/>
                      <a:tailEnd type="none" w="med" len="med"/>
                    </a:lnL>
                    <a:lnR w="6350" cap="flat" cmpd="sng" algn="ctr">
                      <a:solidFill>
                        <a:srgbClr val="C8C0B4"/>
                      </a:solidFill>
                      <a:prstDash val="solid"/>
                      <a:round/>
                      <a:headEnd type="none" w="med" len="med"/>
                      <a:tailEnd type="none" w="med" len="med"/>
                    </a:lnR>
                    <a:lnT w="6350" cap="flat" cmpd="sng" algn="ctr">
                      <a:solidFill>
                        <a:srgbClr val="C8C0B4"/>
                      </a:solidFill>
                      <a:prstDash val="solid"/>
                      <a:round/>
                      <a:headEnd type="none" w="med" len="med"/>
                      <a:tailEnd type="none" w="med" len="med"/>
                    </a:lnT>
                    <a:lnB w="6350" cap="flat" cmpd="sng" algn="ctr">
                      <a:solidFill>
                        <a:srgbClr val="C8C0B4"/>
                      </a:solidFill>
                      <a:prstDash val="solid"/>
                      <a:round/>
                      <a:headEnd type="none" w="med" len="med"/>
                      <a:tailEnd type="none" w="med" len="med"/>
                    </a:lnB>
                    <a:solidFill>
                      <a:srgbClr val="C8C0B4"/>
                    </a:solidFill>
                  </a:tcPr>
                </a:tc>
                <a:extLst>
                  <a:ext uri="{0D108BD9-81ED-4DB2-BD59-A6C34878D82A}">
                    <a16:rowId xmlns:a16="http://schemas.microsoft.com/office/drawing/2014/main" val="10000"/>
                  </a:ext>
                </a:extLst>
              </a:tr>
              <a:tr h="329184">
                <a:tc>
                  <a:txBody>
                    <a:bodyPr/>
                    <a:lstStyle/>
                    <a:p>
                      <a:pPr marL="0" indent="0">
                        <a:buNone/>
                      </a:pPr>
                      <a:r>
                        <a:rPr lang="en-US" sz="1000" dirty="0">
                          <a:solidFill>
                            <a:srgbClr val="0F1F33"/>
                          </a:solidFill>
                          <a:latin typeface="DM Mono" pitchFamily="34" charset="0"/>
                          <a:ea typeface="DM Mono" pitchFamily="34" charset="-122"/>
                          <a:cs typeface="DM Mono" pitchFamily="34" charset="-120"/>
                        </a:rPr>
                        <a:t>AI Doc Content Access</a:t>
                      </a:r>
                      <a:endParaRPr lang="en-US" sz="1000" dirty="0">
                        <a:latin typeface="DM Mono" charset="0"/>
                        <a:ea typeface="DM Mono" charset="0"/>
                        <a:cs typeface="DM Mono" charset="0"/>
                      </a:endParaRPr>
                    </a:p>
                  </a:txBody>
                  <a:tcPr>
                    <a:lnL w="6350" cap="flat" cmpd="sng" algn="ctr">
                      <a:solidFill>
                        <a:srgbClr val="C8C0B4"/>
                      </a:solidFill>
                      <a:prstDash val="solid"/>
                      <a:round/>
                      <a:headEnd type="none" w="med" len="med"/>
                      <a:tailEnd type="none" w="med" len="med"/>
                    </a:lnL>
                    <a:lnR w="6350" cap="flat" cmpd="sng" algn="ctr">
                      <a:solidFill>
                        <a:srgbClr val="C8C0B4"/>
                      </a:solidFill>
                      <a:prstDash val="solid"/>
                      <a:round/>
                      <a:headEnd type="none" w="med" len="med"/>
                      <a:tailEnd type="none" w="med" len="med"/>
                    </a:lnR>
                    <a:lnT w="6350" cap="flat" cmpd="sng" algn="ctr">
                      <a:solidFill>
                        <a:srgbClr val="C8C0B4"/>
                      </a:solidFill>
                      <a:prstDash val="solid"/>
                      <a:round/>
                      <a:headEnd type="none" w="med" len="med"/>
                      <a:tailEnd type="none" w="med" len="med"/>
                    </a:lnT>
                    <a:lnB w="6350" cap="flat" cmpd="sng" algn="ctr">
                      <a:solidFill>
                        <a:srgbClr val="C8C0B4"/>
                      </a:solidFill>
                      <a:prstDash val="solid"/>
                      <a:round/>
                      <a:headEnd type="none" w="med" len="med"/>
                      <a:tailEnd type="none" w="med" len="med"/>
                    </a:lnB>
                    <a:solidFill>
                      <a:srgbClr val="F5F0E8"/>
                    </a:solidFill>
                  </a:tcPr>
                </a:tc>
                <a:tc>
                  <a:txBody>
                    <a:bodyPr/>
                    <a:lstStyle/>
                    <a:p>
                      <a:pPr marL="0" indent="0">
                        <a:buNone/>
                      </a:pPr>
                      <a:r>
                        <a:rPr lang="en-US" sz="1000" dirty="0">
                          <a:solidFill>
                            <a:srgbClr val="0F1F33"/>
                          </a:solidFill>
                          <a:latin typeface="DM Mono" pitchFamily="34" charset="0"/>
                          <a:ea typeface="DM Mono" pitchFamily="34" charset="-122"/>
                          <a:cs typeface="DM Mono" pitchFamily="34" charset="-120"/>
                        </a:rPr>
                        <a:t>COMPLETE</a:t>
                      </a:r>
                      <a:endParaRPr lang="en-US" sz="1000" dirty="0">
                        <a:latin typeface="DM Mono" charset="0"/>
                        <a:ea typeface="DM Mono" charset="0"/>
                        <a:cs typeface="DM Mono" charset="0"/>
                      </a:endParaRPr>
                    </a:p>
                  </a:txBody>
                  <a:tcPr>
                    <a:lnL w="6350" cap="flat" cmpd="sng" algn="ctr">
                      <a:solidFill>
                        <a:srgbClr val="C8C0B4"/>
                      </a:solidFill>
                      <a:prstDash val="solid"/>
                      <a:round/>
                      <a:headEnd type="none" w="med" len="med"/>
                      <a:tailEnd type="none" w="med" len="med"/>
                    </a:lnL>
                    <a:lnR w="6350" cap="flat" cmpd="sng" algn="ctr">
                      <a:solidFill>
                        <a:srgbClr val="C8C0B4"/>
                      </a:solidFill>
                      <a:prstDash val="solid"/>
                      <a:round/>
                      <a:headEnd type="none" w="med" len="med"/>
                      <a:tailEnd type="none" w="med" len="med"/>
                    </a:lnR>
                    <a:lnT w="6350" cap="flat" cmpd="sng" algn="ctr">
                      <a:solidFill>
                        <a:srgbClr val="C8C0B4"/>
                      </a:solidFill>
                      <a:prstDash val="solid"/>
                      <a:round/>
                      <a:headEnd type="none" w="med" len="med"/>
                      <a:tailEnd type="none" w="med" len="med"/>
                    </a:lnT>
                    <a:lnB w="6350" cap="flat" cmpd="sng" algn="ctr">
                      <a:solidFill>
                        <a:srgbClr val="C8C0B4"/>
                      </a:solidFill>
                      <a:prstDash val="solid"/>
                      <a:round/>
                      <a:headEnd type="none" w="med" len="med"/>
                      <a:tailEnd type="none" w="med" len="med"/>
                    </a:lnB>
                    <a:solidFill>
                      <a:srgbClr val="F5F0E8"/>
                    </a:solidFill>
                  </a:tcPr>
                </a:tc>
                <a:tc>
                  <a:txBody>
                    <a:bodyPr/>
                    <a:lstStyle/>
                    <a:p>
                      <a:pPr marL="0" indent="0">
                        <a:buNone/>
                      </a:pPr>
                      <a:r>
                        <a:rPr lang="en-US" sz="1000" dirty="0">
                          <a:solidFill>
                            <a:srgbClr val="0F1F33"/>
                          </a:solidFill>
                          <a:latin typeface="DM Mono" pitchFamily="34" charset="0"/>
                          <a:ea typeface="DM Mono" pitchFamily="34" charset="-122"/>
                          <a:cs typeface="DM Mono" pitchFamily="34" charset="-120"/>
                        </a:rPr>
                        <a:t>100%</a:t>
                      </a:r>
                      <a:endParaRPr lang="en-US" sz="1000" dirty="0">
                        <a:latin typeface="DM Mono" charset="0"/>
                        <a:ea typeface="DM Mono" charset="0"/>
                        <a:cs typeface="DM Mono" charset="0"/>
                      </a:endParaRPr>
                    </a:p>
                  </a:txBody>
                  <a:tcPr>
                    <a:lnL w="6350" cap="flat" cmpd="sng" algn="ctr">
                      <a:solidFill>
                        <a:srgbClr val="C8C0B4"/>
                      </a:solidFill>
                      <a:prstDash val="solid"/>
                      <a:round/>
                      <a:headEnd type="none" w="med" len="med"/>
                      <a:tailEnd type="none" w="med" len="med"/>
                    </a:lnL>
                    <a:lnR w="6350" cap="flat" cmpd="sng" algn="ctr">
                      <a:solidFill>
                        <a:srgbClr val="C8C0B4"/>
                      </a:solidFill>
                      <a:prstDash val="solid"/>
                      <a:round/>
                      <a:headEnd type="none" w="med" len="med"/>
                      <a:tailEnd type="none" w="med" len="med"/>
                    </a:lnR>
                    <a:lnT w="6350" cap="flat" cmpd="sng" algn="ctr">
                      <a:solidFill>
                        <a:srgbClr val="C8C0B4"/>
                      </a:solidFill>
                      <a:prstDash val="solid"/>
                      <a:round/>
                      <a:headEnd type="none" w="med" len="med"/>
                      <a:tailEnd type="none" w="med" len="med"/>
                    </a:lnT>
                    <a:lnB w="6350" cap="flat" cmpd="sng" algn="ctr">
                      <a:solidFill>
                        <a:srgbClr val="C8C0B4"/>
                      </a:solidFill>
                      <a:prstDash val="solid"/>
                      <a:round/>
                      <a:headEnd type="none" w="med" len="med"/>
                      <a:tailEnd type="none" w="med" len="med"/>
                    </a:lnB>
                    <a:solidFill>
                      <a:srgbClr val="F5F0E8"/>
                    </a:solidFill>
                  </a:tcPr>
                </a:tc>
                <a:tc>
                  <a:txBody>
                    <a:bodyPr/>
                    <a:lstStyle/>
                    <a:p>
                      <a:pPr marL="0" indent="0">
                        <a:buNone/>
                      </a:pPr>
                      <a:r>
                        <a:rPr lang="en-US" sz="1000" dirty="0">
                          <a:solidFill>
                            <a:srgbClr val="0F1F33"/>
                          </a:solidFill>
                          <a:latin typeface="DM Mono" pitchFamily="34" charset="0"/>
                          <a:ea typeface="DM Mono" pitchFamily="34" charset="-122"/>
                          <a:cs typeface="DM Mono" pitchFamily="34" charset="-120"/>
                        </a:rPr>
                        <a:t>2026-04-15</a:t>
                      </a:r>
                      <a:endParaRPr lang="en-US" sz="1000" dirty="0">
                        <a:latin typeface="DM Mono" charset="0"/>
                        <a:ea typeface="DM Mono" charset="0"/>
                        <a:cs typeface="DM Mono" charset="0"/>
                      </a:endParaRPr>
                    </a:p>
                  </a:txBody>
                  <a:tcPr>
                    <a:lnL w="6350" cap="flat" cmpd="sng" algn="ctr">
                      <a:solidFill>
                        <a:srgbClr val="C8C0B4"/>
                      </a:solidFill>
                      <a:prstDash val="solid"/>
                      <a:round/>
                      <a:headEnd type="none" w="med" len="med"/>
                      <a:tailEnd type="none" w="med" len="med"/>
                    </a:lnL>
                    <a:lnR w="6350" cap="flat" cmpd="sng" algn="ctr">
                      <a:solidFill>
                        <a:srgbClr val="C8C0B4"/>
                      </a:solidFill>
                      <a:prstDash val="solid"/>
                      <a:round/>
                      <a:headEnd type="none" w="med" len="med"/>
                      <a:tailEnd type="none" w="med" len="med"/>
                    </a:lnR>
                    <a:lnT w="6350" cap="flat" cmpd="sng" algn="ctr">
                      <a:solidFill>
                        <a:srgbClr val="C8C0B4"/>
                      </a:solidFill>
                      <a:prstDash val="solid"/>
                      <a:round/>
                      <a:headEnd type="none" w="med" len="med"/>
                      <a:tailEnd type="none" w="med" len="med"/>
                    </a:lnT>
                    <a:lnB w="6350" cap="flat" cmpd="sng" algn="ctr">
                      <a:solidFill>
                        <a:srgbClr val="C8C0B4"/>
                      </a:solidFill>
                      <a:prstDash val="solid"/>
                      <a:round/>
                      <a:headEnd type="none" w="med" len="med"/>
                      <a:tailEnd type="none" w="med" len="med"/>
                    </a:lnB>
                    <a:solidFill>
                      <a:srgbClr val="F5F0E8"/>
                    </a:solidFill>
                  </a:tcPr>
                </a:tc>
                <a:extLst>
                  <a:ext uri="{0D108BD9-81ED-4DB2-BD59-A6C34878D82A}">
                    <a16:rowId xmlns:a16="http://schemas.microsoft.com/office/drawing/2014/main" val="10001"/>
                  </a:ext>
                </a:extLst>
              </a:tr>
              <a:tr h="329184">
                <a:tc>
                  <a:txBody>
                    <a:bodyPr/>
                    <a:lstStyle/>
                    <a:p>
                      <a:pPr marL="0" indent="0">
                        <a:buNone/>
                      </a:pPr>
                      <a:r>
                        <a:rPr lang="en-US" sz="1000" dirty="0">
                          <a:solidFill>
                            <a:srgbClr val="0F1F33"/>
                          </a:solidFill>
                          <a:latin typeface="DM Mono" pitchFamily="34" charset="0"/>
                          <a:ea typeface="DM Mono" pitchFamily="34" charset="-122"/>
                          <a:cs typeface="DM Mono" pitchFamily="34" charset="-120"/>
                        </a:rPr>
                        <a:t>IR Web App QA</a:t>
                      </a:r>
                      <a:endParaRPr lang="en-US" sz="1000" dirty="0">
                        <a:latin typeface="DM Mono" charset="0"/>
                        <a:ea typeface="DM Mono" charset="0"/>
                        <a:cs typeface="DM Mono" charset="0"/>
                      </a:endParaRPr>
                    </a:p>
                  </a:txBody>
                  <a:tcPr>
                    <a:lnL w="6350" cap="flat" cmpd="sng" algn="ctr">
                      <a:solidFill>
                        <a:srgbClr val="C8C0B4"/>
                      </a:solidFill>
                      <a:prstDash val="solid"/>
                      <a:round/>
                      <a:headEnd type="none" w="med" len="med"/>
                      <a:tailEnd type="none" w="med" len="med"/>
                    </a:lnL>
                    <a:lnR w="6350" cap="flat" cmpd="sng" algn="ctr">
                      <a:solidFill>
                        <a:srgbClr val="C8C0B4"/>
                      </a:solidFill>
                      <a:prstDash val="solid"/>
                      <a:round/>
                      <a:headEnd type="none" w="med" len="med"/>
                      <a:tailEnd type="none" w="med" len="med"/>
                    </a:lnR>
                    <a:lnT w="6350" cap="flat" cmpd="sng" algn="ctr">
                      <a:solidFill>
                        <a:srgbClr val="C8C0B4"/>
                      </a:solidFill>
                      <a:prstDash val="solid"/>
                      <a:round/>
                      <a:headEnd type="none" w="med" len="med"/>
                      <a:tailEnd type="none" w="med" len="med"/>
                    </a:lnT>
                    <a:lnB w="6350" cap="flat" cmpd="sng" algn="ctr">
                      <a:solidFill>
                        <a:srgbClr val="C8C0B4"/>
                      </a:solidFill>
                      <a:prstDash val="solid"/>
                      <a:round/>
                      <a:headEnd type="none" w="med" len="med"/>
                      <a:tailEnd type="none" w="med" len="med"/>
                    </a:lnB>
                    <a:solidFill>
                      <a:srgbClr val="ECE7DF"/>
                    </a:solidFill>
                  </a:tcPr>
                </a:tc>
                <a:tc>
                  <a:txBody>
                    <a:bodyPr/>
                    <a:lstStyle/>
                    <a:p>
                      <a:pPr marL="0" indent="0">
                        <a:buNone/>
                      </a:pPr>
                      <a:r>
                        <a:rPr lang="en-US" sz="1000" dirty="0">
                          <a:solidFill>
                            <a:srgbClr val="0F1F33"/>
                          </a:solidFill>
                          <a:latin typeface="DM Mono" pitchFamily="34" charset="0"/>
                          <a:ea typeface="DM Mono" pitchFamily="34" charset="-122"/>
                          <a:cs typeface="DM Mono" pitchFamily="34" charset="-120"/>
                        </a:rPr>
                        <a:t>IN_REVIEW</a:t>
                      </a:r>
                      <a:endParaRPr lang="en-US" sz="1000" dirty="0">
                        <a:latin typeface="DM Mono" charset="0"/>
                        <a:ea typeface="DM Mono" charset="0"/>
                        <a:cs typeface="DM Mono" charset="0"/>
                      </a:endParaRPr>
                    </a:p>
                  </a:txBody>
                  <a:tcPr>
                    <a:lnL w="6350" cap="flat" cmpd="sng" algn="ctr">
                      <a:solidFill>
                        <a:srgbClr val="C8C0B4"/>
                      </a:solidFill>
                      <a:prstDash val="solid"/>
                      <a:round/>
                      <a:headEnd type="none" w="med" len="med"/>
                      <a:tailEnd type="none" w="med" len="med"/>
                    </a:lnL>
                    <a:lnR w="6350" cap="flat" cmpd="sng" algn="ctr">
                      <a:solidFill>
                        <a:srgbClr val="C8C0B4"/>
                      </a:solidFill>
                      <a:prstDash val="solid"/>
                      <a:round/>
                      <a:headEnd type="none" w="med" len="med"/>
                      <a:tailEnd type="none" w="med" len="med"/>
                    </a:lnR>
                    <a:lnT w="6350" cap="flat" cmpd="sng" algn="ctr">
                      <a:solidFill>
                        <a:srgbClr val="C8C0B4"/>
                      </a:solidFill>
                      <a:prstDash val="solid"/>
                      <a:round/>
                      <a:headEnd type="none" w="med" len="med"/>
                      <a:tailEnd type="none" w="med" len="med"/>
                    </a:lnT>
                    <a:lnB w="6350" cap="flat" cmpd="sng" algn="ctr">
                      <a:solidFill>
                        <a:srgbClr val="C8C0B4"/>
                      </a:solidFill>
                      <a:prstDash val="solid"/>
                      <a:round/>
                      <a:headEnd type="none" w="med" len="med"/>
                      <a:tailEnd type="none" w="med" len="med"/>
                    </a:lnB>
                    <a:solidFill>
                      <a:srgbClr val="ECE7DF"/>
                    </a:solidFill>
                  </a:tcPr>
                </a:tc>
                <a:tc>
                  <a:txBody>
                    <a:bodyPr/>
                    <a:lstStyle/>
                    <a:p>
                      <a:pPr marL="0" indent="0">
                        <a:buNone/>
                      </a:pPr>
                      <a:r>
                        <a:rPr lang="en-US" sz="1000" dirty="0">
                          <a:solidFill>
                            <a:srgbClr val="0F1F33"/>
                          </a:solidFill>
                          <a:latin typeface="DM Mono" pitchFamily="34" charset="0"/>
                          <a:ea typeface="DM Mono" pitchFamily="34" charset="-122"/>
                          <a:cs typeface="DM Mono" pitchFamily="34" charset="-120"/>
                        </a:rPr>
                        <a:t>80%</a:t>
                      </a:r>
                      <a:endParaRPr lang="en-US" sz="1000" dirty="0">
                        <a:latin typeface="DM Mono" charset="0"/>
                        <a:ea typeface="DM Mono" charset="0"/>
                        <a:cs typeface="DM Mono" charset="0"/>
                      </a:endParaRPr>
                    </a:p>
                  </a:txBody>
                  <a:tcPr>
                    <a:lnL w="6350" cap="flat" cmpd="sng" algn="ctr">
                      <a:solidFill>
                        <a:srgbClr val="C8C0B4"/>
                      </a:solidFill>
                      <a:prstDash val="solid"/>
                      <a:round/>
                      <a:headEnd type="none" w="med" len="med"/>
                      <a:tailEnd type="none" w="med" len="med"/>
                    </a:lnL>
                    <a:lnR w="6350" cap="flat" cmpd="sng" algn="ctr">
                      <a:solidFill>
                        <a:srgbClr val="C8C0B4"/>
                      </a:solidFill>
                      <a:prstDash val="solid"/>
                      <a:round/>
                      <a:headEnd type="none" w="med" len="med"/>
                      <a:tailEnd type="none" w="med" len="med"/>
                    </a:lnR>
                    <a:lnT w="6350" cap="flat" cmpd="sng" algn="ctr">
                      <a:solidFill>
                        <a:srgbClr val="C8C0B4"/>
                      </a:solidFill>
                      <a:prstDash val="solid"/>
                      <a:round/>
                      <a:headEnd type="none" w="med" len="med"/>
                      <a:tailEnd type="none" w="med" len="med"/>
                    </a:lnT>
                    <a:lnB w="6350" cap="flat" cmpd="sng" algn="ctr">
                      <a:solidFill>
                        <a:srgbClr val="C8C0B4"/>
                      </a:solidFill>
                      <a:prstDash val="solid"/>
                      <a:round/>
                      <a:headEnd type="none" w="med" len="med"/>
                      <a:tailEnd type="none" w="med" len="med"/>
                    </a:lnB>
                    <a:solidFill>
                      <a:srgbClr val="ECE7DF"/>
                    </a:solidFill>
                  </a:tcPr>
                </a:tc>
                <a:tc>
                  <a:txBody>
                    <a:bodyPr/>
                    <a:lstStyle/>
                    <a:p>
                      <a:pPr marL="0" indent="0">
                        <a:buNone/>
                      </a:pPr>
                      <a:r>
                        <a:rPr lang="en-US" sz="1000" dirty="0">
                          <a:solidFill>
                            <a:srgbClr val="0F1F33"/>
                          </a:solidFill>
                          <a:latin typeface="DM Mono" pitchFamily="34" charset="0"/>
                          <a:ea typeface="DM Mono" pitchFamily="34" charset="-122"/>
                          <a:cs typeface="DM Mono" pitchFamily="34" charset="-120"/>
                        </a:rPr>
                        <a:t>2026-05-30</a:t>
                      </a:r>
                      <a:endParaRPr lang="en-US" sz="1000" dirty="0">
                        <a:latin typeface="DM Mono" charset="0"/>
                        <a:ea typeface="DM Mono" charset="0"/>
                        <a:cs typeface="DM Mono" charset="0"/>
                      </a:endParaRPr>
                    </a:p>
                  </a:txBody>
                  <a:tcPr>
                    <a:lnL w="6350" cap="flat" cmpd="sng" algn="ctr">
                      <a:solidFill>
                        <a:srgbClr val="C8C0B4"/>
                      </a:solidFill>
                      <a:prstDash val="solid"/>
                      <a:round/>
                      <a:headEnd type="none" w="med" len="med"/>
                      <a:tailEnd type="none" w="med" len="med"/>
                    </a:lnL>
                    <a:lnR w="6350" cap="flat" cmpd="sng" algn="ctr">
                      <a:solidFill>
                        <a:srgbClr val="C8C0B4"/>
                      </a:solidFill>
                      <a:prstDash val="solid"/>
                      <a:round/>
                      <a:headEnd type="none" w="med" len="med"/>
                      <a:tailEnd type="none" w="med" len="med"/>
                    </a:lnR>
                    <a:lnT w="6350" cap="flat" cmpd="sng" algn="ctr">
                      <a:solidFill>
                        <a:srgbClr val="C8C0B4"/>
                      </a:solidFill>
                      <a:prstDash val="solid"/>
                      <a:round/>
                      <a:headEnd type="none" w="med" len="med"/>
                      <a:tailEnd type="none" w="med" len="med"/>
                    </a:lnT>
                    <a:lnB w="6350" cap="flat" cmpd="sng" algn="ctr">
                      <a:solidFill>
                        <a:srgbClr val="C8C0B4"/>
                      </a:solidFill>
                      <a:prstDash val="solid"/>
                      <a:round/>
                      <a:headEnd type="none" w="med" len="med"/>
                      <a:tailEnd type="none" w="med" len="med"/>
                    </a:lnB>
                    <a:solidFill>
                      <a:srgbClr val="ECE7DF"/>
                    </a:solidFill>
                  </a:tcPr>
                </a:tc>
                <a:extLst>
                  <a:ext uri="{0D108BD9-81ED-4DB2-BD59-A6C34878D82A}">
                    <a16:rowId xmlns:a16="http://schemas.microsoft.com/office/drawing/2014/main" val="10002"/>
                  </a:ext>
                </a:extLst>
              </a:tr>
              <a:tr h="329184">
                <a:tc>
                  <a:txBody>
                    <a:bodyPr/>
                    <a:lstStyle/>
                    <a:p>
                      <a:pPr marL="0" indent="0">
                        <a:buNone/>
                      </a:pPr>
                      <a:r>
                        <a:rPr lang="en-US" sz="1000" dirty="0">
                          <a:solidFill>
                            <a:srgbClr val="0F1F33"/>
                          </a:solidFill>
                          <a:latin typeface="DM Mono" pitchFamily="34" charset="0"/>
                          <a:ea typeface="DM Mono" pitchFamily="34" charset="-122"/>
                          <a:cs typeface="DM Mono" pitchFamily="34" charset="-120"/>
                        </a:rPr>
                        <a:t>Deploy Odyssey App</a:t>
                      </a:r>
                      <a:endParaRPr lang="en-US" sz="1000" dirty="0">
                        <a:latin typeface="DM Mono" charset="0"/>
                        <a:ea typeface="DM Mono" charset="0"/>
                        <a:cs typeface="DM Mono" charset="0"/>
                      </a:endParaRPr>
                    </a:p>
                  </a:txBody>
                  <a:tcPr>
                    <a:lnL w="6350" cap="flat" cmpd="sng" algn="ctr">
                      <a:solidFill>
                        <a:srgbClr val="C8C0B4"/>
                      </a:solidFill>
                      <a:prstDash val="solid"/>
                      <a:round/>
                      <a:headEnd type="none" w="med" len="med"/>
                      <a:tailEnd type="none" w="med" len="med"/>
                    </a:lnL>
                    <a:lnR w="6350" cap="flat" cmpd="sng" algn="ctr">
                      <a:solidFill>
                        <a:srgbClr val="C8C0B4"/>
                      </a:solidFill>
                      <a:prstDash val="solid"/>
                      <a:round/>
                      <a:headEnd type="none" w="med" len="med"/>
                      <a:tailEnd type="none" w="med" len="med"/>
                    </a:lnR>
                    <a:lnT w="6350" cap="flat" cmpd="sng" algn="ctr">
                      <a:solidFill>
                        <a:srgbClr val="C8C0B4"/>
                      </a:solidFill>
                      <a:prstDash val="solid"/>
                      <a:round/>
                      <a:headEnd type="none" w="med" len="med"/>
                      <a:tailEnd type="none" w="med" len="med"/>
                    </a:lnT>
                    <a:lnB w="6350" cap="flat" cmpd="sng" algn="ctr">
                      <a:solidFill>
                        <a:srgbClr val="C8C0B4"/>
                      </a:solidFill>
                      <a:prstDash val="solid"/>
                      <a:round/>
                      <a:headEnd type="none" w="med" len="med"/>
                      <a:tailEnd type="none" w="med" len="med"/>
                    </a:lnB>
                    <a:solidFill>
                      <a:srgbClr val="F5F0E8"/>
                    </a:solidFill>
                  </a:tcPr>
                </a:tc>
                <a:tc>
                  <a:txBody>
                    <a:bodyPr/>
                    <a:lstStyle/>
                    <a:p>
                      <a:pPr marL="0" indent="0">
                        <a:buNone/>
                      </a:pPr>
                      <a:r>
                        <a:rPr lang="en-US" sz="1000" dirty="0">
                          <a:solidFill>
                            <a:srgbClr val="0F1F33"/>
                          </a:solidFill>
                          <a:latin typeface="DM Mono" pitchFamily="34" charset="0"/>
                          <a:ea typeface="DM Mono" pitchFamily="34" charset="-122"/>
                          <a:cs typeface="DM Mono" pitchFamily="34" charset="-120"/>
                        </a:rPr>
                        <a:t>IN_REVIEW</a:t>
                      </a:r>
                      <a:endParaRPr lang="en-US" sz="1000" dirty="0">
                        <a:latin typeface="DM Mono" charset="0"/>
                        <a:ea typeface="DM Mono" charset="0"/>
                        <a:cs typeface="DM Mono" charset="0"/>
                      </a:endParaRPr>
                    </a:p>
                  </a:txBody>
                  <a:tcPr>
                    <a:lnL w="6350" cap="flat" cmpd="sng" algn="ctr">
                      <a:solidFill>
                        <a:srgbClr val="C8C0B4"/>
                      </a:solidFill>
                      <a:prstDash val="solid"/>
                      <a:round/>
                      <a:headEnd type="none" w="med" len="med"/>
                      <a:tailEnd type="none" w="med" len="med"/>
                    </a:lnL>
                    <a:lnR w="6350" cap="flat" cmpd="sng" algn="ctr">
                      <a:solidFill>
                        <a:srgbClr val="C8C0B4"/>
                      </a:solidFill>
                      <a:prstDash val="solid"/>
                      <a:round/>
                      <a:headEnd type="none" w="med" len="med"/>
                      <a:tailEnd type="none" w="med" len="med"/>
                    </a:lnR>
                    <a:lnT w="6350" cap="flat" cmpd="sng" algn="ctr">
                      <a:solidFill>
                        <a:srgbClr val="C8C0B4"/>
                      </a:solidFill>
                      <a:prstDash val="solid"/>
                      <a:round/>
                      <a:headEnd type="none" w="med" len="med"/>
                      <a:tailEnd type="none" w="med" len="med"/>
                    </a:lnT>
                    <a:lnB w="6350" cap="flat" cmpd="sng" algn="ctr">
                      <a:solidFill>
                        <a:srgbClr val="C8C0B4"/>
                      </a:solidFill>
                      <a:prstDash val="solid"/>
                      <a:round/>
                      <a:headEnd type="none" w="med" len="med"/>
                      <a:tailEnd type="none" w="med" len="med"/>
                    </a:lnB>
                    <a:solidFill>
                      <a:srgbClr val="F5F0E8"/>
                    </a:solidFill>
                  </a:tcPr>
                </a:tc>
                <a:tc>
                  <a:txBody>
                    <a:bodyPr/>
                    <a:lstStyle/>
                    <a:p>
                      <a:pPr marL="0" indent="0">
                        <a:buNone/>
                      </a:pPr>
                      <a:r>
                        <a:rPr lang="en-US" sz="1000" dirty="0">
                          <a:solidFill>
                            <a:srgbClr val="0F1F33"/>
                          </a:solidFill>
                          <a:latin typeface="DM Mono" pitchFamily="34" charset="0"/>
                          <a:ea typeface="DM Mono" pitchFamily="34" charset="-122"/>
                          <a:cs typeface="DM Mono" pitchFamily="34" charset="-120"/>
                        </a:rPr>
                        <a:t>75%</a:t>
                      </a:r>
                      <a:endParaRPr lang="en-US" sz="1000" dirty="0">
                        <a:latin typeface="DM Mono" charset="0"/>
                        <a:ea typeface="DM Mono" charset="0"/>
                        <a:cs typeface="DM Mono" charset="0"/>
                      </a:endParaRPr>
                    </a:p>
                  </a:txBody>
                  <a:tcPr>
                    <a:lnL w="6350" cap="flat" cmpd="sng" algn="ctr">
                      <a:solidFill>
                        <a:srgbClr val="C8C0B4"/>
                      </a:solidFill>
                      <a:prstDash val="solid"/>
                      <a:round/>
                      <a:headEnd type="none" w="med" len="med"/>
                      <a:tailEnd type="none" w="med" len="med"/>
                    </a:lnL>
                    <a:lnR w="6350" cap="flat" cmpd="sng" algn="ctr">
                      <a:solidFill>
                        <a:srgbClr val="C8C0B4"/>
                      </a:solidFill>
                      <a:prstDash val="solid"/>
                      <a:round/>
                      <a:headEnd type="none" w="med" len="med"/>
                      <a:tailEnd type="none" w="med" len="med"/>
                    </a:lnR>
                    <a:lnT w="6350" cap="flat" cmpd="sng" algn="ctr">
                      <a:solidFill>
                        <a:srgbClr val="C8C0B4"/>
                      </a:solidFill>
                      <a:prstDash val="solid"/>
                      <a:round/>
                      <a:headEnd type="none" w="med" len="med"/>
                      <a:tailEnd type="none" w="med" len="med"/>
                    </a:lnT>
                    <a:lnB w="6350" cap="flat" cmpd="sng" algn="ctr">
                      <a:solidFill>
                        <a:srgbClr val="C8C0B4"/>
                      </a:solidFill>
                      <a:prstDash val="solid"/>
                      <a:round/>
                      <a:headEnd type="none" w="med" len="med"/>
                      <a:tailEnd type="none" w="med" len="med"/>
                    </a:lnB>
                    <a:solidFill>
                      <a:srgbClr val="F5F0E8"/>
                    </a:solidFill>
                  </a:tcPr>
                </a:tc>
                <a:tc>
                  <a:txBody>
                    <a:bodyPr/>
                    <a:lstStyle/>
                    <a:p>
                      <a:pPr marL="0" indent="0">
                        <a:buNone/>
                      </a:pPr>
                      <a:r>
                        <a:rPr lang="en-US" sz="1000" dirty="0">
                          <a:solidFill>
                            <a:srgbClr val="0F1F33"/>
                          </a:solidFill>
                          <a:latin typeface="DM Mono" pitchFamily="34" charset="0"/>
                          <a:ea typeface="DM Mono" pitchFamily="34" charset="-122"/>
                          <a:cs typeface="DM Mono" pitchFamily="34" charset="-120"/>
                        </a:rPr>
                        <a:t>2026-06-27</a:t>
                      </a:r>
                      <a:endParaRPr lang="en-US" sz="1000" dirty="0">
                        <a:latin typeface="DM Mono" charset="0"/>
                        <a:ea typeface="DM Mono" charset="0"/>
                        <a:cs typeface="DM Mono" charset="0"/>
                      </a:endParaRPr>
                    </a:p>
                  </a:txBody>
                  <a:tcPr>
                    <a:lnL w="6350" cap="flat" cmpd="sng" algn="ctr">
                      <a:solidFill>
                        <a:srgbClr val="C8C0B4"/>
                      </a:solidFill>
                      <a:prstDash val="solid"/>
                      <a:round/>
                      <a:headEnd type="none" w="med" len="med"/>
                      <a:tailEnd type="none" w="med" len="med"/>
                    </a:lnL>
                    <a:lnR w="6350" cap="flat" cmpd="sng" algn="ctr">
                      <a:solidFill>
                        <a:srgbClr val="C8C0B4"/>
                      </a:solidFill>
                      <a:prstDash val="solid"/>
                      <a:round/>
                      <a:headEnd type="none" w="med" len="med"/>
                      <a:tailEnd type="none" w="med" len="med"/>
                    </a:lnR>
                    <a:lnT w="6350" cap="flat" cmpd="sng" algn="ctr">
                      <a:solidFill>
                        <a:srgbClr val="C8C0B4"/>
                      </a:solidFill>
                      <a:prstDash val="solid"/>
                      <a:round/>
                      <a:headEnd type="none" w="med" len="med"/>
                      <a:tailEnd type="none" w="med" len="med"/>
                    </a:lnT>
                    <a:lnB w="6350" cap="flat" cmpd="sng" algn="ctr">
                      <a:solidFill>
                        <a:srgbClr val="C8C0B4"/>
                      </a:solidFill>
                      <a:prstDash val="solid"/>
                      <a:round/>
                      <a:headEnd type="none" w="med" len="med"/>
                      <a:tailEnd type="none" w="med" len="med"/>
                    </a:lnB>
                    <a:solidFill>
                      <a:srgbClr val="F5F0E8"/>
                    </a:solidFill>
                  </a:tcPr>
                </a:tc>
                <a:extLst>
                  <a:ext uri="{0D108BD9-81ED-4DB2-BD59-A6C34878D82A}">
                    <a16:rowId xmlns:a16="http://schemas.microsoft.com/office/drawing/2014/main" val="10003"/>
                  </a:ext>
                </a:extLst>
              </a:tr>
              <a:tr h="329184">
                <a:tc>
                  <a:txBody>
                    <a:bodyPr/>
                    <a:lstStyle/>
                    <a:p>
                      <a:pPr marL="0" indent="0">
                        <a:buNone/>
                      </a:pPr>
                      <a:r>
                        <a:rPr lang="en-US" sz="1000" dirty="0">
                          <a:solidFill>
                            <a:srgbClr val="0F1F33"/>
                          </a:solidFill>
                          <a:latin typeface="DM Mono" pitchFamily="34" charset="0"/>
                          <a:ea typeface="DM Mono" pitchFamily="34" charset="-122"/>
                          <a:cs typeface="DM Mono" pitchFamily="34" charset="-120"/>
                        </a:rPr>
                        <a:t>Onboard GitLab Contributors</a:t>
                      </a:r>
                      <a:endParaRPr lang="en-US" sz="1000" dirty="0">
                        <a:latin typeface="DM Mono" charset="0"/>
                        <a:ea typeface="DM Mono" charset="0"/>
                        <a:cs typeface="DM Mono" charset="0"/>
                      </a:endParaRPr>
                    </a:p>
                  </a:txBody>
                  <a:tcPr>
                    <a:lnL w="6350" cap="flat" cmpd="sng" algn="ctr">
                      <a:solidFill>
                        <a:srgbClr val="C8C0B4"/>
                      </a:solidFill>
                      <a:prstDash val="solid"/>
                      <a:round/>
                      <a:headEnd type="none" w="med" len="med"/>
                      <a:tailEnd type="none" w="med" len="med"/>
                    </a:lnL>
                    <a:lnR w="6350" cap="flat" cmpd="sng" algn="ctr">
                      <a:solidFill>
                        <a:srgbClr val="C8C0B4"/>
                      </a:solidFill>
                      <a:prstDash val="solid"/>
                      <a:round/>
                      <a:headEnd type="none" w="med" len="med"/>
                      <a:tailEnd type="none" w="med" len="med"/>
                    </a:lnR>
                    <a:lnT w="6350" cap="flat" cmpd="sng" algn="ctr">
                      <a:solidFill>
                        <a:srgbClr val="C8C0B4"/>
                      </a:solidFill>
                      <a:prstDash val="solid"/>
                      <a:round/>
                      <a:headEnd type="none" w="med" len="med"/>
                      <a:tailEnd type="none" w="med" len="med"/>
                    </a:lnT>
                    <a:lnB w="6350" cap="flat" cmpd="sng" algn="ctr">
                      <a:solidFill>
                        <a:srgbClr val="C8C0B4"/>
                      </a:solidFill>
                      <a:prstDash val="solid"/>
                      <a:round/>
                      <a:headEnd type="none" w="med" len="med"/>
                      <a:tailEnd type="none" w="med" len="med"/>
                    </a:lnB>
                    <a:solidFill>
                      <a:srgbClr val="ECE7DF"/>
                    </a:solidFill>
                  </a:tcPr>
                </a:tc>
                <a:tc>
                  <a:txBody>
                    <a:bodyPr/>
                    <a:lstStyle/>
                    <a:p>
                      <a:pPr marL="0" indent="0">
                        <a:buNone/>
                      </a:pPr>
                      <a:r>
                        <a:rPr lang="en-US" sz="1000" dirty="0">
                          <a:solidFill>
                            <a:srgbClr val="0F1F33"/>
                          </a:solidFill>
                          <a:latin typeface="DM Mono" pitchFamily="34" charset="0"/>
                          <a:ea typeface="DM Mono" pitchFamily="34" charset="-122"/>
                          <a:cs typeface="DM Mono" pitchFamily="34" charset="-120"/>
                        </a:rPr>
                        <a:t>IN_PROGRESS</a:t>
                      </a:r>
                      <a:endParaRPr lang="en-US" sz="1000" dirty="0">
                        <a:latin typeface="DM Mono" charset="0"/>
                        <a:ea typeface="DM Mono" charset="0"/>
                        <a:cs typeface="DM Mono" charset="0"/>
                      </a:endParaRPr>
                    </a:p>
                  </a:txBody>
                  <a:tcPr>
                    <a:lnL w="6350" cap="flat" cmpd="sng" algn="ctr">
                      <a:solidFill>
                        <a:srgbClr val="C8C0B4"/>
                      </a:solidFill>
                      <a:prstDash val="solid"/>
                      <a:round/>
                      <a:headEnd type="none" w="med" len="med"/>
                      <a:tailEnd type="none" w="med" len="med"/>
                    </a:lnL>
                    <a:lnR w="6350" cap="flat" cmpd="sng" algn="ctr">
                      <a:solidFill>
                        <a:srgbClr val="C8C0B4"/>
                      </a:solidFill>
                      <a:prstDash val="solid"/>
                      <a:round/>
                      <a:headEnd type="none" w="med" len="med"/>
                      <a:tailEnd type="none" w="med" len="med"/>
                    </a:lnR>
                    <a:lnT w="6350" cap="flat" cmpd="sng" algn="ctr">
                      <a:solidFill>
                        <a:srgbClr val="C8C0B4"/>
                      </a:solidFill>
                      <a:prstDash val="solid"/>
                      <a:round/>
                      <a:headEnd type="none" w="med" len="med"/>
                      <a:tailEnd type="none" w="med" len="med"/>
                    </a:lnT>
                    <a:lnB w="6350" cap="flat" cmpd="sng" algn="ctr">
                      <a:solidFill>
                        <a:srgbClr val="C8C0B4"/>
                      </a:solidFill>
                      <a:prstDash val="solid"/>
                      <a:round/>
                      <a:headEnd type="none" w="med" len="med"/>
                      <a:tailEnd type="none" w="med" len="med"/>
                    </a:lnB>
                    <a:solidFill>
                      <a:srgbClr val="ECE7DF"/>
                    </a:solidFill>
                  </a:tcPr>
                </a:tc>
                <a:tc>
                  <a:txBody>
                    <a:bodyPr/>
                    <a:lstStyle/>
                    <a:p>
                      <a:pPr marL="0" indent="0">
                        <a:buNone/>
                      </a:pPr>
                      <a:r>
                        <a:rPr lang="en-US" sz="1000" dirty="0">
                          <a:solidFill>
                            <a:srgbClr val="0F1F33"/>
                          </a:solidFill>
                          <a:latin typeface="DM Mono" pitchFamily="34" charset="0"/>
                          <a:ea typeface="DM Mono" pitchFamily="34" charset="-122"/>
                          <a:cs typeface="DM Mono" pitchFamily="34" charset="-120"/>
                        </a:rPr>
                        <a:t>40%</a:t>
                      </a:r>
                      <a:endParaRPr lang="en-US" sz="1000" dirty="0">
                        <a:latin typeface="DM Mono" charset="0"/>
                        <a:ea typeface="DM Mono" charset="0"/>
                        <a:cs typeface="DM Mono" charset="0"/>
                      </a:endParaRPr>
                    </a:p>
                  </a:txBody>
                  <a:tcPr>
                    <a:lnL w="6350" cap="flat" cmpd="sng" algn="ctr">
                      <a:solidFill>
                        <a:srgbClr val="C8C0B4"/>
                      </a:solidFill>
                      <a:prstDash val="solid"/>
                      <a:round/>
                      <a:headEnd type="none" w="med" len="med"/>
                      <a:tailEnd type="none" w="med" len="med"/>
                    </a:lnL>
                    <a:lnR w="6350" cap="flat" cmpd="sng" algn="ctr">
                      <a:solidFill>
                        <a:srgbClr val="C8C0B4"/>
                      </a:solidFill>
                      <a:prstDash val="solid"/>
                      <a:round/>
                      <a:headEnd type="none" w="med" len="med"/>
                      <a:tailEnd type="none" w="med" len="med"/>
                    </a:lnR>
                    <a:lnT w="6350" cap="flat" cmpd="sng" algn="ctr">
                      <a:solidFill>
                        <a:srgbClr val="C8C0B4"/>
                      </a:solidFill>
                      <a:prstDash val="solid"/>
                      <a:round/>
                      <a:headEnd type="none" w="med" len="med"/>
                      <a:tailEnd type="none" w="med" len="med"/>
                    </a:lnT>
                    <a:lnB w="6350" cap="flat" cmpd="sng" algn="ctr">
                      <a:solidFill>
                        <a:srgbClr val="C8C0B4"/>
                      </a:solidFill>
                      <a:prstDash val="solid"/>
                      <a:round/>
                      <a:headEnd type="none" w="med" len="med"/>
                      <a:tailEnd type="none" w="med" len="med"/>
                    </a:lnB>
                    <a:solidFill>
                      <a:srgbClr val="ECE7DF"/>
                    </a:solidFill>
                  </a:tcPr>
                </a:tc>
                <a:tc>
                  <a:txBody>
                    <a:bodyPr/>
                    <a:lstStyle/>
                    <a:p>
                      <a:pPr marL="0" indent="0">
                        <a:buNone/>
                      </a:pPr>
                      <a:r>
                        <a:rPr lang="en-US" sz="1000" dirty="0">
                          <a:solidFill>
                            <a:srgbClr val="0F1F33"/>
                          </a:solidFill>
                          <a:latin typeface="DM Mono" pitchFamily="34" charset="0"/>
                          <a:ea typeface="DM Mono" pitchFamily="34" charset="-122"/>
                          <a:cs typeface="DM Mono" pitchFamily="34" charset="-120"/>
                        </a:rPr>
                        <a:t>2026-04-30</a:t>
                      </a:r>
                      <a:endParaRPr lang="en-US" sz="1000" dirty="0">
                        <a:latin typeface="DM Mono" charset="0"/>
                        <a:ea typeface="DM Mono" charset="0"/>
                        <a:cs typeface="DM Mono" charset="0"/>
                      </a:endParaRPr>
                    </a:p>
                  </a:txBody>
                  <a:tcPr>
                    <a:lnL w="6350" cap="flat" cmpd="sng" algn="ctr">
                      <a:solidFill>
                        <a:srgbClr val="C8C0B4"/>
                      </a:solidFill>
                      <a:prstDash val="solid"/>
                      <a:round/>
                      <a:headEnd type="none" w="med" len="med"/>
                      <a:tailEnd type="none" w="med" len="med"/>
                    </a:lnL>
                    <a:lnR w="6350" cap="flat" cmpd="sng" algn="ctr">
                      <a:solidFill>
                        <a:srgbClr val="C8C0B4"/>
                      </a:solidFill>
                      <a:prstDash val="solid"/>
                      <a:round/>
                      <a:headEnd type="none" w="med" len="med"/>
                      <a:tailEnd type="none" w="med" len="med"/>
                    </a:lnR>
                    <a:lnT w="6350" cap="flat" cmpd="sng" algn="ctr">
                      <a:solidFill>
                        <a:srgbClr val="C8C0B4"/>
                      </a:solidFill>
                      <a:prstDash val="solid"/>
                      <a:round/>
                      <a:headEnd type="none" w="med" len="med"/>
                      <a:tailEnd type="none" w="med" len="med"/>
                    </a:lnT>
                    <a:lnB w="6350" cap="flat" cmpd="sng" algn="ctr">
                      <a:solidFill>
                        <a:srgbClr val="C8C0B4"/>
                      </a:solidFill>
                      <a:prstDash val="solid"/>
                      <a:round/>
                      <a:headEnd type="none" w="med" len="med"/>
                      <a:tailEnd type="none" w="med" len="med"/>
                    </a:lnB>
                    <a:solidFill>
                      <a:srgbClr val="ECE7DF"/>
                    </a:solidFill>
                  </a:tcPr>
                </a:tc>
                <a:extLst>
                  <a:ext uri="{0D108BD9-81ED-4DB2-BD59-A6C34878D82A}">
                    <a16:rowId xmlns:a16="http://schemas.microsoft.com/office/drawing/2014/main" val="10004"/>
                  </a:ext>
                </a:extLst>
              </a:tr>
              <a:tr h="329184">
                <a:tc>
                  <a:txBody>
                    <a:bodyPr/>
                    <a:lstStyle/>
                    <a:p>
                      <a:pPr marL="0" indent="0">
                        <a:buNone/>
                      </a:pPr>
                      <a:r>
                        <a:rPr lang="en-US" sz="1000" dirty="0">
                          <a:solidFill>
                            <a:srgbClr val="0F1F33"/>
                          </a:solidFill>
                          <a:latin typeface="DM Mono" pitchFamily="34" charset="0"/>
                          <a:ea typeface="DM Mono" pitchFamily="34" charset="-122"/>
                          <a:cs typeface="DM Mono" pitchFamily="34" charset="-120"/>
                        </a:rPr>
                        <a:t>Fix IR Intrinsic Calib.</a:t>
                      </a:r>
                      <a:endParaRPr lang="en-US" sz="1000" dirty="0">
                        <a:latin typeface="DM Mono" charset="0"/>
                        <a:ea typeface="DM Mono" charset="0"/>
                        <a:cs typeface="DM Mono" charset="0"/>
                      </a:endParaRPr>
                    </a:p>
                  </a:txBody>
                  <a:tcPr>
                    <a:lnL w="6350" cap="flat" cmpd="sng" algn="ctr">
                      <a:solidFill>
                        <a:srgbClr val="C8C0B4"/>
                      </a:solidFill>
                      <a:prstDash val="solid"/>
                      <a:round/>
                      <a:headEnd type="none" w="med" len="med"/>
                      <a:tailEnd type="none" w="med" len="med"/>
                    </a:lnL>
                    <a:lnR w="6350" cap="flat" cmpd="sng" algn="ctr">
                      <a:solidFill>
                        <a:srgbClr val="C8C0B4"/>
                      </a:solidFill>
                      <a:prstDash val="solid"/>
                      <a:round/>
                      <a:headEnd type="none" w="med" len="med"/>
                      <a:tailEnd type="none" w="med" len="med"/>
                    </a:lnR>
                    <a:lnT w="6350" cap="flat" cmpd="sng" algn="ctr">
                      <a:solidFill>
                        <a:srgbClr val="C8C0B4"/>
                      </a:solidFill>
                      <a:prstDash val="solid"/>
                      <a:round/>
                      <a:headEnd type="none" w="med" len="med"/>
                      <a:tailEnd type="none" w="med" len="med"/>
                    </a:lnT>
                    <a:lnB w="6350" cap="flat" cmpd="sng" algn="ctr">
                      <a:solidFill>
                        <a:srgbClr val="C8C0B4"/>
                      </a:solidFill>
                      <a:prstDash val="solid"/>
                      <a:round/>
                      <a:headEnd type="none" w="med" len="med"/>
                      <a:tailEnd type="none" w="med" len="med"/>
                    </a:lnB>
                    <a:solidFill>
                      <a:srgbClr val="F5F0E8"/>
                    </a:solidFill>
                  </a:tcPr>
                </a:tc>
                <a:tc>
                  <a:txBody>
                    <a:bodyPr/>
                    <a:lstStyle/>
                    <a:p>
                      <a:pPr marL="0" indent="0">
                        <a:buNone/>
                      </a:pPr>
                      <a:r>
                        <a:rPr lang="en-US" sz="1000" dirty="0">
                          <a:solidFill>
                            <a:srgbClr val="0F1F33"/>
                          </a:solidFill>
                          <a:latin typeface="DM Mono" pitchFamily="34" charset="0"/>
                          <a:ea typeface="DM Mono" pitchFamily="34" charset="-122"/>
                          <a:cs typeface="DM Mono" pitchFamily="34" charset="-120"/>
                        </a:rPr>
                        <a:t>IN_PROGRESS</a:t>
                      </a:r>
                      <a:endParaRPr lang="en-US" sz="1000" dirty="0">
                        <a:latin typeface="DM Mono" charset="0"/>
                        <a:ea typeface="DM Mono" charset="0"/>
                        <a:cs typeface="DM Mono" charset="0"/>
                      </a:endParaRPr>
                    </a:p>
                  </a:txBody>
                  <a:tcPr>
                    <a:lnL w="6350" cap="flat" cmpd="sng" algn="ctr">
                      <a:solidFill>
                        <a:srgbClr val="C8C0B4"/>
                      </a:solidFill>
                      <a:prstDash val="solid"/>
                      <a:round/>
                      <a:headEnd type="none" w="med" len="med"/>
                      <a:tailEnd type="none" w="med" len="med"/>
                    </a:lnL>
                    <a:lnR w="6350" cap="flat" cmpd="sng" algn="ctr">
                      <a:solidFill>
                        <a:srgbClr val="C8C0B4"/>
                      </a:solidFill>
                      <a:prstDash val="solid"/>
                      <a:round/>
                      <a:headEnd type="none" w="med" len="med"/>
                      <a:tailEnd type="none" w="med" len="med"/>
                    </a:lnR>
                    <a:lnT w="6350" cap="flat" cmpd="sng" algn="ctr">
                      <a:solidFill>
                        <a:srgbClr val="C8C0B4"/>
                      </a:solidFill>
                      <a:prstDash val="solid"/>
                      <a:round/>
                      <a:headEnd type="none" w="med" len="med"/>
                      <a:tailEnd type="none" w="med" len="med"/>
                    </a:lnT>
                    <a:lnB w="6350" cap="flat" cmpd="sng" algn="ctr">
                      <a:solidFill>
                        <a:srgbClr val="C8C0B4"/>
                      </a:solidFill>
                      <a:prstDash val="solid"/>
                      <a:round/>
                      <a:headEnd type="none" w="med" len="med"/>
                      <a:tailEnd type="none" w="med" len="med"/>
                    </a:lnB>
                    <a:solidFill>
                      <a:srgbClr val="F5F0E8"/>
                    </a:solidFill>
                  </a:tcPr>
                </a:tc>
                <a:tc>
                  <a:txBody>
                    <a:bodyPr/>
                    <a:lstStyle/>
                    <a:p>
                      <a:pPr marL="0" indent="0">
                        <a:buNone/>
                      </a:pPr>
                      <a:r>
                        <a:rPr lang="en-US" sz="1000" dirty="0">
                          <a:solidFill>
                            <a:srgbClr val="0F1F33"/>
                          </a:solidFill>
                          <a:latin typeface="DM Mono" pitchFamily="34" charset="0"/>
                          <a:ea typeface="DM Mono" pitchFamily="34" charset="-122"/>
                          <a:cs typeface="DM Mono" pitchFamily="34" charset="-120"/>
                        </a:rPr>
                        <a:t>40%</a:t>
                      </a:r>
                      <a:endParaRPr lang="en-US" sz="1000" dirty="0">
                        <a:latin typeface="DM Mono" charset="0"/>
                        <a:ea typeface="DM Mono" charset="0"/>
                        <a:cs typeface="DM Mono" charset="0"/>
                      </a:endParaRPr>
                    </a:p>
                  </a:txBody>
                  <a:tcPr>
                    <a:lnL w="6350" cap="flat" cmpd="sng" algn="ctr">
                      <a:solidFill>
                        <a:srgbClr val="C8C0B4"/>
                      </a:solidFill>
                      <a:prstDash val="solid"/>
                      <a:round/>
                      <a:headEnd type="none" w="med" len="med"/>
                      <a:tailEnd type="none" w="med" len="med"/>
                    </a:lnL>
                    <a:lnR w="6350" cap="flat" cmpd="sng" algn="ctr">
                      <a:solidFill>
                        <a:srgbClr val="C8C0B4"/>
                      </a:solidFill>
                      <a:prstDash val="solid"/>
                      <a:round/>
                      <a:headEnd type="none" w="med" len="med"/>
                      <a:tailEnd type="none" w="med" len="med"/>
                    </a:lnR>
                    <a:lnT w="6350" cap="flat" cmpd="sng" algn="ctr">
                      <a:solidFill>
                        <a:srgbClr val="C8C0B4"/>
                      </a:solidFill>
                      <a:prstDash val="solid"/>
                      <a:round/>
                      <a:headEnd type="none" w="med" len="med"/>
                      <a:tailEnd type="none" w="med" len="med"/>
                    </a:lnT>
                    <a:lnB w="6350" cap="flat" cmpd="sng" algn="ctr">
                      <a:solidFill>
                        <a:srgbClr val="C8C0B4"/>
                      </a:solidFill>
                      <a:prstDash val="solid"/>
                      <a:round/>
                      <a:headEnd type="none" w="med" len="med"/>
                      <a:tailEnd type="none" w="med" len="med"/>
                    </a:lnB>
                    <a:solidFill>
                      <a:srgbClr val="F5F0E8"/>
                    </a:solidFill>
                  </a:tcPr>
                </a:tc>
                <a:tc>
                  <a:txBody>
                    <a:bodyPr/>
                    <a:lstStyle/>
                    <a:p>
                      <a:pPr marL="0" indent="0">
                        <a:buNone/>
                      </a:pPr>
                      <a:r>
                        <a:rPr lang="en-US" sz="1000" dirty="0">
                          <a:solidFill>
                            <a:srgbClr val="0F1F33"/>
                          </a:solidFill>
                          <a:latin typeface="DM Mono" pitchFamily="34" charset="0"/>
                          <a:ea typeface="DM Mono" pitchFamily="34" charset="-122"/>
                          <a:cs typeface="DM Mono" pitchFamily="34" charset="-120"/>
                        </a:rPr>
                        <a:t>2026-05-30</a:t>
                      </a:r>
                      <a:endParaRPr lang="en-US" sz="1000" dirty="0">
                        <a:latin typeface="DM Mono" charset="0"/>
                        <a:ea typeface="DM Mono" charset="0"/>
                        <a:cs typeface="DM Mono" charset="0"/>
                      </a:endParaRPr>
                    </a:p>
                  </a:txBody>
                  <a:tcPr>
                    <a:lnL w="6350" cap="flat" cmpd="sng" algn="ctr">
                      <a:solidFill>
                        <a:srgbClr val="C8C0B4"/>
                      </a:solidFill>
                      <a:prstDash val="solid"/>
                      <a:round/>
                      <a:headEnd type="none" w="med" len="med"/>
                      <a:tailEnd type="none" w="med" len="med"/>
                    </a:lnL>
                    <a:lnR w="6350" cap="flat" cmpd="sng" algn="ctr">
                      <a:solidFill>
                        <a:srgbClr val="C8C0B4"/>
                      </a:solidFill>
                      <a:prstDash val="solid"/>
                      <a:round/>
                      <a:headEnd type="none" w="med" len="med"/>
                      <a:tailEnd type="none" w="med" len="med"/>
                    </a:lnR>
                    <a:lnT w="6350" cap="flat" cmpd="sng" algn="ctr">
                      <a:solidFill>
                        <a:srgbClr val="C8C0B4"/>
                      </a:solidFill>
                      <a:prstDash val="solid"/>
                      <a:round/>
                      <a:headEnd type="none" w="med" len="med"/>
                      <a:tailEnd type="none" w="med" len="med"/>
                    </a:lnT>
                    <a:lnB w="6350" cap="flat" cmpd="sng" algn="ctr">
                      <a:solidFill>
                        <a:srgbClr val="C8C0B4"/>
                      </a:solidFill>
                      <a:prstDash val="solid"/>
                      <a:round/>
                      <a:headEnd type="none" w="med" len="med"/>
                      <a:tailEnd type="none" w="med" len="med"/>
                    </a:lnB>
                    <a:solidFill>
                      <a:srgbClr val="F5F0E8"/>
                    </a:solidFill>
                  </a:tcPr>
                </a:tc>
                <a:extLst>
                  <a:ext uri="{0D108BD9-81ED-4DB2-BD59-A6C34878D82A}">
                    <a16:rowId xmlns:a16="http://schemas.microsoft.com/office/drawing/2014/main" val="10005"/>
                  </a:ext>
                </a:extLst>
              </a:tr>
              <a:tr h="329184">
                <a:tc>
                  <a:txBody>
                    <a:bodyPr/>
                    <a:lstStyle/>
                    <a:p>
                      <a:pPr marL="0" indent="0">
                        <a:buNone/>
                      </a:pPr>
                      <a:r>
                        <a:rPr lang="en-US" sz="1000" dirty="0">
                          <a:solidFill>
                            <a:srgbClr val="0F1F33"/>
                          </a:solidFill>
                          <a:latin typeface="DM Mono" pitchFamily="34" charset="0"/>
                          <a:ea typeface="DM Mono" pitchFamily="34" charset="-122"/>
                          <a:cs typeface="DM Mono" pitchFamily="34" charset="-120"/>
                        </a:rPr>
                        <a:t>Validate IR Calib. (Jetson)</a:t>
                      </a:r>
                      <a:endParaRPr lang="en-US" sz="1000" dirty="0">
                        <a:latin typeface="DM Mono" charset="0"/>
                        <a:ea typeface="DM Mono" charset="0"/>
                        <a:cs typeface="DM Mono" charset="0"/>
                      </a:endParaRPr>
                    </a:p>
                  </a:txBody>
                  <a:tcPr>
                    <a:lnL w="6350" cap="flat" cmpd="sng" algn="ctr">
                      <a:solidFill>
                        <a:srgbClr val="C8C0B4"/>
                      </a:solidFill>
                      <a:prstDash val="solid"/>
                      <a:round/>
                      <a:headEnd type="none" w="med" len="med"/>
                      <a:tailEnd type="none" w="med" len="med"/>
                    </a:lnL>
                    <a:lnR w="6350" cap="flat" cmpd="sng" algn="ctr">
                      <a:solidFill>
                        <a:srgbClr val="C8C0B4"/>
                      </a:solidFill>
                      <a:prstDash val="solid"/>
                      <a:round/>
                      <a:headEnd type="none" w="med" len="med"/>
                      <a:tailEnd type="none" w="med" len="med"/>
                    </a:lnR>
                    <a:lnT w="6350" cap="flat" cmpd="sng" algn="ctr">
                      <a:solidFill>
                        <a:srgbClr val="C8C0B4"/>
                      </a:solidFill>
                      <a:prstDash val="solid"/>
                      <a:round/>
                      <a:headEnd type="none" w="med" len="med"/>
                      <a:tailEnd type="none" w="med" len="med"/>
                    </a:lnT>
                    <a:lnB w="6350" cap="flat" cmpd="sng" algn="ctr">
                      <a:solidFill>
                        <a:srgbClr val="C8C0B4"/>
                      </a:solidFill>
                      <a:prstDash val="solid"/>
                      <a:round/>
                      <a:headEnd type="none" w="med" len="med"/>
                      <a:tailEnd type="none" w="med" len="med"/>
                    </a:lnB>
                    <a:solidFill>
                      <a:srgbClr val="ECE7DF"/>
                    </a:solidFill>
                  </a:tcPr>
                </a:tc>
                <a:tc>
                  <a:txBody>
                    <a:bodyPr/>
                    <a:lstStyle/>
                    <a:p>
                      <a:pPr marL="0" indent="0">
                        <a:buNone/>
                      </a:pPr>
                      <a:r>
                        <a:rPr lang="en-US" sz="1000" dirty="0">
                          <a:solidFill>
                            <a:srgbClr val="0F1F33"/>
                          </a:solidFill>
                          <a:latin typeface="DM Mono" pitchFamily="34" charset="0"/>
                          <a:ea typeface="DM Mono" pitchFamily="34" charset="-122"/>
                          <a:cs typeface="DM Mono" pitchFamily="34" charset="-120"/>
                        </a:rPr>
                        <a:t>IN_PROGRESS</a:t>
                      </a:r>
                      <a:endParaRPr lang="en-US" sz="1000" dirty="0">
                        <a:latin typeface="DM Mono" charset="0"/>
                        <a:ea typeface="DM Mono" charset="0"/>
                        <a:cs typeface="DM Mono" charset="0"/>
                      </a:endParaRPr>
                    </a:p>
                  </a:txBody>
                  <a:tcPr>
                    <a:lnL w="6350" cap="flat" cmpd="sng" algn="ctr">
                      <a:solidFill>
                        <a:srgbClr val="C8C0B4"/>
                      </a:solidFill>
                      <a:prstDash val="solid"/>
                      <a:round/>
                      <a:headEnd type="none" w="med" len="med"/>
                      <a:tailEnd type="none" w="med" len="med"/>
                    </a:lnL>
                    <a:lnR w="6350" cap="flat" cmpd="sng" algn="ctr">
                      <a:solidFill>
                        <a:srgbClr val="C8C0B4"/>
                      </a:solidFill>
                      <a:prstDash val="solid"/>
                      <a:round/>
                      <a:headEnd type="none" w="med" len="med"/>
                      <a:tailEnd type="none" w="med" len="med"/>
                    </a:lnR>
                    <a:lnT w="6350" cap="flat" cmpd="sng" algn="ctr">
                      <a:solidFill>
                        <a:srgbClr val="C8C0B4"/>
                      </a:solidFill>
                      <a:prstDash val="solid"/>
                      <a:round/>
                      <a:headEnd type="none" w="med" len="med"/>
                      <a:tailEnd type="none" w="med" len="med"/>
                    </a:lnT>
                    <a:lnB w="6350" cap="flat" cmpd="sng" algn="ctr">
                      <a:solidFill>
                        <a:srgbClr val="C8C0B4"/>
                      </a:solidFill>
                      <a:prstDash val="solid"/>
                      <a:round/>
                      <a:headEnd type="none" w="med" len="med"/>
                      <a:tailEnd type="none" w="med" len="med"/>
                    </a:lnB>
                    <a:solidFill>
                      <a:srgbClr val="ECE7DF"/>
                    </a:solidFill>
                  </a:tcPr>
                </a:tc>
                <a:tc>
                  <a:txBody>
                    <a:bodyPr/>
                    <a:lstStyle/>
                    <a:p>
                      <a:pPr marL="0" indent="0">
                        <a:buNone/>
                      </a:pPr>
                      <a:r>
                        <a:rPr lang="en-US" sz="1000" dirty="0">
                          <a:solidFill>
                            <a:srgbClr val="0F1F33"/>
                          </a:solidFill>
                          <a:latin typeface="DM Mono" pitchFamily="34" charset="0"/>
                          <a:ea typeface="DM Mono" pitchFamily="34" charset="-122"/>
                          <a:cs typeface="DM Mono" pitchFamily="34" charset="-120"/>
                        </a:rPr>
                        <a:t>40%</a:t>
                      </a:r>
                      <a:endParaRPr lang="en-US" sz="1000" dirty="0">
                        <a:latin typeface="DM Mono" charset="0"/>
                        <a:ea typeface="DM Mono" charset="0"/>
                        <a:cs typeface="DM Mono" charset="0"/>
                      </a:endParaRPr>
                    </a:p>
                  </a:txBody>
                  <a:tcPr>
                    <a:lnL w="6350" cap="flat" cmpd="sng" algn="ctr">
                      <a:solidFill>
                        <a:srgbClr val="C8C0B4"/>
                      </a:solidFill>
                      <a:prstDash val="solid"/>
                      <a:round/>
                      <a:headEnd type="none" w="med" len="med"/>
                      <a:tailEnd type="none" w="med" len="med"/>
                    </a:lnL>
                    <a:lnR w="6350" cap="flat" cmpd="sng" algn="ctr">
                      <a:solidFill>
                        <a:srgbClr val="C8C0B4"/>
                      </a:solidFill>
                      <a:prstDash val="solid"/>
                      <a:round/>
                      <a:headEnd type="none" w="med" len="med"/>
                      <a:tailEnd type="none" w="med" len="med"/>
                    </a:lnR>
                    <a:lnT w="6350" cap="flat" cmpd="sng" algn="ctr">
                      <a:solidFill>
                        <a:srgbClr val="C8C0B4"/>
                      </a:solidFill>
                      <a:prstDash val="solid"/>
                      <a:round/>
                      <a:headEnd type="none" w="med" len="med"/>
                      <a:tailEnd type="none" w="med" len="med"/>
                    </a:lnT>
                    <a:lnB w="6350" cap="flat" cmpd="sng" algn="ctr">
                      <a:solidFill>
                        <a:srgbClr val="C8C0B4"/>
                      </a:solidFill>
                      <a:prstDash val="solid"/>
                      <a:round/>
                      <a:headEnd type="none" w="med" len="med"/>
                      <a:tailEnd type="none" w="med" len="med"/>
                    </a:lnB>
                    <a:solidFill>
                      <a:srgbClr val="ECE7DF"/>
                    </a:solidFill>
                  </a:tcPr>
                </a:tc>
                <a:tc>
                  <a:txBody>
                    <a:bodyPr/>
                    <a:lstStyle/>
                    <a:p>
                      <a:pPr marL="0" indent="0">
                        <a:buNone/>
                      </a:pPr>
                      <a:r>
                        <a:rPr lang="en-US" sz="1000" dirty="0">
                          <a:solidFill>
                            <a:srgbClr val="0F1F33"/>
                          </a:solidFill>
                          <a:latin typeface="DM Mono" pitchFamily="34" charset="0"/>
                          <a:ea typeface="DM Mono" pitchFamily="34" charset="-122"/>
                          <a:cs typeface="DM Mono" pitchFamily="34" charset="-120"/>
                        </a:rPr>
                        <a:t>2026-05-30</a:t>
                      </a:r>
                      <a:endParaRPr lang="en-US" sz="1000" dirty="0">
                        <a:latin typeface="DM Mono" charset="0"/>
                        <a:ea typeface="DM Mono" charset="0"/>
                        <a:cs typeface="DM Mono" charset="0"/>
                      </a:endParaRPr>
                    </a:p>
                  </a:txBody>
                  <a:tcPr>
                    <a:lnL w="6350" cap="flat" cmpd="sng" algn="ctr">
                      <a:solidFill>
                        <a:srgbClr val="C8C0B4"/>
                      </a:solidFill>
                      <a:prstDash val="solid"/>
                      <a:round/>
                      <a:headEnd type="none" w="med" len="med"/>
                      <a:tailEnd type="none" w="med" len="med"/>
                    </a:lnL>
                    <a:lnR w="6350" cap="flat" cmpd="sng" algn="ctr">
                      <a:solidFill>
                        <a:srgbClr val="C8C0B4"/>
                      </a:solidFill>
                      <a:prstDash val="solid"/>
                      <a:round/>
                      <a:headEnd type="none" w="med" len="med"/>
                      <a:tailEnd type="none" w="med" len="med"/>
                    </a:lnR>
                    <a:lnT w="6350" cap="flat" cmpd="sng" algn="ctr">
                      <a:solidFill>
                        <a:srgbClr val="C8C0B4"/>
                      </a:solidFill>
                      <a:prstDash val="solid"/>
                      <a:round/>
                      <a:headEnd type="none" w="med" len="med"/>
                      <a:tailEnd type="none" w="med" len="med"/>
                    </a:lnT>
                    <a:lnB w="6350" cap="flat" cmpd="sng" algn="ctr">
                      <a:solidFill>
                        <a:srgbClr val="C8C0B4"/>
                      </a:solidFill>
                      <a:prstDash val="solid"/>
                      <a:round/>
                      <a:headEnd type="none" w="med" len="med"/>
                      <a:tailEnd type="none" w="med" len="med"/>
                    </a:lnB>
                    <a:solidFill>
                      <a:srgbClr val="ECE7DF"/>
                    </a:solidFill>
                  </a:tcPr>
                </a:tc>
                <a:extLst>
                  <a:ext uri="{0D108BD9-81ED-4DB2-BD59-A6C34878D82A}">
                    <a16:rowId xmlns:a16="http://schemas.microsoft.com/office/drawing/2014/main" val="10006"/>
                  </a:ext>
                </a:extLst>
              </a:tr>
              <a:tr h="329184">
                <a:tc>
                  <a:txBody>
                    <a:bodyPr/>
                    <a:lstStyle/>
                    <a:p>
                      <a:pPr marL="0" indent="0">
                        <a:buNone/>
                      </a:pPr>
                      <a:r>
                        <a:rPr lang="en-US" sz="1000" dirty="0">
                          <a:solidFill>
                            <a:srgbClr val="0F1F33"/>
                          </a:solidFill>
                          <a:latin typeface="DM Mono" pitchFamily="34" charset="0"/>
                          <a:ea typeface="DM Mono" pitchFamily="34" charset="-122"/>
                          <a:cs typeface="DM Mono" pitchFamily="34" charset="-120"/>
                        </a:rPr>
                        <a:t>Benchmark IR YOLO Metrics</a:t>
                      </a:r>
                      <a:endParaRPr lang="en-US" sz="1000" dirty="0">
                        <a:latin typeface="DM Mono" charset="0"/>
                        <a:ea typeface="DM Mono" charset="0"/>
                        <a:cs typeface="DM Mono" charset="0"/>
                      </a:endParaRPr>
                    </a:p>
                  </a:txBody>
                  <a:tcPr>
                    <a:lnL w="6350" cap="flat" cmpd="sng" algn="ctr">
                      <a:solidFill>
                        <a:srgbClr val="C8C0B4"/>
                      </a:solidFill>
                      <a:prstDash val="solid"/>
                      <a:round/>
                      <a:headEnd type="none" w="med" len="med"/>
                      <a:tailEnd type="none" w="med" len="med"/>
                    </a:lnL>
                    <a:lnR w="6350" cap="flat" cmpd="sng" algn="ctr">
                      <a:solidFill>
                        <a:srgbClr val="C8C0B4"/>
                      </a:solidFill>
                      <a:prstDash val="solid"/>
                      <a:round/>
                      <a:headEnd type="none" w="med" len="med"/>
                      <a:tailEnd type="none" w="med" len="med"/>
                    </a:lnR>
                    <a:lnT w="6350" cap="flat" cmpd="sng" algn="ctr">
                      <a:solidFill>
                        <a:srgbClr val="C8C0B4"/>
                      </a:solidFill>
                      <a:prstDash val="solid"/>
                      <a:round/>
                      <a:headEnd type="none" w="med" len="med"/>
                      <a:tailEnd type="none" w="med" len="med"/>
                    </a:lnT>
                    <a:lnB w="6350" cap="flat" cmpd="sng" algn="ctr">
                      <a:solidFill>
                        <a:srgbClr val="C8C0B4"/>
                      </a:solidFill>
                      <a:prstDash val="solid"/>
                      <a:round/>
                      <a:headEnd type="none" w="med" len="med"/>
                      <a:tailEnd type="none" w="med" len="med"/>
                    </a:lnB>
                    <a:solidFill>
                      <a:srgbClr val="F5F0E8"/>
                    </a:solidFill>
                  </a:tcPr>
                </a:tc>
                <a:tc>
                  <a:txBody>
                    <a:bodyPr/>
                    <a:lstStyle/>
                    <a:p>
                      <a:pPr marL="0" indent="0">
                        <a:buNone/>
                      </a:pPr>
                      <a:r>
                        <a:rPr lang="en-US" sz="1000" dirty="0">
                          <a:solidFill>
                            <a:srgbClr val="0F1F33"/>
                          </a:solidFill>
                          <a:latin typeface="DM Mono" pitchFamily="34" charset="0"/>
                          <a:ea typeface="DM Mono" pitchFamily="34" charset="-122"/>
                          <a:cs typeface="DM Mono" pitchFamily="34" charset="-120"/>
                        </a:rPr>
                        <a:t>IN_PROGRESS</a:t>
                      </a:r>
                      <a:endParaRPr lang="en-US" sz="1000" dirty="0">
                        <a:latin typeface="DM Mono" charset="0"/>
                        <a:ea typeface="DM Mono" charset="0"/>
                        <a:cs typeface="DM Mono" charset="0"/>
                      </a:endParaRPr>
                    </a:p>
                  </a:txBody>
                  <a:tcPr>
                    <a:lnL w="6350" cap="flat" cmpd="sng" algn="ctr">
                      <a:solidFill>
                        <a:srgbClr val="C8C0B4"/>
                      </a:solidFill>
                      <a:prstDash val="solid"/>
                      <a:round/>
                      <a:headEnd type="none" w="med" len="med"/>
                      <a:tailEnd type="none" w="med" len="med"/>
                    </a:lnL>
                    <a:lnR w="6350" cap="flat" cmpd="sng" algn="ctr">
                      <a:solidFill>
                        <a:srgbClr val="C8C0B4"/>
                      </a:solidFill>
                      <a:prstDash val="solid"/>
                      <a:round/>
                      <a:headEnd type="none" w="med" len="med"/>
                      <a:tailEnd type="none" w="med" len="med"/>
                    </a:lnR>
                    <a:lnT w="6350" cap="flat" cmpd="sng" algn="ctr">
                      <a:solidFill>
                        <a:srgbClr val="C8C0B4"/>
                      </a:solidFill>
                      <a:prstDash val="solid"/>
                      <a:round/>
                      <a:headEnd type="none" w="med" len="med"/>
                      <a:tailEnd type="none" w="med" len="med"/>
                    </a:lnT>
                    <a:lnB w="6350" cap="flat" cmpd="sng" algn="ctr">
                      <a:solidFill>
                        <a:srgbClr val="C8C0B4"/>
                      </a:solidFill>
                      <a:prstDash val="solid"/>
                      <a:round/>
                      <a:headEnd type="none" w="med" len="med"/>
                      <a:tailEnd type="none" w="med" len="med"/>
                    </a:lnB>
                    <a:solidFill>
                      <a:srgbClr val="F5F0E8"/>
                    </a:solidFill>
                  </a:tcPr>
                </a:tc>
                <a:tc>
                  <a:txBody>
                    <a:bodyPr/>
                    <a:lstStyle/>
                    <a:p>
                      <a:pPr marL="0" indent="0">
                        <a:buNone/>
                      </a:pPr>
                      <a:r>
                        <a:rPr lang="en-US" sz="1000" dirty="0">
                          <a:solidFill>
                            <a:srgbClr val="0F1F33"/>
                          </a:solidFill>
                          <a:latin typeface="DM Mono" pitchFamily="34" charset="0"/>
                          <a:ea typeface="DM Mono" pitchFamily="34" charset="-122"/>
                          <a:cs typeface="DM Mono" pitchFamily="34" charset="-120"/>
                        </a:rPr>
                        <a:t>40%</a:t>
                      </a:r>
                      <a:endParaRPr lang="en-US" sz="1000" dirty="0">
                        <a:latin typeface="DM Mono" charset="0"/>
                        <a:ea typeface="DM Mono" charset="0"/>
                        <a:cs typeface="DM Mono" charset="0"/>
                      </a:endParaRPr>
                    </a:p>
                  </a:txBody>
                  <a:tcPr>
                    <a:lnL w="6350" cap="flat" cmpd="sng" algn="ctr">
                      <a:solidFill>
                        <a:srgbClr val="C8C0B4"/>
                      </a:solidFill>
                      <a:prstDash val="solid"/>
                      <a:round/>
                      <a:headEnd type="none" w="med" len="med"/>
                      <a:tailEnd type="none" w="med" len="med"/>
                    </a:lnL>
                    <a:lnR w="6350" cap="flat" cmpd="sng" algn="ctr">
                      <a:solidFill>
                        <a:srgbClr val="C8C0B4"/>
                      </a:solidFill>
                      <a:prstDash val="solid"/>
                      <a:round/>
                      <a:headEnd type="none" w="med" len="med"/>
                      <a:tailEnd type="none" w="med" len="med"/>
                    </a:lnR>
                    <a:lnT w="6350" cap="flat" cmpd="sng" algn="ctr">
                      <a:solidFill>
                        <a:srgbClr val="C8C0B4"/>
                      </a:solidFill>
                      <a:prstDash val="solid"/>
                      <a:round/>
                      <a:headEnd type="none" w="med" len="med"/>
                      <a:tailEnd type="none" w="med" len="med"/>
                    </a:lnT>
                    <a:lnB w="6350" cap="flat" cmpd="sng" algn="ctr">
                      <a:solidFill>
                        <a:srgbClr val="C8C0B4"/>
                      </a:solidFill>
                      <a:prstDash val="solid"/>
                      <a:round/>
                      <a:headEnd type="none" w="med" len="med"/>
                      <a:tailEnd type="none" w="med" len="med"/>
                    </a:lnB>
                    <a:solidFill>
                      <a:srgbClr val="F5F0E8"/>
                    </a:solidFill>
                  </a:tcPr>
                </a:tc>
                <a:tc>
                  <a:txBody>
                    <a:bodyPr/>
                    <a:lstStyle/>
                    <a:p>
                      <a:pPr marL="0" indent="0">
                        <a:buNone/>
                      </a:pPr>
                      <a:r>
                        <a:rPr lang="en-US" sz="1000" dirty="0">
                          <a:solidFill>
                            <a:srgbClr val="0F1F33"/>
                          </a:solidFill>
                          <a:latin typeface="DM Mono" pitchFamily="34" charset="0"/>
                          <a:ea typeface="DM Mono" pitchFamily="34" charset="-122"/>
                          <a:cs typeface="DM Mono" pitchFamily="34" charset="-120"/>
                        </a:rPr>
                        <a:t>2026-05-30</a:t>
                      </a:r>
                      <a:endParaRPr lang="en-US" sz="1000" dirty="0">
                        <a:latin typeface="DM Mono" charset="0"/>
                        <a:ea typeface="DM Mono" charset="0"/>
                        <a:cs typeface="DM Mono" charset="0"/>
                      </a:endParaRPr>
                    </a:p>
                  </a:txBody>
                  <a:tcPr>
                    <a:lnL w="6350" cap="flat" cmpd="sng" algn="ctr">
                      <a:solidFill>
                        <a:srgbClr val="C8C0B4"/>
                      </a:solidFill>
                      <a:prstDash val="solid"/>
                      <a:round/>
                      <a:headEnd type="none" w="med" len="med"/>
                      <a:tailEnd type="none" w="med" len="med"/>
                    </a:lnL>
                    <a:lnR w="6350" cap="flat" cmpd="sng" algn="ctr">
                      <a:solidFill>
                        <a:srgbClr val="C8C0B4"/>
                      </a:solidFill>
                      <a:prstDash val="solid"/>
                      <a:round/>
                      <a:headEnd type="none" w="med" len="med"/>
                      <a:tailEnd type="none" w="med" len="med"/>
                    </a:lnR>
                    <a:lnT w="6350" cap="flat" cmpd="sng" algn="ctr">
                      <a:solidFill>
                        <a:srgbClr val="C8C0B4"/>
                      </a:solidFill>
                      <a:prstDash val="solid"/>
                      <a:round/>
                      <a:headEnd type="none" w="med" len="med"/>
                      <a:tailEnd type="none" w="med" len="med"/>
                    </a:lnT>
                    <a:lnB w="6350" cap="flat" cmpd="sng" algn="ctr">
                      <a:solidFill>
                        <a:srgbClr val="C8C0B4"/>
                      </a:solidFill>
                      <a:prstDash val="solid"/>
                      <a:round/>
                      <a:headEnd type="none" w="med" len="med"/>
                      <a:tailEnd type="none" w="med" len="med"/>
                    </a:lnB>
                    <a:solidFill>
                      <a:srgbClr val="F5F0E8"/>
                    </a:solidFill>
                  </a:tcPr>
                </a:tc>
                <a:extLst>
                  <a:ext uri="{0D108BD9-81ED-4DB2-BD59-A6C34878D82A}">
                    <a16:rowId xmlns:a16="http://schemas.microsoft.com/office/drawing/2014/main" val="10007"/>
                  </a:ext>
                </a:extLst>
              </a:tr>
              <a:tr h="329184">
                <a:tc>
                  <a:txBody>
                    <a:bodyPr/>
                    <a:lstStyle/>
                    <a:p>
                      <a:pPr marL="0" indent="0">
                        <a:buNone/>
                      </a:pPr>
                      <a:r>
                        <a:rPr lang="en-US" sz="1000" dirty="0">
                          <a:solidFill>
                            <a:srgbClr val="0F1F33"/>
                          </a:solidFill>
                          <a:latin typeface="DM Mono" pitchFamily="34" charset="0"/>
                          <a:ea typeface="DM Mono" pitchFamily="34" charset="-122"/>
                          <a:cs typeface="DM Mono" pitchFamily="34" charset="-120"/>
                        </a:rPr>
                        <a:t>Add DT GitLab Contributors</a:t>
                      </a:r>
                      <a:endParaRPr lang="en-US" sz="1000" dirty="0">
                        <a:latin typeface="DM Mono" charset="0"/>
                        <a:ea typeface="DM Mono" charset="0"/>
                        <a:cs typeface="DM Mono" charset="0"/>
                      </a:endParaRPr>
                    </a:p>
                  </a:txBody>
                  <a:tcPr>
                    <a:lnL w="6350" cap="flat" cmpd="sng" algn="ctr">
                      <a:solidFill>
                        <a:srgbClr val="C8C0B4"/>
                      </a:solidFill>
                      <a:prstDash val="solid"/>
                      <a:round/>
                      <a:headEnd type="none" w="med" len="med"/>
                      <a:tailEnd type="none" w="med" len="med"/>
                    </a:lnL>
                    <a:lnR w="6350" cap="flat" cmpd="sng" algn="ctr">
                      <a:solidFill>
                        <a:srgbClr val="C8C0B4"/>
                      </a:solidFill>
                      <a:prstDash val="solid"/>
                      <a:round/>
                      <a:headEnd type="none" w="med" len="med"/>
                      <a:tailEnd type="none" w="med" len="med"/>
                    </a:lnR>
                    <a:lnT w="6350" cap="flat" cmpd="sng" algn="ctr">
                      <a:solidFill>
                        <a:srgbClr val="C8C0B4"/>
                      </a:solidFill>
                      <a:prstDash val="solid"/>
                      <a:round/>
                      <a:headEnd type="none" w="med" len="med"/>
                      <a:tailEnd type="none" w="med" len="med"/>
                    </a:lnT>
                    <a:lnB w="6350" cap="flat" cmpd="sng" algn="ctr">
                      <a:solidFill>
                        <a:srgbClr val="C8C0B4"/>
                      </a:solidFill>
                      <a:prstDash val="solid"/>
                      <a:round/>
                      <a:headEnd type="none" w="med" len="med"/>
                      <a:tailEnd type="none" w="med" len="med"/>
                    </a:lnB>
                    <a:solidFill>
                      <a:srgbClr val="ECE7DF"/>
                    </a:solidFill>
                  </a:tcPr>
                </a:tc>
                <a:tc>
                  <a:txBody>
                    <a:bodyPr/>
                    <a:lstStyle/>
                    <a:p>
                      <a:pPr marL="0" indent="0">
                        <a:buNone/>
                      </a:pPr>
                      <a:r>
                        <a:rPr lang="en-US" sz="1000" dirty="0">
                          <a:solidFill>
                            <a:srgbClr val="0F1F33"/>
                          </a:solidFill>
                          <a:latin typeface="DM Mono" pitchFamily="34" charset="0"/>
                          <a:ea typeface="DM Mono" pitchFamily="34" charset="-122"/>
                          <a:cs typeface="DM Mono" pitchFamily="34" charset="-120"/>
                        </a:rPr>
                        <a:t>NOT_STARTED</a:t>
                      </a:r>
                      <a:endParaRPr lang="en-US" sz="1000" dirty="0">
                        <a:latin typeface="DM Mono" charset="0"/>
                        <a:ea typeface="DM Mono" charset="0"/>
                        <a:cs typeface="DM Mono" charset="0"/>
                      </a:endParaRPr>
                    </a:p>
                  </a:txBody>
                  <a:tcPr>
                    <a:lnL w="6350" cap="flat" cmpd="sng" algn="ctr">
                      <a:solidFill>
                        <a:srgbClr val="C8C0B4"/>
                      </a:solidFill>
                      <a:prstDash val="solid"/>
                      <a:round/>
                      <a:headEnd type="none" w="med" len="med"/>
                      <a:tailEnd type="none" w="med" len="med"/>
                    </a:lnL>
                    <a:lnR w="6350" cap="flat" cmpd="sng" algn="ctr">
                      <a:solidFill>
                        <a:srgbClr val="C8C0B4"/>
                      </a:solidFill>
                      <a:prstDash val="solid"/>
                      <a:round/>
                      <a:headEnd type="none" w="med" len="med"/>
                      <a:tailEnd type="none" w="med" len="med"/>
                    </a:lnR>
                    <a:lnT w="6350" cap="flat" cmpd="sng" algn="ctr">
                      <a:solidFill>
                        <a:srgbClr val="C8C0B4"/>
                      </a:solidFill>
                      <a:prstDash val="solid"/>
                      <a:round/>
                      <a:headEnd type="none" w="med" len="med"/>
                      <a:tailEnd type="none" w="med" len="med"/>
                    </a:lnT>
                    <a:lnB w="6350" cap="flat" cmpd="sng" algn="ctr">
                      <a:solidFill>
                        <a:srgbClr val="C8C0B4"/>
                      </a:solidFill>
                      <a:prstDash val="solid"/>
                      <a:round/>
                      <a:headEnd type="none" w="med" len="med"/>
                      <a:tailEnd type="none" w="med" len="med"/>
                    </a:lnB>
                    <a:solidFill>
                      <a:srgbClr val="ECE7DF"/>
                    </a:solidFill>
                  </a:tcPr>
                </a:tc>
                <a:tc>
                  <a:txBody>
                    <a:bodyPr/>
                    <a:lstStyle/>
                    <a:p>
                      <a:pPr marL="0" indent="0">
                        <a:buNone/>
                      </a:pPr>
                      <a:r>
                        <a:rPr lang="en-US" sz="1000" dirty="0">
                          <a:solidFill>
                            <a:srgbClr val="0F1F33"/>
                          </a:solidFill>
                          <a:latin typeface="DM Mono" pitchFamily="34" charset="0"/>
                          <a:ea typeface="DM Mono" pitchFamily="34" charset="-122"/>
                          <a:cs typeface="DM Mono" pitchFamily="34" charset="-120"/>
                        </a:rPr>
                        <a:t>0%</a:t>
                      </a:r>
                      <a:endParaRPr lang="en-US" sz="1000" dirty="0">
                        <a:latin typeface="DM Mono" charset="0"/>
                        <a:ea typeface="DM Mono" charset="0"/>
                        <a:cs typeface="DM Mono" charset="0"/>
                      </a:endParaRPr>
                    </a:p>
                  </a:txBody>
                  <a:tcPr>
                    <a:lnL w="6350" cap="flat" cmpd="sng" algn="ctr">
                      <a:solidFill>
                        <a:srgbClr val="C8C0B4"/>
                      </a:solidFill>
                      <a:prstDash val="solid"/>
                      <a:round/>
                      <a:headEnd type="none" w="med" len="med"/>
                      <a:tailEnd type="none" w="med" len="med"/>
                    </a:lnL>
                    <a:lnR w="6350" cap="flat" cmpd="sng" algn="ctr">
                      <a:solidFill>
                        <a:srgbClr val="C8C0B4"/>
                      </a:solidFill>
                      <a:prstDash val="solid"/>
                      <a:round/>
                      <a:headEnd type="none" w="med" len="med"/>
                      <a:tailEnd type="none" w="med" len="med"/>
                    </a:lnR>
                    <a:lnT w="6350" cap="flat" cmpd="sng" algn="ctr">
                      <a:solidFill>
                        <a:srgbClr val="C8C0B4"/>
                      </a:solidFill>
                      <a:prstDash val="solid"/>
                      <a:round/>
                      <a:headEnd type="none" w="med" len="med"/>
                      <a:tailEnd type="none" w="med" len="med"/>
                    </a:lnT>
                    <a:lnB w="6350" cap="flat" cmpd="sng" algn="ctr">
                      <a:solidFill>
                        <a:srgbClr val="C8C0B4"/>
                      </a:solidFill>
                      <a:prstDash val="solid"/>
                      <a:round/>
                      <a:headEnd type="none" w="med" len="med"/>
                      <a:tailEnd type="none" w="med" len="med"/>
                    </a:lnB>
                    <a:solidFill>
                      <a:srgbClr val="ECE7DF"/>
                    </a:solidFill>
                  </a:tcPr>
                </a:tc>
                <a:tc>
                  <a:txBody>
                    <a:bodyPr/>
                    <a:lstStyle/>
                    <a:p>
                      <a:pPr marL="0" indent="0">
                        <a:buNone/>
                      </a:pPr>
                      <a:r>
                        <a:rPr lang="en-US" sz="1000" dirty="0">
                          <a:solidFill>
                            <a:srgbClr val="0F1F33"/>
                          </a:solidFill>
                          <a:latin typeface="DM Mono" pitchFamily="34" charset="0"/>
                          <a:ea typeface="DM Mono" pitchFamily="34" charset="-122"/>
                          <a:cs typeface="DM Mono" pitchFamily="34" charset="-120"/>
                        </a:rPr>
                        <a:t>2026-04-30</a:t>
                      </a:r>
                      <a:endParaRPr lang="en-US" sz="1000" dirty="0">
                        <a:latin typeface="DM Mono" charset="0"/>
                        <a:ea typeface="DM Mono" charset="0"/>
                        <a:cs typeface="DM Mono" charset="0"/>
                      </a:endParaRPr>
                    </a:p>
                  </a:txBody>
                  <a:tcPr>
                    <a:lnL w="6350" cap="flat" cmpd="sng" algn="ctr">
                      <a:solidFill>
                        <a:srgbClr val="C8C0B4"/>
                      </a:solidFill>
                      <a:prstDash val="solid"/>
                      <a:round/>
                      <a:headEnd type="none" w="med" len="med"/>
                      <a:tailEnd type="none" w="med" len="med"/>
                    </a:lnL>
                    <a:lnR w="6350" cap="flat" cmpd="sng" algn="ctr">
                      <a:solidFill>
                        <a:srgbClr val="C8C0B4"/>
                      </a:solidFill>
                      <a:prstDash val="solid"/>
                      <a:round/>
                      <a:headEnd type="none" w="med" len="med"/>
                      <a:tailEnd type="none" w="med" len="med"/>
                    </a:lnR>
                    <a:lnT w="6350" cap="flat" cmpd="sng" algn="ctr">
                      <a:solidFill>
                        <a:srgbClr val="C8C0B4"/>
                      </a:solidFill>
                      <a:prstDash val="solid"/>
                      <a:round/>
                      <a:headEnd type="none" w="med" len="med"/>
                      <a:tailEnd type="none" w="med" len="med"/>
                    </a:lnT>
                    <a:lnB w="6350" cap="flat" cmpd="sng" algn="ctr">
                      <a:solidFill>
                        <a:srgbClr val="C8C0B4"/>
                      </a:solidFill>
                      <a:prstDash val="solid"/>
                      <a:round/>
                      <a:headEnd type="none" w="med" len="med"/>
                      <a:tailEnd type="none" w="med" len="med"/>
                    </a:lnB>
                    <a:solidFill>
                      <a:srgbClr val="ECE7DF"/>
                    </a:solidFill>
                  </a:tcPr>
                </a:tc>
                <a:extLst>
                  <a:ext uri="{0D108BD9-81ED-4DB2-BD59-A6C34878D82A}">
                    <a16:rowId xmlns:a16="http://schemas.microsoft.com/office/drawing/2014/main" val="10008"/>
                  </a:ext>
                </a:extLst>
              </a:tr>
              <a:tr h="329184">
                <a:tc>
                  <a:txBody>
                    <a:bodyPr/>
                    <a:lstStyle/>
                    <a:p>
                      <a:pPr marL="0" indent="0">
                        <a:buNone/>
                      </a:pPr>
                      <a:r>
                        <a:rPr lang="en-US" sz="1000" dirty="0">
                          <a:solidFill>
                            <a:srgbClr val="0F1F33"/>
                          </a:solidFill>
                          <a:latin typeface="DM Mono" pitchFamily="34" charset="0"/>
                          <a:ea typeface="DM Mono" pitchFamily="34" charset="-122"/>
                          <a:cs typeface="DM Mono" pitchFamily="34" charset="-120"/>
                        </a:rPr>
                        <a:t>Install IR Suite (Jetson)</a:t>
                      </a:r>
                      <a:endParaRPr lang="en-US" sz="1000" dirty="0">
                        <a:latin typeface="DM Mono" charset="0"/>
                        <a:ea typeface="DM Mono" charset="0"/>
                        <a:cs typeface="DM Mono" charset="0"/>
                      </a:endParaRPr>
                    </a:p>
                  </a:txBody>
                  <a:tcPr>
                    <a:lnL w="6350" cap="flat" cmpd="sng" algn="ctr">
                      <a:solidFill>
                        <a:srgbClr val="C8C0B4"/>
                      </a:solidFill>
                      <a:prstDash val="solid"/>
                      <a:round/>
                      <a:headEnd type="none" w="med" len="med"/>
                      <a:tailEnd type="none" w="med" len="med"/>
                    </a:lnL>
                    <a:lnR w="6350" cap="flat" cmpd="sng" algn="ctr">
                      <a:solidFill>
                        <a:srgbClr val="C8C0B4"/>
                      </a:solidFill>
                      <a:prstDash val="solid"/>
                      <a:round/>
                      <a:headEnd type="none" w="med" len="med"/>
                      <a:tailEnd type="none" w="med" len="med"/>
                    </a:lnR>
                    <a:lnT w="6350" cap="flat" cmpd="sng" algn="ctr">
                      <a:solidFill>
                        <a:srgbClr val="C8C0B4"/>
                      </a:solidFill>
                      <a:prstDash val="solid"/>
                      <a:round/>
                      <a:headEnd type="none" w="med" len="med"/>
                      <a:tailEnd type="none" w="med" len="med"/>
                    </a:lnT>
                    <a:lnB w="6350" cap="flat" cmpd="sng" algn="ctr">
                      <a:solidFill>
                        <a:srgbClr val="C8C0B4"/>
                      </a:solidFill>
                      <a:prstDash val="solid"/>
                      <a:round/>
                      <a:headEnd type="none" w="med" len="med"/>
                      <a:tailEnd type="none" w="med" len="med"/>
                    </a:lnB>
                    <a:solidFill>
                      <a:srgbClr val="F5F0E8"/>
                    </a:solidFill>
                  </a:tcPr>
                </a:tc>
                <a:tc>
                  <a:txBody>
                    <a:bodyPr/>
                    <a:lstStyle/>
                    <a:p>
                      <a:pPr marL="0" indent="0">
                        <a:buNone/>
                      </a:pPr>
                      <a:r>
                        <a:rPr lang="en-US" sz="1000" dirty="0">
                          <a:solidFill>
                            <a:srgbClr val="0F1F33"/>
                          </a:solidFill>
                          <a:latin typeface="DM Mono" pitchFamily="34" charset="0"/>
                          <a:ea typeface="DM Mono" pitchFamily="34" charset="-122"/>
                          <a:cs typeface="DM Mono" pitchFamily="34" charset="-120"/>
                        </a:rPr>
                        <a:t>NOT_STARTED</a:t>
                      </a:r>
                      <a:endParaRPr lang="en-US" sz="1000" dirty="0">
                        <a:latin typeface="DM Mono" charset="0"/>
                        <a:ea typeface="DM Mono" charset="0"/>
                        <a:cs typeface="DM Mono" charset="0"/>
                      </a:endParaRPr>
                    </a:p>
                  </a:txBody>
                  <a:tcPr>
                    <a:lnL w="6350" cap="flat" cmpd="sng" algn="ctr">
                      <a:solidFill>
                        <a:srgbClr val="C8C0B4"/>
                      </a:solidFill>
                      <a:prstDash val="solid"/>
                      <a:round/>
                      <a:headEnd type="none" w="med" len="med"/>
                      <a:tailEnd type="none" w="med" len="med"/>
                    </a:lnL>
                    <a:lnR w="6350" cap="flat" cmpd="sng" algn="ctr">
                      <a:solidFill>
                        <a:srgbClr val="C8C0B4"/>
                      </a:solidFill>
                      <a:prstDash val="solid"/>
                      <a:round/>
                      <a:headEnd type="none" w="med" len="med"/>
                      <a:tailEnd type="none" w="med" len="med"/>
                    </a:lnR>
                    <a:lnT w="6350" cap="flat" cmpd="sng" algn="ctr">
                      <a:solidFill>
                        <a:srgbClr val="C8C0B4"/>
                      </a:solidFill>
                      <a:prstDash val="solid"/>
                      <a:round/>
                      <a:headEnd type="none" w="med" len="med"/>
                      <a:tailEnd type="none" w="med" len="med"/>
                    </a:lnT>
                    <a:lnB w="6350" cap="flat" cmpd="sng" algn="ctr">
                      <a:solidFill>
                        <a:srgbClr val="C8C0B4"/>
                      </a:solidFill>
                      <a:prstDash val="solid"/>
                      <a:round/>
                      <a:headEnd type="none" w="med" len="med"/>
                      <a:tailEnd type="none" w="med" len="med"/>
                    </a:lnB>
                    <a:solidFill>
                      <a:srgbClr val="F5F0E8"/>
                    </a:solidFill>
                  </a:tcPr>
                </a:tc>
                <a:tc>
                  <a:txBody>
                    <a:bodyPr/>
                    <a:lstStyle/>
                    <a:p>
                      <a:pPr marL="0" indent="0">
                        <a:buNone/>
                      </a:pPr>
                      <a:r>
                        <a:rPr lang="en-US" sz="1000" dirty="0">
                          <a:solidFill>
                            <a:srgbClr val="0F1F33"/>
                          </a:solidFill>
                          <a:latin typeface="DM Mono" pitchFamily="34" charset="0"/>
                          <a:ea typeface="DM Mono" pitchFamily="34" charset="-122"/>
                          <a:cs typeface="DM Mono" pitchFamily="34" charset="-120"/>
                        </a:rPr>
                        <a:t>0%</a:t>
                      </a:r>
                      <a:endParaRPr lang="en-US" sz="1000" dirty="0">
                        <a:latin typeface="DM Mono" charset="0"/>
                        <a:ea typeface="DM Mono" charset="0"/>
                        <a:cs typeface="DM Mono" charset="0"/>
                      </a:endParaRPr>
                    </a:p>
                  </a:txBody>
                  <a:tcPr>
                    <a:lnL w="6350" cap="flat" cmpd="sng" algn="ctr">
                      <a:solidFill>
                        <a:srgbClr val="C8C0B4"/>
                      </a:solidFill>
                      <a:prstDash val="solid"/>
                      <a:round/>
                      <a:headEnd type="none" w="med" len="med"/>
                      <a:tailEnd type="none" w="med" len="med"/>
                    </a:lnL>
                    <a:lnR w="6350" cap="flat" cmpd="sng" algn="ctr">
                      <a:solidFill>
                        <a:srgbClr val="C8C0B4"/>
                      </a:solidFill>
                      <a:prstDash val="solid"/>
                      <a:round/>
                      <a:headEnd type="none" w="med" len="med"/>
                      <a:tailEnd type="none" w="med" len="med"/>
                    </a:lnR>
                    <a:lnT w="6350" cap="flat" cmpd="sng" algn="ctr">
                      <a:solidFill>
                        <a:srgbClr val="C8C0B4"/>
                      </a:solidFill>
                      <a:prstDash val="solid"/>
                      <a:round/>
                      <a:headEnd type="none" w="med" len="med"/>
                      <a:tailEnd type="none" w="med" len="med"/>
                    </a:lnT>
                    <a:lnB w="6350" cap="flat" cmpd="sng" algn="ctr">
                      <a:solidFill>
                        <a:srgbClr val="C8C0B4"/>
                      </a:solidFill>
                      <a:prstDash val="solid"/>
                      <a:round/>
                      <a:headEnd type="none" w="med" len="med"/>
                      <a:tailEnd type="none" w="med" len="med"/>
                    </a:lnB>
                    <a:solidFill>
                      <a:srgbClr val="F5F0E8"/>
                    </a:solidFill>
                  </a:tcPr>
                </a:tc>
                <a:tc>
                  <a:txBody>
                    <a:bodyPr/>
                    <a:lstStyle/>
                    <a:p>
                      <a:pPr marL="0" indent="0">
                        <a:buNone/>
                      </a:pPr>
                      <a:r>
                        <a:rPr lang="en-US" sz="1000" dirty="0">
                          <a:solidFill>
                            <a:srgbClr val="0F1F33"/>
                          </a:solidFill>
                          <a:latin typeface="DM Mono" pitchFamily="34" charset="0"/>
                          <a:ea typeface="DM Mono" pitchFamily="34" charset="-122"/>
                          <a:cs typeface="DM Mono" pitchFamily="34" charset="-120"/>
                        </a:rPr>
                        <a:t>2026-05-01</a:t>
                      </a:r>
                      <a:endParaRPr lang="en-US" sz="1000" dirty="0">
                        <a:latin typeface="DM Mono" charset="0"/>
                        <a:ea typeface="DM Mono" charset="0"/>
                        <a:cs typeface="DM Mono" charset="0"/>
                      </a:endParaRPr>
                    </a:p>
                  </a:txBody>
                  <a:tcPr>
                    <a:lnL w="6350" cap="flat" cmpd="sng" algn="ctr">
                      <a:solidFill>
                        <a:srgbClr val="C8C0B4"/>
                      </a:solidFill>
                      <a:prstDash val="solid"/>
                      <a:round/>
                      <a:headEnd type="none" w="med" len="med"/>
                      <a:tailEnd type="none" w="med" len="med"/>
                    </a:lnL>
                    <a:lnR w="6350" cap="flat" cmpd="sng" algn="ctr">
                      <a:solidFill>
                        <a:srgbClr val="C8C0B4"/>
                      </a:solidFill>
                      <a:prstDash val="solid"/>
                      <a:round/>
                      <a:headEnd type="none" w="med" len="med"/>
                      <a:tailEnd type="none" w="med" len="med"/>
                    </a:lnR>
                    <a:lnT w="6350" cap="flat" cmpd="sng" algn="ctr">
                      <a:solidFill>
                        <a:srgbClr val="C8C0B4"/>
                      </a:solidFill>
                      <a:prstDash val="solid"/>
                      <a:round/>
                      <a:headEnd type="none" w="med" len="med"/>
                      <a:tailEnd type="none" w="med" len="med"/>
                    </a:lnT>
                    <a:lnB w="6350" cap="flat" cmpd="sng" algn="ctr">
                      <a:solidFill>
                        <a:srgbClr val="C8C0B4"/>
                      </a:solidFill>
                      <a:prstDash val="solid"/>
                      <a:round/>
                      <a:headEnd type="none" w="med" len="med"/>
                      <a:tailEnd type="none" w="med" len="med"/>
                    </a:lnB>
                    <a:solidFill>
                      <a:srgbClr val="F5F0E8"/>
                    </a:solidFill>
                  </a:tcPr>
                </a:tc>
                <a:extLst>
                  <a:ext uri="{0D108BD9-81ED-4DB2-BD59-A6C34878D82A}">
                    <a16:rowId xmlns:a16="http://schemas.microsoft.com/office/drawing/2014/main" val="10009"/>
                  </a:ext>
                </a:extLst>
              </a:tr>
              <a:tr h="329184">
                <a:tc>
                  <a:txBody>
                    <a:bodyPr/>
                    <a:lstStyle/>
                    <a:p>
                      <a:pPr marL="0" indent="0">
                        <a:buNone/>
                      </a:pPr>
                      <a:r>
                        <a:rPr lang="en-US" sz="1000" dirty="0">
                          <a:solidFill>
                            <a:srgbClr val="0F1F33"/>
                          </a:solidFill>
                          <a:latin typeface="DM Mono" pitchFamily="34" charset="0"/>
                          <a:ea typeface="DM Mono" pitchFamily="34" charset="-122"/>
                          <a:cs typeface="DM Mono" pitchFamily="34" charset="-120"/>
                        </a:rPr>
                        <a:t>Validate Jetson Env Setup</a:t>
                      </a:r>
                      <a:endParaRPr lang="en-US" sz="1000" dirty="0">
                        <a:latin typeface="DM Mono" charset="0"/>
                        <a:ea typeface="DM Mono" charset="0"/>
                        <a:cs typeface="DM Mono" charset="0"/>
                      </a:endParaRPr>
                    </a:p>
                  </a:txBody>
                  <a:tcPr>
                    <a:lnL w="6350" cap="flat" cmpd="sng" algn="ctr">
                      <a:solidFill>
                        <a:srgbClr val="C8C0B4"/>
                      </a:solidFill>
                      <a:prstDash val="solid"/>
                      <a:round/>
                      <a:headEnd type="none" w="med" len="med"/>
                      <a:tailEnd type="none" w="med" len="med"/>
                    </a:lnL>
                    <a:lnR w="6350" cap="flat" cmpd="sng" algn="ctr">
                      <a:solidFill>
                        <a:srgbClr val="C8C0B4"/>
                      </a:solidFill>
                      <a:prstDash val="solid"/>
                      <a:round/>
                      <a:headEnd type="none" w="med" len="med"/>
                      <a:tailEnd type="none" w="med" len="med"/>
                    </a:lnR>
                    <a:lnT w="6350" cap="flat" cmpd="sng" algn="ctr">
                      <a:solidFill>
                        <a:srgbClr val="C8C0B4"/>
                      </a:solidFill>
                      <a:prstDash val="solid"/>
                      <a:round/>
                      <a:headEnd type="none" w="med" len="med"/>
                      <a:tailEnd type="none" w="med" len="med"/>
                    </a:lnT>
                    <a:lnB w="6350" cap="flat" cmpd="sng" algn="ctr">
                      <a:solidFill>
                        <a:srgbClr val="C8C0B4"/>
                      </a:solidFill>
                      <a:prstDash val="solid"/>
                      <a:round/>
                      <a:headEnd type="none" w="med" len="med"/>
                      <a:tailEnd type="none" w="med" len="med"/>
                    </a:lnB>
                    <a:solidFill>
                      <a:srgbClr val="ECE7DF"/>
                    </a:solidFill>
                  </a:tcPr>
                </a:tc>
                <a:tc>
                  <a:txBody>
                    <a:bodyPr/>
                    <a:lstStyle/>
                    <a:p>
                      <a:pPr marL="0" indent="0">
                        <a:buNone/>
                      </a:pPr>
                      <a:r>
                        <a:rPr lang="en-US" sz="1000" dirty="0">
                          <a:solidFill>
                            <a:srgbClr val="0F1F33"/>
                          </a:solidFill>
                          <a:latin typeface="DM Mono" pitchFamily="34" charset="0"/>
                          <a:ea typeface="DM Mono" pitchFamily="34" charset="-122"/>
                          <a:cs typeface="DM Mono" pitchFamily="34" charset="-120"/>
                        </a:rPr>
                        <a:t>NOT_STARTED</a:t>
                      </a:r>
                      <a:endParaRPr lang="en-US" sz="1000" dirty="0">
                        <a:latin typeface="DM Mono" charset="0"/>
                        <a:ea typeface="DM Mono" charset="0"/>
                        <a:cs typeface="DM Mono" charset="0"/>
                      </a:endParaRPr>
                    </a:p>
                  </a:txBody>
                  <a:tcPr>
                    <a:lnL w="6350" cap="flat" cmpd="sng" algn="ctr">
                      <a:solidFill>
                        <a:srgbClr val="C8C0B4"/>
                      </a:solidFill>
                      <a:prstDash val="solid"/>
                      <a:round/>
                      <a:headEnd type="none" w="med" len="med"/>
                      <a:tailEnd type="none" w="med" len="med"/>
                    </a:lnL>
                    <a:lnR w="6350" cap="flat" cmpd="sng" algn="ctr">
                      <a:solidFill>
                        <a:srgbClr val="C8C0B4"/>
                      </a:solidFill>
                      <a:prstDash val="solid"/>
                      <a:round/>
                      <a:headEnd type="none" w="med" len="med"/>
                      <a:tailEnd type="none" w="med" len="med"/>
                    </a:lnR>
                    <a:lnT w="6350" cap="flat" cmpd="sng" algn="ctr">
                      <a:solidFill>
                        <a:srgbClr val="C8C0B4"/>
                      </a:solidFill>
                      <a:prstDash val="solid"/>
                      <a:round/>
                      <a:headEnd type="none" w="med" len="med"/>
                      <a:tailEnd type="none" w="med" len="med"/>
                    </a:lnT>
                    <a:lnB w="6350" cap="flat" cmpd="sng" algn="ctr">
                      <a:solidFill>
                        <a:srgbClr val="C8C0B4"/>
                      </a:solidFill>
                      <a:prstDash val="solid"/>
                      <a:round/>
                      <a:headEnd type="none" w="med" len="med"/>
                      <a:tailEnd type="none" w="med" len="med"/>
                    </a:lnB>
                    <a:solidFill>
                      <a:srgbClr val="ECE7DF"/>
                    </a:solidFill>
                  </a:tcPr>
                </a:tc>
                <a:tc>
                  <a:txBody>
                    <a:bodyPr/>
                    <a:lstStyle/>
                    <a:p>
                      <a:pPr marL="0" indent="0">
                        <a:buNone/>
                      </a:pPr>
                      <a:r>
                        <a:rPr lang="en-US" sz="1000" dirty="0">
                          <a:solidFill>
                            <a:srgbClr val="0F1F33"/>
                          </a:solidFill>
                          <a:latin typeface="DM Mono" pitchFamily="34" charset="0"/>
                          <a:ea typeface="DM Mono" pitchFamily="34" charset="-122"/>
                          <a:cs typeface="DM Mono" pitchFamily="34" charset="-120"/>
                        </a:rPr>
                        <a:t>0%</a:t>
                      </a:r>
                      <a:endParaRPr lang="en-US" sz="1000" dirty="0">
                        <a:latin typeface="DM Mono" charset="0"/>
                        <a:ea typeface="DM Mono" charset="0"/>
                        <a:cs typeface="DM Mono" charset="0"/>
                      </a:endParaRPr>
                    </a:p>
                  </a:txBody>
                  <a:tcPr>
                    <a:lnL w="6350" cap="flat" cmpd="sng" algn="ctr">
                      <a:solidFill>
                        <a:srgbClr val="C8C0B4"/>
                      </a:solidFill>
                      <a:prstDash val="solid"/>
                      <a:round/>
                      <a:headEnd type="none" w="med" len="med"/>
                      <a:tailEnd type="none" w="med" len="med"/>
                    </a:lnL>
                    <a:lnR w="6350" cap="flat" cmpd="sng" algn="ctr">
                      <a:solidFill>
                        <a:srgbClr val="C8C0B4"/>
                      </a:solidFill>
                      <a:prstDash val="solid"/>
                      <a:round/>
                      <a:headEnd type="none" w="med" len="med"/>
                      <a:tailEnd type="none" w="med" len="med"/>
                    </a:lnR>
                    <a:lnT w="6350" cap="flat" cmpd="sng" algn="ctr">
                      <a:solidFill>
                        <a:srgbClr val="C8C0B4"/>
                      </a:solidFill>
                      <a:prstDash val="solid"/>
                      <a:round/>
                      <a:headEnd type="none" w="med" len="med"/>
                      <a:tailEnd type="none" w="med" len="med"/>
                    </a:lnT>
                    <a:lnB w="6350" cap="flat" cmpd="sng" algn="ctr">
                      <a:solidFill>
                        <a:srgbClr val="C8C0B4"/>
                      </a:solidFill>
                      <a:prstDash val="solid"/>
                      <a:round/>
                      <a:headEnd type="none" w="med" len="med"/>
                      <a:tailEnd type="none" w="med" len="med"/>
                    </a:lnB>
                    <a:solidFill>
                      <a:srgbClr val="ECE7DF"/>
                    </a:solidFill>
                  </a:tcPr>
                </a:tc>
                <a:tc>
                  <a:txBody>
                    <a:bodyPr/>
                    <a:lstStyle/>
                    <a:p>
                      <a:pPr marL="0" indent="0">
                        <a:buNone/>
                      </a:pPr>
                      <a:r>
                        <a:rPr lang="en-US" sz="1000" dirty="0">
                          <a:solidFill>
                            <a:srgbClr val="0F1F33"/>
                          </a:solidFill>
                          <a:latin typeface="DM Mono" pitchFamily="34" charset="0"/>
                          <a:ea typeface="DM Mono" pitchFamily="34" charset="-122"/>
                          <a:cs typeface="DM Mono" pitchFamily="34" charset="-120"/>
                        </a:rPr>
                        <a:t>2026-05-22</a:t>
                      </a:r>
                      <a:endParaRPr lang="en-US" sz="1000" dirty="0">
                        <a:latin typeface="DM Mono" charset="0"/>
                        <a:ea typeface="DM Mono" charset="0"/>
                        <a:cs typeface="DM Mono" charset="0"/>
                      </a:endParaRPr>
                    </a:p>
                  </a:txBody>
                  <a:tcPr>
                    <a:lnL w="6350" cap="flat" cmpd="sng" algn="ctr">
                      <a:solidFill>
                        <a:srgbClr val="C8C0B4"/>
                      </a:solidFill>
                      <a:prstDash val="solid"/>
                      <a:round/>
                      <a:headEnd type="none" w="med" len="med"/>
                      <a:tailEnd type="none" w="med" len="med"/>
                    </a:lnL>
                    <a:lnR w="6350" cap="flat" cmpd="sng" algn="ctr">
                      <a:solidFill>
                        <a:srgbClr val="C8C0B4"/>
                      </a:solidFill>
                      <a:prstDash val="solid"/>
                      <a:round/>
                      <a:headEnd type="none" w="med" len="med"/>
                      <a:tailEnd type="none" w="med" len="med"/>
                    </a:lnR>
                    <a:lnT w="6350" cap="flat" cmpd="sng" algn="ctr">
                      <a:solidFill>
                        <a:srgbClr val="C8C0B4"/>
                      </a:solidFill>
                      <a:prstDash val="solid"/>
                      <a:round/>
                      <a:headEnd type="none" w="med" len="med"/>
                      <a:tailEnd type="none" w="med" len="med"/>
                    </a:lnT>
                    <a:lnB w="6350" cap="flat" cmpd="sng" algn="ctr">
                      <a:solidFill>
                        <a:srgbClr val="C8C0B4"/>
                      </a:solidFill>
                      <a:prstDash val="solid"/>
                      <a:round/>
                      <a:headEnd type="none" w="med" len="med"/>
                      <a:tailEnd type="none" w="med" len="med"/>
                    </a:lnB>
                    <a:solidFill>
                      <a:srgbClr val="ECE7DF"/>
                    </a:solidFill>
                  </a:tcPr>
                </a:tc>
                <a:extLst>
                  <a:ext uri="{0D108BD9-81ED-4DB2-BD59-A6C34878D82A}">
                    <a16:rowId xmlns:a16="http://schemas.microsoft.com/office/drawing/2014/main" val="10010"/>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0E8"/>
        </a:solidFill>
        <a:effectLst/>
      </p:bgPr>
    </p:bg>
    <p:spTree>
      <p:nvGrpSpPr>
        <p:cNvPr id="1" name=""/>
        <p:cNvGrpSpPr/>
        <p:nvPr/>
      </p:nvGrpSpPr>
      <p:grpSpPr>
        <a:xfrm>
          <a:off x="0" y="0"/>
          <a:ext cx="0" cy="0"/>
          <a:chOff x="0" y="0"/>
          <a:chExt cx="0" cy="0"/>
        </a:xfrm>
      </p:grpSpPr>
      <p:sp>
        <p:nvSpPr>
          <p:cNvPr id="2" name="Shape 0"/>
          <p:cNvSpPr/>
          <p:nvPr/>
        </p:nvSpPr>
        <p:spPr>
          <a:xfrm>
            <a:off x="0" y="0"/>
            <a:ext cx="12192000" cy="91440"/>
          </a:xfrm>
          <a:prstGeom prst="rect">
            <a:avLst/>
          </a:prstGeom>
          <a:solidFill>
            <a:srgbClr val="1E3A5F"/>
          </a:solidFill>
          <a:ln/>
        </p:spPr>
        <p:txBody>
          <a:bodyPr/>
          <a:lstStyle/>
          <a:p>
            <a:endParaRPr lang="en-US"/>
          </a:p>
        </p:txBody>
      </p:sp>
      <p:sp>
        <p:nvSpPr>
          <p:cNvPr id="3" name="Text 1"/>
          <p:cNvSpPr/>
          <p:nvPr/>
        </p:nvSpPr>
        <p:spPr>
          <a:xfrm>
            <a:off x="457200" y="182880"/>
            <a:ext cx="11247120" cy="548640"/>
          </a:xfrm>
          <a:prstGeom prst="rect">
            <a:avLst/>
          </a:prstGeom>
          <a:noFill/>
          <a:ln/>
        </p:spPr>
        <p:txBody>
          <a:bodyPr wrap="square" rtlCol="0" anchor="ctr"/>
          <a:lstStyle/>
          <a:p>
            <a:pPr marL="0" indent="0">
              <a:buNone/>
            </a:pPr>
            <a:r>
              <a:rPr lang="en-US" sz="2200" b="1" dirty="0">
                <a:solidFill>
                  <a:srgbClr val="3A7A6A"/>
                </a:solidFill>
                <a:latin typeface="Syne" pitchFamily="34" charset="0"/>
                <a:ea typeface="Syne" pitchFamily="34" charset="-122"/>
                <a:cs typeface="Syne" pitchFamily="34" charset="-120"/>
              </a:rPr>
              <a:t>Technical Accomplishments &amp; Repository Activity</a:t>
            </a:r>
            <a:endParaRPr lang="en-US" sz="2200" dirty="0"/>
          </a:p>
        </p:txBody>
      </p:sp>
      <p:sp>
        <p:nvSpPr>
          <p:cNvPr id="4" name="Shape 2"/>
          <p:cNvSpPr/>
          <p:nvPr/>
        </p:nvSpPr>
        <p:spPr>
          <a:xfrm>
            <a:off x="457200" y="804672"/>
            <a:ext cx="11247120" cy="22860"/>
          </a:xfrm>
          <a:prstGeom prst="rect">
            <a:avLst/>
          </a:prstGeom>
          <a:solidFill>
            <a:srgbClr val="C8C0B4"/>
          </a:solidFill>
          <a:ln/>
        </p:spPr>
        <p:txBody>
          <a:bodyPr/>
          <a:lstStyle/>
          <a:p>
            <a:endParaRPr lang="en-US"/>
          </a:p>
        </p:txBody>
      </p:sp>
      <p:sp>
        <p:nvSpPr>
          <p:cNvPr id="5" name="Text 3"/>
          <p:cNvSpPr/>
          <p:nvPr/>
        </p:nvSpPr>
        <p:spPr>
          <a:xfrm>
            <a:off x="457200" y="914400"/>
            <a:ext cx="11247120" cy="914400"/>
          </a:xfrm>
          <a:prstGeom prst="rect">
            <a:avLst/>
          </a:prstGeom>
          <a:noFill/>
          <a:ln/>
        </p:spPr>
        <p:txBody>
          <a:bodyPr wrap="square" rtlCol="0" anchor="t"/>
          <a:lstStyle/>
          <a:p>
            <a:pPr marL="0" indent="0">
              <a:buNone/>
            </a:pPr>
            <a:r>
              <a:rPr lang="en-US" sz="1100" dirty="0">
                <a:solidFill>
                  <a:srgbClr val="1E3A5F"/>
                </a:solidFill>
                <a:latin typeface="DM Mono" pitchFamily="34" charset="0"/>
                <a:ea typeface="DM Mono" pitchFamily="34" charset="-122"/>
                <a:cs typeface="DM Mono" pitchFamily="34" charset="-120"/>
              </a:rPr>
              <a:t>Between September 2025 and March 2026, the Digital Trident team produced meaningful technical output across two GitLab repositories — digital-trident-ir-camera-suite and digital-trident-flight-software — with 5 and 10 commits respectively. Key contributors include 1st Lt Kyle Hicks (IR suite documentation and web app integration), Maj Dillon Pierce (flight software system optimization and service configuration), and alex-cv-pi (inference engine, smart zoom, and benchmarking infrastructure). The working IR Web App was committed on 2026-01-20, and flight software reached a stable flight configuration state by 2025-12-10, with CPU affinity and system optimizations finalized by 2026-01-23.</a:t>
            </a:r>
            <a:endParaRPr lang="en-US" sz="1100" dirty="0"/>
          </a:p>
        </p:txBody>
      </p:sp>
      <p:graphicFrame>
        <p:nvGraphicFramePr>
          <p:cNvPr id="8" name="Table 0"/>
          <p:cNvGraphicFramePr>
            <a:graphicFrameLocks noGrp="1"/>
          </p:cNvGraphicFramePr>
          <p:nvPr>
            <p:extLst>
              <p:ext uri="{D42A27DB-BD31-4B8C-83A1-F6EECF244321}">
                <p14:modId xmlns:p14="http://schemas.microsoft.com/office/powerpoint/2010/main" val="3937809656"/>
              </p:ext>
            </p:extLst>
          </p:nvPr>
        </p:nvGraphicFramePr>
        <p:xfrm>
          <a:off x="548072" y="2073587"/>
          <a:ext cx="11247120" cy="987552"/>
        </p:xfrm>
        <a:graphic>
          <a:graphicData uri="http://schemas.openxmlformats.org/drawingml/2006/table">
            <a:tbl>
              <a:tblPr/>
              <a:tblGrid>
                <a:gridCol w="2811780">
                  <a:extLst>
                    <a:ext uri="{9D8B030D-6E8A-4147-A177-3AD203B41FA5}">
                      <a16:colId xmlns:a16="http://schemas.microsoft.com/office/drawing/2014/main" val="20000"/>
                    </a:ext>
                  </a:extLst>
                </a:gridCol>
                <a:gridCol w="2811780">
                  <a:extLst>
                    <a:ext uri="{9D8B030D-6E8A-4147-A177-3AD203B41FA5}">
                      <a16:colId xmlns:a16="http://schemas.microsoft.com/office/drawing/2014/main" val="20001"/>
                    </a:ext>
                  </a:extLst>
                </a:gridCol>
                <a:gridCol w="2811780">
                  <a:extLst>
                    <a:ext uri="{9D8B030D-6E8A-4147-A177-3AD203B41FA5}">
                      <a16:colId xmlns:a16="http://schemas.microsoft.com/office/drawing/2014/main" val="20002"/>
                    </a:ext>
                  </a:extLst>
                </a:gridCol>
                <a:gridCol w="2811780">
                  <a:extLst>
                    <a:ext uri="{9D8B030D-6E8A-4147-A177-3AD203B41FA5}">
                      <a16:colId xmlns:a16="http://schemas.microsoft.com/office/drawing/2014/main" val="20003"/>
                    </a:ext>
                  </a:extLst>
                </a:gridCol>
              </a:tblGrid>
              <a:tr h="329184">
                <a:tc>
                  <a:txBody>
                    <a:bodyPr/>
                    <a:lstStyle/>
                    <a:p>
                      <a:pPr marL="0" indent="0">
                        <a:buNone/>
                      </a:pPr>
                      <a:r>
                        <a:rPr lang="en-US" sz="1000" b="1" dirty="0">
                          <a:solidFill>
                            <a:srgbClr val="0F1F33"/>
                          </a:solidFill>
                          <a:latin typeface="Syne" pitchFamily="34" charset="0"/>
                          <a:ea typeface="Syne" pitchFamily="34" charset="-122"/>
                          <a:cs typeface="Syne" pitchFamily="34" charset="-120"/>
                        </a:rPr>
                        <a:t>Repo</a:t>
                      </a:r>
                      <a:endParaRPr lang="en-US" sz="1000" dirty="0">
                        <a:latin typeface="Syne" charset="0"/>
                        <a:ea typeface="Syne" charset="0"/>
                        <a:cs typeface="Syne" charset="0"/>
                      </a:endParaRPr>
                    </a:p>
                  </a:txBody>
                  <a:tcPr>
                    <a:lnL w="6350" cap="flat" cmpd="sng" algn="ctr">
                      <a:solidFill>
                        <a:srgbClr val="C8C0B4"/>
                      </a:solidFill>
                      <a:prstDash val="solid"/>
                      <a:round/>
                      <a:headEnd type="none" w="med" len="med"/>
                      <a:tailEnd type="none" w="med" len="med"/>
                    </a:lnL>
                    <a:lnR w="6350" cap="flat" cmpd="sng" algn="ctr">
                      <a:solidFill>
                        <a:srgbClr val="C8C0B4"/>
                      </a:solidFill>
                      <a:prstDash val="solid"/>
                      <a:round/>
                      <a:headEnd type="none" w="med" len="med"/>
                      <a:tailEnd type="none" w="med" len="med"/>
                    </a:lnR>
                    <a:lnT w="6350" cap="flat" cmpd="sng" algn="ctr">
                      <a:solidFill>
                        <a:srgbClr val="C8C0B4"/>
                      </a:solidFill>
                      <a:prstDash val="solid"/>
                      <a:round/>
                      <a:headEnd type="none" w="med" len="med"/>
                      <a:tailEnd type="none" w="med" len="med"/>
                    </a:lnT>
                    <a:lnB w="6350" cap="flat" cmpd="sng" algn="ctr">
                      <a:solidFill>
                        <a:srgbClr val="C8C0B4"/>
                      </a:solidFill>
                      <a:prstDash val="solid"/>
                      <a:round/>
                      <a:headEnd type="none" w="med" len="med"/>
                      <a:tailEnd type="none" w="med" len="med"/>
                    </a:lnB>
                    <a:solidFill>
                      <a:srgbClr val="C8C0B4"/>
                    </a:solidFill>
                  </a:tcPr>
                </a:tc>
                <a:tc>
                  <a:txBody>
                    <a:bodyPr/>
                    <a:lstStyle/>
                    <a:p>
                      <a:pPr marL="0" indent="0">
                        <a:buNone/>
                      </a:pPr>
                      <a:r>
                        <a:rPr lang="en-US" sz="1000" b="1" dirty="0">
                          <a:solidFill>
                            <a:srgbClr val="0F1F33"/>
                          </a:solidFill>
                          <a:latin typeface="Syne" pitchFamily="34" charset="0"/>
                          <a:ea typeface="Syne" pitchFamily="34" charset="-122"/>
                          <a:cs typeface="Syne" pitchFamily="34" charset="-120"/>
                        </a:rPr>
                        <a:t>Commits</a:t>
                      </a:r>
                      <a:endParaRPr lang="en-US" sz="1000" dirty="0">
                        <a:latin typeface="Syne" charset="0"/>
                        <a:ea typeface="Syne" charset="0"/>
                        <a:cs typeface="Syne" charset="0"/>
                      </a:endParaRPr>
                    </a:p>
                  </a:txBody>
                  <a:tcPr>
                    <a:lnL w="6350" cap="flat" cmpd="sng" algn="ctr">
                      <a:solidFill>
                        <a:srgbClr val="C8C0B4"/>
                      </a:solidFill>
                      <a:prstDash val="solid"/>
                      <a:round/>
                      <a:headEnd type="none" w="med" len="med"/>
                      <a:tailEnd type="none" w="med" len="med"/>
                    </a:lnL>
                    <a:lnR w="6350" cap="flat" cmpd="sng" algn="ctr">
                      <a:solidFill>
                        <a:srgbClr val="C8C0B4"/>
                      </a:solidFill>
                      <a:prstDash val="solid"/>
                      <a:round/>
                      <a:headEnd type="none" w="med" len="med"/>
                      <a:tailEnd type="none" w="med" len="med"/>
                    </a:lnR>
                    <a:lnT w="6350" cap="flat" cmpd="sng" algn="ctr">
                      <a:solidFill>
                        <a:srgbClr val="C8C0B4"/>
                      </a:solidFill>
                      <a:prstDash val="solid"/>
                      <a:round/>
                      <a:headEnd type="none" w="med" len="med"/>
                      <a:tailEnd type="none" w="med" len="med"/>
                    </a:lnT>
                    <a:lnB w="6350" cap="flat" cmpd="sng" algn="ctr">
                      <a:solidFill>
                        <a:srgbClr val="C8C0B4"/>
                      </a:solidFill>
                      <a:prstDash val="solid"/>
                      <a:round/>
                      <a:headEnd type="none" w="med" len="med"/>
                      <a:tailEnd type="none" w="med" len="med"/>
                    </a:lnB>
                    <a:solidFill>
                      <a:srgbClr val="C8C0B4"/>
                    </a:solidFill>
                  </a:tcPr>
                </a:tc>
                <a:tc>
                  <a:txBody>
                    <a:bodyPr/>
                    <a:lstStyle/>
                    <a:p>
                      <a:pPr marL="0" indent="0">
                        <a:buNone/>
                      </a:pPr>
                      <a:r>
                        <a:rPr lang="en-US" sz="1000" b="1" dirty="0">
                          <a:solidFill>
                            <a:srgbClr val="0F1F33"/>
                          </a:solidFill>
                          <a:latin typeface="Syne" pitchFamily="34" charset="0"/>
                          <a:ea typeface="Syne" pitchFamily="34" charset="-122"/>
                          <a:cs typeface="Syne" pitchFamily="34" charset="-120"/>
                        </a:rPr>
                        <a:t>Key Contributor</a:t>
                      </a:r>
                      <a:endParaRPr lang="en-US" sz="1000" dirty="0">
                        <a:latin typeface="Syne" charset="0"/>
                        <a:ea typeface="Syne" charset="0"/>
                        <a:cs typeface="Syne" charset="0"/>
                      </a:endParaRPr>
                    </a:p>
                  </a:txBody>
                  <a:tcPr>
                    <a:lnL w="6350" cap="flat" cmpd="sng" algn="ctr">
                      <a:solidFill>
                        <a:srgbClr val="C8C0B4"/>
                      </a:solidFill>
                      <a:prstDash val="solid"/>
                      <a:round/>
                      <a:headEnd type="none" w="med" len="med"/>
                      <a:tailEnd type="none" w="med" len="med"/>
                    </a:lnL>
                    <a:lnR w="6350" cap="flat" cmpd="sng" algn="ctr">
                      <a:solidFill>
                        <a:srgbClr val="C8C0B4"/>
                      </a:solidFill>
                      <a:prstDash val="solid"/>
                      <a:round/>
                      <a:headEnd type="none" w="med" len="med"/>
                      <a:tailEnd type="none" w="med" len="med"/>
                    </a:lnR>
                    <a:lnT w="6350" cap="flat" cmpd="sng" algn="ctr">
                      <a:solidFill>
                        <a:srgbClr val="C8C0B4"/>
                      </a:solidFill>
                      <a:prstDash val="solid"/>
                      <a:round/>
                      <a:headEnd type="none" w="med" len="med"/>
                      <a:tailEnd type="none" w="med" len="med"/>
                    </a:lnT>
                    <a:lnB w="6350" cap="flat" cmpd="sng" algn="ctr">
                      <a:solidFill>
                        <a:srgbClr val="C8C0B4"/>
                      </a:solidFill>
                      <a:prstDash val="solid"/>
                      <a:round/>
                      <a:headEnd type="none" w="med" len="med"/>
                      <a:tailEnd type="none" w="med" len="med"/>
                    </a:lnB>
                    <a:solidFill>
                      <a:srgbClr val="C8C0B4"/>
                    </a:solidFill>
                  </a:tcPr>
                </a:tc>
                <a:tc>
                  <a:txBody>
                    <a:bodyPr/>
                    <a:lstStyle/>
                    <a:p>
                      <a:pPr marL="0" indent="0">
                        <a:buNone/>
                      </a:pPr>
                      <a:r>
                        <a:rPr lang="en-US" sz="1000" b="1" dirty="0">
                          <a:solidFill>
                            <a:srgbClr val="0F1F33"/>
                          </a:solidFill>
                          <a:latin typeface="Syne" pitchFamily="34" charset="0"/>
                          <a:ea typeface="Syne" pitchFamily="34" charset="-122"/>
                          <a:cs typeface="Syne" pitchFamily="34" charset="-120"/>
                        </a:rPr>
                        <a:t>Last Commit</a:t>
                      </a:r>
                      <a:endParaRPr lang="en-US" sz="1000" dirty="0">
                        <a:latin typeface="Syne" charset="0"/>
                        <a:ea typeface="Syne" charset="0"/>
                        <a:cs typeface="Syne" charset="0"/>
                      </a:endParaRPr>
                    </a:p>
                  </a:txBody>
                  <a:tcPr>
                    <a:lnL w="6350" cap="flat" cmpd="sng" algn="ctr">
                      <a:solidFill>
                        <a:srgbClr val="C8C0B4"/>
                      </a:solidFill>
                      <a:prstDash val="solid"/>
                      <a:round/>
                      <a:headEnd type="none" w="med" len="med"/>
                      <a:tailEnd type="none" w="med" len="med"/>
                    </a:lnL>
                    <a:lnR w="6350" cap="flat" cmpd="sng" algn="ctr">
                      <a:solidFill>
                        <a:srgbClr val="C8C0B4"/>
                      </a:solidFill>
                      <a:prstDash val="solid"/>
                      <a:round/>
                      <a:headEnd type="none" w="med" len="med"/>
                      <a:tailEnd type="none" w="med" len="med"/>
                    </a:lnR>
                    <a:lnT w="6350" cap="flat" cmpd="sng" algn="ctr">
                      <a:solidFill>
                        <a:srgbClr val="C8C0B4"/>
                      </a:solidFill>
                      <a:prstDash val="solid"/>
                      <a:round/>
                      <a:headEnd type="none" w="med" len="med"/>
                      <a:tailEnd type="none" w="med" len="med"/>
                    </a:lnT>
                    <a:lnB w="6350" cap="flat" cmpd="sng" algn="ctr">
                      <a:solidFill>
                        <a:srgbClr val="C8C0B4"/>
                      </a:solidFill>
                      <a:prstDash val="solid"/>
                      <a:round/>
                      <a:headEnd type="none" w="med" len="med"/>
                      <a:tailEnd type="none" w="med" len="med"/>
                    </a:lnB>
                    <a:solidFill>
                      <a:srgbClr val="C8C0B4"/>
                    </a:solidFill>
                  </a:tcPr>
                </a:tc>
                <a:extLst>
                  <a:ext uri="{0D108BD9-81ED-4DB2-BD59-A6C34878D82A}">
                    <a16:rowId xmlns:a16="http://schemas.microsoft.com/office/drawing/2014/main" val="10000"/>
                  </a:ext>
                </a:extLst>
              </a:tr>
              <a:tr h="329184">
                <a:tc>
                  <a:txBody>
                    <a:bodyPr/>
                    <a:lstStyle/>
                    <a:p>
                      <a:pPr marL="0" indent="0">
                        <a:buNone/>
                      </a:pPr>
                      <a:r>
                        <a:rPr lang="en-US" sz="1000" dirty="0">
                          <a:solidFill>
                            <a:srgbClr val="0F1F33"/>
                          </a:solidFill>
                          <a:latin typeface="DM Mono" pitchFamily="34" charset="0"/>
                          <a:ea typeface="DM Mono" pitchFamily="34" charset="-122"/>
                          <a:cs typeface="DM Mono" pitchFamily="34" charset="-120"/>
                        </a:rPr>
                        <a:t>ir-camera-suite</a:t>
                      </a:r>
                      <a:endParaRPr lang="en-US" sz="1000" dirty="0">
                        <a:latin typeface="DM Mono" charset="0"/>
                        <a:ea typeface="DM Mono" charset="0"/>
                        <a:cs typeface="DM Mono" charset="0"/>
                      </a:endParaRPr>
                    </a:p>
                  </a:txBody>
                  <a:tcPr>
                    <a:lnL w="6350" cap="flat" cmpd="sng" algn="ctr">
                      <a:solidFill>
                        <a:srgbClr val="C8C0B4"/>
                      </a:solidFill>
                      <a:prstDash val="solid"/>
                      <a:round/>
                      <a:headEnd type="none" w="med" len="med"/>
                      <a:tailEnd type="none" w="med" len="med"/>
                    </a:lnL>
                    <a:lnR w="6350" cap="flat" cmpd="sng" algn="ctr">
                      <a:solidFill>
                        <a:srgbClr val="C8C0B4"/>
                      </a:solidFill>
                      <a:prstDash val="solid"/>
                      <a:round/>
                      <a:headEnd type="none" w="med" len="med"/>
                      <a:tailEnd type="none" w="med" len="med"/>
                    </a:lnR>
                    <a:lnT w="6350" cap="flat" cmpd="sng" algn="ctr">
                      <a:solidFill>
                        <a:srgbClr val="C8C0B4"/>
                      </a:solidFill>
                      <a:prstDash val="solid"/>
                      <a:round/>
                      <a:headEnd type="none" w="med" len="med"/>
                      <a:tailEnd type="none" w="med" len="med"/>
                    </a:lnT>
                    <a:lnB w="6350" cap="flat" cmpd="sng" algn="ctr">
                      <a:solidFill>
                        <a:srgbClr val="C8C0B4"/>
                      </a:solidFill>
                      <a:prstDash val="solid"/>
                      <a:round/>
                      <a:headEnd type="none" w="med" len="med"/>
                      <a:tailEnd type="none" w="med" len="med"/>
                    </a:lnB>
                    <a:solidFill>
                      <a:srgbClr val="F5F0E8"/>
                    </a:solidFill>
                  </a:tcPr>
                </a:tc>
                <a:tc>
                  <a:txBody>
                    <a:bodyPr/>
                    <a:lstStyle/>
                    <a:p>
                      <a:pPr marL="0" indent="0">
                        <a:buNone/>
                      </a:pPr>
                      <a:r>
                        <a:rPr lang="en-US" sz="1000" dirty="0">
                          <a:solidFill>
                            <a:srgbClr val="0F1F33"/>
                          </a:solidFill>
                          <a:latin typeface="DM Mono" pitchFamily="34" charset="0"/>
                          <a:ea typeface="DM Mono" pitchFamily="34" charset="-122"/>
                          <a:cs typeface="DM Mono" pitchFamily="34" charset="-120"/>
                        </a:rPr>
                        <a:t>5</a:t>
                      </a:r>
                      <a:endParaRPr lang="en-US" sz="1000" dirty="0">
                        <a:latin typeface="DM Mono" charset="0"/>
                        <a:ea typeface="DM Mono" charset="0"/>
                        <a:cs typeface="DM Mono" charset="0"/>
                      </a:endParaRPr>
                    </a:p>
                  </a:txBody>
                  <a:tcPr>
                    <a:lnL w="6350" cap="flat" cmpd="sng" algn="ctr">
                      <a:solidFill>
                        <a:srgbClr val="C8C0B4"/>
                      </a:solidFill>
                      <a:prstDash val="solid"/>
                      <a:round/>
                      <a:headEnd type="none" w="med" len="med"/>
                      <a:tailEnd type="none" w="med" len="med"/>
                    </a:lnL>
                    <a:lnR w="6350" cap="flat" cmpd="sng" algn="ctr">
                      <a:solidFill>
                        <a:srgbClr val="C8C0B4"/>
                      </a:solidFill>
                      <a:prstDash val="solid"/>
                      <a:round/>
                      <a:headEnd type="none" w="med" len="med"/>
                      <a:tailEnd type="none" w="med" len="med"/>
                    </a:lnR>
                    <a:lnT w="6350" cap="flat" cmpd="sng" algn="ctr">
                      <a:solidFill>
                        <a:srgbClr val="C8C0B4"/>
                      </a:solidFill>
                      <a:prstDash val="solid"/>
                      <a:round/>
                      <a:headEnd type="none" w="med" len="med"/>
                      <a:tailEnd type="none" w="med" len="med"/>
                    </a:lnT>
                    <a:lnB w="6350" cap="flat" cmpd="sng" algn="ctr">
                      <a:solidFill>
                        <a:srgbClr val="C8C0B4"/>
                      </a:solidFill>
                      <a:prstDash val="solid"/>
                      <a:round/>
                      <a:headEnd type="none" w="med" len="med"/>
                      <a:tailEnd type="none" w="med" len="med"/>
                    </a:lnB>
                    <a:solidFill>
                      <a:srgbClr val="F5F0E8"/>
                    </a:solidFill>
                  </a:tcPr>
                </a:tc>
                <a:tc>
                  <a:txBody>
                    <a:bodyPr/>
                    <a:lstStyle/>
                    <a:p>
                      <a:pPr marL="0" indent="0">
                        <a:buNone/>
                      </a:pPr>
                      <a:r>
                        <a:rPr lang="en-US" sz="1000" dirty="0">
                          <a:solidFill>
                            <a:srgbClr val="0F1F33"/>
                          </a:solidFill>
                          <a:latin typeface="DM Mono" pitchFamily="34" charset="0"/>
                          <a:ea typeface="DM Mono" pitchFamily="34" charset="-122"/>
                          <a:cs typeface="DM Mono" pitchFamily="34" charset="-120"/>
                        </a:rPr>
                        <a:t>1Lt Hicks / Maj Pierce</a:t>
                      </a:r>
                      <a:endParaRPr lang="en-US" sz="1000" dirty="0">
                        <a:latin typeface="DM Mono" charset="0"/>
                        <a:ea typeface="DM Mono" charset="0"/>
                        <a:cs typeface="DM Mono" charset="0"/>
                      </a:endParaRPr>
                    </a:p>
                  </a:txBody>
                  <a:tcPr>
                    <a:lnL w="6350" cap="flat" cmpd="sng" algn="ctr">
                      <a:solidFill>
                        <a:srgbClr val="C8C0B4"/>
                      </a:solidFill>
                      <a:prstDash val="solid"/>
                      <a:round/>
                      <a:headEnd type="none" w="med" len="med"/>
                      <a:tailEnd type="none" w="med" len="med"/>
                    </a:lnL>
                    <a:lnR w="6350" cap="flat" cmpd="sng" algn="ctr">
                      <a:solidFill>
                        <a:srgbClr val="C8C0B4"/>
                      </a:solidFill>
                      <a:prstDash val="solid"/>
                      <a:round/>
                      <a:headEnd type="none" w="med" len="med"/>
                      <a:tailEnd type="none" w="med" len="med"/>
                    </a:lnR>
                    <a:lnT w="6350" cap="flat" cmpd="sng" algn="ctr">
                      <a:solidFill>
                        <a:srgbClr val="C8C0B4"/>
                      </a:solidFill>
                      <a:prstDash val="solid"/>
                      <a:round/>
                      <a:headEnd type="none" w="med" len="med"/>
                      <a:tailEnd type="none" w="med" len="med"/>
                    </a:lnT>
                    <a:lnB w="6350" cap="flat" cmpd="sng" algn="ctr">
                      <a:solidFill>
                        <a:srgbClr val="C8C0B4"/>
                      </a:solidFill>
                      <a:prstDash val="solid"/>
                      <a:round/>
                      <a:headEnd type="none" w="med" len="med"/>
                      <a:tailEnd type="none" w="med" len="med"/>
                    </a:lnB>
                    <a:solidFill>
                      <a:srgbClr val="F5F0E8"/>
                    </a:solidFill>
                  </a:tcPr>
                </a:tc>
                <a:tc>
                  <a:txBody>
                    <a:bodyPr/>
                    <a:lstStyle/>
                    <a:p>
                      <a:pPr marL="0" indent="0">
                        <a:buNone/>
                      </a:pPr>
                      <a:r>
                        <a:rPr lang="en-US" sz="1000" dirty="0">
                          <a:solidFill>
                            <a:srgbClr val="0F1F33"/>
                          </a:solidFill>
                          <a:latin typeface="DM Mono" pitchFamily="34" charset="0"/>
                          <a:ea typeface="DM Mono" pitchFamily="34" charset="-122"/>
                          <a:cs typeface="DM Mono" pitchFamily="34" charset="-120"/>
                        </a:rPr>
                        <a:t>2026-03-18</a:t>
                      </a:r>
                      <a:endParaRPr lang="en-US" sz="1000" dirty="0">
                        <a:latin typeface="DM Mono" charset="0"/>
                        <a:ea typeface="DM Mono" charset="0"/>
                        <a:cs typeface="DM Mono" charset="0"/>
                      </a:endParaRPr>
                    </a:p>
                  </a:txBody>
                  <a:tcPr>
                    <a:lnL w="6350" cap="flat" cmpd="sng" algn="ctr">
                      <a:solidFill>
                        <a:srgbClr val="C8C0B4"/>
                      </a:solidFill>
                      <a:prstDash val="solid"/>
                      <a:round/>
                      <a:headEnd type="none" w="med" len="med"/>
                      <a:tailEnd type="none" w="med" len="med"/>
                    </a:lnL>
                    <a:lnR w="6350" cap="flat" cmpd="sng" algn="ctr">
                      <a:solidFill>
                        <a:srgbClr val="C8C0B4"/>
                      </a:solidFill>
                      <a:prstDash val="solid"/>
                      <a:round/>
                      <a:headEnd type="none" w="med" len="med"/>
                      <a:tailEnd type="none" w="med" len="med"/>
                    </a:lnR>
                    <a:lnT w="6350" cap="flat" cmpd="sng" algn="ctr">
                      <a:solidFill>
                        <a:srgbClr val="C8C0B4"/>
                      </a:solidFill>
                      <a:prstDash val="solid"/>
                      <a:round/>
                      <a:headEnd type="none" w="med" len="med"/>
                      <a:tailEnd type="none" w="med" len="med"/>
                    </a:lnT>
                    <a:lnB w="6350" cap="flat" cmpd="sng" algn="ctr">
                      <a:solidFill>
                        <a:srgbClr val="C8C0B4"/>
                      </a:solidFill>
                      <a:prstDash val="solid"/>
                      <a:round/>
                      <a:headEnd type="none" w="med" len="med"/>
                      <a:tailEnd type="none" w="med" len="med"/>
                    </a:lnB>
                    <a:solidFill>
                      <a:srgbClr val="F5F0E8"/>
                    </a:solidFill>
                  </a:tcPr>
                </a:tc>
                <a:extLst>
                  <a:ext uri="{0D108BD9-81ED-4DB2-BD59-A6C34878D82A}">
                    <a16:rowId xmlns:a16="http://schemas.microsoft.com/office/drawing/2014/main" val="10001"/>
                  </a:ext>
                </a:extLst>
              </a:tr>
              <a:tr h="329184">
                <a:tc>
                  <a:txBody>
                    <a:bodyPr/>
                    <a:lstStyle/>
                    <a:p>
                      <a:pPr marL="0" indent="0">
                        <a:buNone/>
                      </a:pPr>
                      <a:r>
                        <a:rPr lang="en-US" sz="1000" dirty="0">
                          <a:solidFill>
                            <a:srgbClr val="0F1F33"/>
                          </a:solidFill>
                          <a:latin typeface="DM Mono" pitchFamily="34" charset="0"/>
                          <a:ea typeface="DM Mono" pitchFamily="34" charset="-122"/>
                          <a:cs typeface="DM Mono" pitchFamily="34" charset="-120"/>
                        </a:rPr>
                        <a:t>flight-software</a:t>
                      </a:r>
                      <a:endParaRPr lang="en-US" sz="1000" dirty="0">
                        <a:latin typeface="DM Mono" charset="0"/>
                        <a:ea typeface="DM Mono" charset="0"/>
                        <a:cs typeface="DM Mono" charset="0"/>
                      </a:endParaRPr>
                    </a:p>
                  </a:txBody>
                  <a:tcPr>
                    <a:lnL w="6350" cap="flat" cmpd="sng" algn="ctr">
                      <a:solidFill>
                        <a:srgbClr val="C8C0B4"/>
                      </a:solidFill>
                      <a:prstDash val="solid"/>
                      <a:round/>
                      <a:headEnd type="none" w="med" len="med"/>
                      <a:tailEnd type="none" w="med" len="med"/>
                    </a:lnL>
                    <a:lnR w="6350" cap="flat" cmpd="sng" algn="ctr">
                      <a:solidFill>
                        <a:srgbClr val="C8C0B4"/>
                      </a:solidFill>
                      <a:prstDash val="solid"/>
                      <a:round/>
                      <a:headEnd type="none" w="med" len="med"/>
                      <a:tailEnd type="none" w="med" len="med"/>
                    </a:lnR>
                    <a:lnT w="6350" cap="flat" cmpd="sng" algn="ctr">
                      <a:solidFill>
                        <a:srgbClr val="C8C0B4"/>
                      </a:solidFill>
                      <a:prstDash val="solid"/>
                      <a:round/>
                      <a:headEnd type="none" w="med" len="med"/>
                      <a:tailEnd type="none" w="med" len="med"/>
                    </a:lnT>
                    <a:lnB w="6350" cap="flat" cmpd="sng" algn="ctr">
                      <a:solidFill>
                        <a:srgbClr val="C8C0B4"/>
                      </a:solidFill>
                      <a:prstDash val="solid"/>
                      <a:round/>
                      <a:headEnd type="none" w="med" len="med"/>
                      <a:tailEnd type="none" w="med" len="med"/>
                    </a:lnB>
                    <a:solidFill>
                      <a:srgbClr val="ECE7DF"/>
                    </a:solidFill>
                  </a:tcPr>
                </a:tc>
                <a:tc>
                  <a:txBody>
                    <a:bodyPr/>
                    <a:lstStyle/>
                    <a:p>
                      <a:pPr marL="0" indent="0">
                        <a:buNone/>
                      </a:pPr>
                      <a:r>
                        <a:rPr lang="en-US" sz="1000" dirty="0">
                          <a:solidFill>
                            <a:srgbClr val="0F1F33"/>
                          </a:solidFill>
                          <a:latin typeface="DM Mono" pitchFamily="34" charset="0"/>
                          <a:ea typeface="DM Mono" pitchFamily="34" charset="-122"/>
                          <a:cs typeface="DM Mono" pitchFamily="34" charset="-120"/>
                        </a:rPr>
                        <a:t>10</a:t>
                      </a:r>
                      <a:endParaRPr lang="en-US" sz="1000" dirty="0">
                        <a:latin typeface="DM Mono" charset="0"/>
                        <a:ea typeface="DM Mono" charset="0"/>
                        <a:cs typeface="DM Mono" charset="0"/>
                      </a:endParaRPr>
                    </a:p>
                  </a:txBody>
                  <a:tcPr>
                    <a:lnL w="6350" cap="flat" cmpd="sng" algn="ctr">
                      <a:solidFill>
                        <a:srgbClr val="C8C0B4"/>
                      </a:solidFill>
                      <a:prstDash val="solid"/>
                      <a:round/>
                      <a:headEnd type="none" w="med" len="med"/>
                      <a:tailEnd type="none" w="med" len="med"/>
                    </a:lnL>
                    <a:lnR w="6350" cap="flat" cmpd="sng" algn="ctr">
                      <a:solidFill>
                        <a:srgbClr val="C8C0B4"/>
                      </a:solidFill>
                      <a:prstDash val="solid"/>
                      <a:round/>
                      <a:headEnd type="none" w="med" len="med"/>
                      <a:tailEnd type="none" w="med" len="med"/>
                    </a:lnR>
                    <a:lnT w="6350" cap="flat" cmpd="sng" algn="ctr">
                      <a:solidFill>
                        <a:srgbClr val="C8C0B4"/>
                      </a:solidFill>
                      <a:prstDash val="solid"/>
                      <a:round/>
                      <a:headEnd type="none" w="med" len="med"/>
                      <a:tailEnd type="none" w="med" len="med"/>
                    </a:lnT>
                    <a:lnB w="6350" cap="flat" cmpd="sng" algn="ctr">
                      <a:solidFill>
                        <a:srgbClr val="C8C0B4"/>
                      </a:solidFill>
                      <a:prstDash val="solid"/>
                      <a:round/>
                      <a:headEnd type="none" w="med" len="med"/>
                      <a:tailEnd type="none" w="med" len="med"/>
                    </a:lnB>
                    <a:solidFill>
                      <a:srgbClr val="ECE7DF"/>
                    </a:solidFill>
                  </a:tcPr>
                </a:tc>
                <a:tc>
                  <a:txBody>
                    <a:bodyPr/>
                    <a:lstStyle/>
                    <a:p>
                      <a:pPr marL="0" indent="0">
                        <a:buNone/>
                      </a:pPr>
                      <a:r>
                        <a:rPr lang="en-US" sz="1000" dirty="0">
                          <a:solidFill>
                            <a:srgbClr val="0F1F33"/>
                          </a:solidFill>
                          <a:latin typeface="DM Mono" pitchFamily="34" charset="0"/>
                          <a:ea typeface="DM Mono" pitchFamily="34" charset="-122"/>
                          <a:cs typeface="DM Mono" pitchFamily="34" charset="-120"/>
                        </a:rPr>
                        <a:t>alex-cv-pi / dtpierce</a:t>
                      </a:r>
                      <a:endParaRPr lang="en-US" sz="1000" dirty="0">
                        <a:latin typeface="DM Mono" charset="0"/>
                        <a:ea typeface="DM Mono" charset="0"/>
                        <a:cs typeface="DM Mono" charset="0"/>
                      </a:endParaRPr>
                    </a:p>
                  </a:txBody>
                  <a:tcPr>
                    <a:lnL w="6350" cap="flat" cmpd="sng" algn="ctr">
                      <a:solidFill>
                        <a:srgbClr val="C8C0B4"/>
                      </a:solidFill>
                      <a:prstDash val="solid"/>
                      <a:round/>
                      <a:headEnd type="none" w="med" len="med"/>
                      <a:tailEnd type="none" w="med" len="med"/>
                    </a:lnL>
                    <a:lnR w="6350" cap="flat" cmpd="sng" algn="ctr">
                      <a:solidFill>
                        <a:srgbClr val="C8C0B4"/>
                      </a:solidFill>
                      <a:prstDash val="solid"/>
                      <a:round/>
                      <a:headEnd type="none" w="med" len="med"/>
                      <a:tailEnd type="none" w="med" len="med"/>
                    </a:lnR>
                    <a:lnT w="6350" cap="flat" cmpd="sng" algn="ctr">
                      <a:solidFill>
                        <a:srgbClr val="C8C0B4"/>
                      </a:solidFill>
                      <a:prstDash val="solid"/>
                      <a:round/>
                      <a:headEnd type="none" w="med" len="med"/>
                      <a:tailEnd type="none" w="med" len="med"/>
                    </a:lnT>
                    <a:lnB w="6350" cap="flat" cmpd="sng" algn="ctr">
                      <a:solidFill>
                        <a:srgbClr val="C8C0B4"/>
                      </a:solidFill>
                      <a:prstDash val="solid"/>
                      <a:round/>
                      <a:headEnd type="none" w="med" len="med"/>
                      <a:tailEnd type="none" w="med" len="med"/>
                    </a:lnB>
                    <a:solidFill>
                      <a:srgbClr val="ECE7DF"/>
                    </a:solidFill>
                  </a:tcPr>
                </a:tc>
                <a:tc>
                  <a:txBody>
                    <a:bodyPr/>
                    <a:lstStyle/>
                    <a:p>
                      <a:pPr marL="0" indent="0">
                        <a:buNone/>
                      </a:pPr>
                      <a:r>
                        <a:rPr lang="en-US" sz="1000" dirty="0">
                          <a:solidFill>
                            <a:srgbClr val="0F1F33"/>
                          </a:solidFill>
                          <a:latin typeface="DM Mono" pitchFamily="34" charset="0"/>
                          <a:ea typeface="DM Mono" pitchFamily="34" charset="-122"/>
                          <a:cs typeface="DM Mono" pitchFamily="34" charset="-120"/>
                        </a:rPr>
                        <a:t>2026-01-23</a:t>
                      </a:r>
                      <a:endParaRPr lang="en-US" sz="1000" dirty="0">
                        <a:latin typeface="DM Mono" charset="0"/>
                        <a:ea typeface="DM Mono" charset="0"/>
                        <a:cs typeface="DM Mono" charset="0"/>
                      </a:endParaRPr>
                    </a:p>
                  </a:txBody>
                  <a:tcPr>
                    <a:lnL w="6350" cap="flat" cmpd="sng" algn="ctr">
                      <a:solidFill>
                        <a:srgbClr val="C8C0B4"/>
                      </a:solidFill>
                      <a:prstDash val="solid"/>
                      <a:round/>
                      <a:headEnd type="none" w="med" len="med"/>
                      <a:tailEnd type="none" w="med" len="med"/>
                    </a:lnL>
                    <a:lnR w="6350" cap="flat" cmpd="sng" algn="ctr">
                      <a:solidFill>
                        <a:srgbClr val="C8C0B4"/>
                      </a:solidFill>
                      <a:prstDash val="solid"/>
                      <a:round/>
                      <a:headEnd type="none" w="med" len="med"/>
                      <a:tailEnd type="none" w="med" len="med"/>
                    </a:lnR>
                    <a:lnT w="6350" cap="flat" cmpd="sng" algn="ctr">
                      <a:solidFill>
                        <a:srgbClr val="C8C0B4"/>
                      </a:solidFill>
                      <a:prstDash val="solid"/>
                      <a:round/>
                      <a:headEnd type="none" w="med" len="med"/>
                      <a:tailEnd type="none" w="med" len="med"/>
                    </a:lnT>
                    <a:lnB w="6350" cap="flat" cmpd="sng" algn="ctr">
                      <a:solidFill>
                        <a:srgbClr val="C8C0B4"/>
                      </a:solidFill>
                      <a:prstDash val="solid"/>
                      <a:round/>
                      <a:headEnd type="none" w="med" len="med"/>
                      <a:tailEnd type="none" w="med" len="med"/>
                    </a:lnB>
                    <a:solidFill>
                      <a:srgbClr val="ECE7DF"/>
                    </a:solidFill>
                  </a:tcPr>
                </a:tc>
                <a:extLst>
                  <a:ext uri="{0D108BD9-81ED-4DB2-BD59-A6C34878D82A}">
                    <a16:rowId xmlns:a16="http://schemas.microsoft.com/office/drawing/2014/main" val="10002"/>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0E8"/>
        </a:solidFill>
        <a:effectLst/>
      </p:bgPr>
    </p:bg>
    <p:spTree>
      <p:nvGrpSpPr>
        <p:cNvPr id="1" name=""/>
        <p:cNvGrpSpPr/>
        <p:nvPr/>
      </p:nvGrpSpPr>
      <p:grpSpPr>
        <a:xfrm>
          <a:off x="0" y="0"/>
          <a:ext cx="0" cy="0"/>
          <a:chOff x="0" y="0"/>
          <a:chExt cx="0" cy="0"/>
        </a:xfrm>
      </p:grpSpPr>
      <p:sp>
        <p:nvSpPr>
          <p:cNvPr id="2" name="Shape 0"/>
          <p:cNvSpPr/>
          <p:nvPr/>
        </p:nvSpPr>
        <p:spPr>
          <a:xfrm>
            <a:off x="0" y="0"/>
            <a:ext cx="12192000" cy="91440"/>
          </a:xfrm>
          <a:prstGeom prst="rect">
            <a:avLst/>
          </a:prstGeom>
          <a:solidFill>
            <a:srgbClr val="1E3A5F"/>
          </a:solidFill>
          <a:ln/>
        </p:spPr>
        <p:txBody>
          <a:bodyPr/>
          <a:lstStyle/>
          <a:p>
            <a:endParaRPr lang="en-US"/>
          </a:p>
        </p:txBody>
      </p:sp>
      <p:sp>
        <p:nvSpPr>
          <p:cNvPr id="3" name="Text 1"/>
          <p:cNvSpPr/>
          <p:nvPr/>
        </p:nvSpPr>
        <p:spPr>
          <a:xfrm>
            <a:off x="457200" y="182880"/>
            <a:ext cx="11247120" cy="548640"/>
          </a:xfrm>
          <a:prstGeom prst="rect">
            <a:avLst/>
          </a:prstGeom>
          <a:noFill/>
          <a:ln/>
        </p:spPr>
        <p:txBody>
          <a:bodyPr wrap="square" rtlCol="0" anchor="ctr"/>
          <a:lstStyle/>
          <a:p>
            <a:pPr marL="0" indent="0">
              <a:buNone/>
            </a:pPr>
            <a:r>
              <a:rPr lang="en-US" sz="2200" b="1" dirty="0">
                <a:solidFill>
                  <a:srgbClr val="3A7A6A"/>
                </a:solidFill>
                <a:latin typeface="Syne" pitchFamily="34" charset="0"/>
                <a:ea typeface="Syne" pitchFamily="34" charset="-122"/>
                <a:cs typeface="Syne" pitchFamily="34" charset="-120"/>
              </a:rPr>
              <a:t>Seeker Development &amp; Calibration Progress</a:t>
            </a:r>
            <a:endParaRPr lang="en-US" sz="2200" dirty="0"/>
          </a:p>
        </p:txBody>
      </p:sp>
      <p:sp>
        <p:nvSpPr>
          <p:cNvPr id="4" name="Shape 2"/>
          <p:cNvSpPr/>
          <p:nvPr/>
        </p:nvSpPr>
        <p:spPr>
          <a:xfrm>
            <a:off x="457200" y="804672"/>
            <a:ext cx="11247120" cy="22860"/>
          </a:xfrm>
          <a:prstGeom prst="rect">
            <a:avLst/>
          </a:prstGeom>
          <a:solidFill>
            <a:srgbClr val="C8C0B4"/>
          </a:solidFill>
          <a:ln/>
        </p:spPr>
        <p:txBody>
          <a:bodyPr/>
          <a:lstStyle/>
          <a:p>
            <a:endParaRPr lang="en-US"/>
          </a:p>
        </p:txBody>
      </p:sp>
      <p:sp>
        <p:nvSpPr>
          <p:cNvPr id="5" name="Text 3"/>
          <p:cNvSpPr/>
          <p:nvPr/>
        </p:nvSpPr>
        <p:spPr>
          <a:xfrm>
            <a:off x="457200" y="914400"/>
            <a:ext cx="11247120" cy="914400"/>
          </a:xfrm>
          <a:prstGeom prst="rect">
            <a:avLst/>
          </a:prstGeom>
          <a:noFill/>
          <a:ln/>
        </p:spPr>
        <p:txBody>
          <a:bodyPr wrap="square" rtlCol="0" anchor="t"/>
          <a:lstStyle/>
          <a:p>
            <a:pPr marL="0" indent="0">
              <a:buNone/>
            </a:pPr>
            <a:r>
              <a:rPr lang="en-US" sz="1100" dirty="0">
                <a:solidFill>
                  <a:srgbClr val="1E3A5F"/>
                </a:solidFill>
                <a:latin typeface="DM Mono" pitchFamily="34" charset="0"/>
                <a:ea typeface="DM Mono" pitchFamily="34" charset="-122"/>
                <a:cs typeface="DM Mono" pitchFamily="34" charset="-120"/>
              </a:rPr>
              <a:t>The IR Camera Suite was formally committed to GitLab on 2026-01-20 by 1st Lt Kyle Hicks and Maj Dillon Pierce, establishing a Flask-based web application targeting the RPX EmbIR 640 camera on Jetson Nano hardware. Calibration data shows iterative improvement, with optical center calculations progressing from a 'poor' confidence run (0.44 confidence, 2025-12-15T14:50) to an 'excellent' confidence run (1.0 confidence, 2025-12-15T14:55), though IR-specific intrinsic calibration tasks remain at 0–40% completion. Five YOLO inference pipelines (Basic, Max Speed, Minimal, Thermal Mask, and Simple RPX Feed) are integrated in the web app but hardware validation on Jetson Nano has not yet started.</a:t>
            </a:r>
            <a:endParaRPr lang="en-US" sz="1100" dirty="0"/>
          </a:p>
        </p:txBody>
      </p:sp>
      <p:graphicFrame>
        <p:nvGraphicFramePr>
          <p:cNvPr id="9" name="Table 0"/>
          <p:cNvGraphicFramePr>
            <a:graphicFrameLocks noGrp="1"/>
          </p:cNvGraphicFramePr>
          <p:nvPr>
            <p:extLst>
              <p:ext uri="{D42A27DB-BD31-4B8C-83A1-F6EECF244321}">
                <p14:modId xmlns:p14="http://schemas.microsoft.com/office/powerpoint/2010/main" val="2367256828"/>
              </p:ext>
            </p:extLst>
          </p:nvPr>
        </p:nvGraphicFramePr>
        <p:xfrm>
          <a:off x="457200" y="2072792"/>
          <a:ext cx="11247120" cy="2962656"/>
        </p:xfrm>
        <a:graphic>
          <a:graphicData uri="http://schemas.openxmlformats.org/drawingml/2006/table">
            <a:tbl>
              <a:tblPr/>
              <a:tblGrid>
                <a:gridCol w="2811780">
                  <a:extLst>
                    <a:ext uri="{9D8B030D-6E8A-4147-A177-3AD203B41FA5}">
                      <a16:colId xmlns:a16="http://schemas.microsoft.com/office/drawing/2014/main" val="20000"/>
                    </a:ext>
                  </a:extLst>
                </a:gridCol>
                <a:gridCol w="2811780">
                  <a:extLst>
                    <a:ext uri="{9D8B030D-6E8A-4147-A177-3AD203B41FA5}">
                      <a16:colId xmlns:a16="http://schemas.microsoft.com/office/drawing/2014/main" val="20001"/>
                    </a:ext>
                  </a:extLst>
                </a:gridCol>
                <a:gridCol w="2811780">
                  <a:extLst>
                    <a:ext uri="{9D8B030D-6E8A-4147-A177-3AD203B41FA5}">
                      <a16:colId xmlns:a16="http://schemas.microsoft.com/office/drawing/2014/main" val="20002"/>
                    </a:ext>
                  </a:extLst>
                </a:gridCol>
                <a:gridCol w="2811780">
                  <a:extLst>
                    <a:ext uri="{9D8B030D-6E8A-4147-A177-3AD203B41FA5}">
                      <a16:colId xmlns:a16="http://schemas.microsoft.com/office/drawing/2014/main" val="20003"/>
                    </a:ext>
                  </a:extLst>
                </a:gridCol>
              </a:tblGrid>
              <a:tr h="329184">
                <a:tc>
                  <a:txBody>
                    <a:bodyPr/>
                    <a:lstStyle/>
                    <a:p>
                      <a:pPr marL="0" indent="0">
                        <a:buNone/>
                      </a:pPr>
                      <a:r>
                        <a:rPr lang="en-US" sz="1000" b="1" dirty="0">
                          <a:solidFill>
                            <a:srgbClr val="0F1F33"/>
                          </a:solidFill>
                          <a:latin typeface="Syne" pitchFamily="34" charset="0"/>
                          <a:ea typeface="Syne" pitchFamily="34" charset="-122"/>
                          <a:cs typeface="Syne" pitchFamily="34" charset="-120"/>
                        </a:rPr>
                        <a:t>Task</a:t>
                      </a:r>
                      <a:endParaRPr lang="en-US" sz="1000" dirty="0">
                        <a:latin typeface="Syne" charset="0"/>
                        <a:ea typeface="Syne" charset="0"/>
                        <a:cs typeface="Syne" charset="0"/>
                      </a:endParaRPr>
                    </a:p>
                  </a:txBody>
                  <a:tcPr>
                    <a:lnL w="6350" cap="flat" cmpd="sng" algn="ctr">
                      <a:solidFill>
                        <a:srgbClr val="C8C0B4"/>
                      </a:solidFill>
                      <a:prstDash val="solid"/>
                      <a:round/>
                      <a:headEnd type="none" w="med" len="med"/>
                      <a:tailEnd type="none" w="med" len="med"/>
                    </a:lnL>
                    <a:lnR w="6350" cap="flat" cmpd="sng" algn="ctr">
                      <a:solidFill>
                        <a:srgbClr val="C8C0B4"/>
                      </a:solidFill>
                      <a:prstDash val="solid"/>
                      <a:round/>
                      <a:headEnd type="none" w="med" len="med"/>
                      <a:tailEnd type="none" w="med" len="med"/>
                    </a:lnR>
                    <a:lnT w="6350" cap="flat" cmpd="sng" algn="ctr">
                      <a:solidFill>
                        <a:srgbClr val="C8C0B4"/>
                      </a:solidFill>
                      <a:prstDash val="solid"/>
                      <a:round/>
                      <a:headEnd type="none" w="med" len="med"/>
                      <a:tailEnd type="none" w="med" len="med"/>
                    </a:lnT>
                    <a:lnB w="6350" cap="flat" cmpd="sng" algn="ctr">
                      <a:solidFill>
                        <a:srgbClr val="C8C0B4"/>
                      </a:solidFill>
                      <a:prstDash val="solid"/>
                      <a:round/>
                      <a:headEnd type="none" w="med" len="med"/>
                      <a:tailEnd type="none" w="med" len="med"/>
                    </a:lnB>
                    <a:solidFill>
                      <a:srgbClr val="C8C0B4"/>
                    </a:solidFill>
                  </a:tcPr>
                </a:tc>
                <a:tc>
                  <a:txBody>
                    <a:bodyPr/>
                    <a:lstStyle/>
                    <a:p>
                      <a:pPr marL="0" indent="0">
                        <a:buNone/>
                      </a:pPr>
                      <a:r>
                        <a:rPr lang="en-US" sz="1000" b="1" dirty="0">
                          <a:solidFill>
                            <a:srgbClr val="0F1F33"/>
                          </a:solidFill>
                          <a:latin typeface="Syne" pitchFamily="34" charset="0"/>
                          <a:ea typeface="Syne" pitchFamily="34" charset="-122"/>
                          <a:cs typeface="Syne" pitchFamily="34" charset="-120"/>
                        </a:rPr>
                        <a:t>Status</a:t>
                      </a:r>
                      <a:endParaRPr lang="en-US" sz="1000" dirty="0">
                        <a:latin typeface="Syne" charset="0"/>
                        <a:ea typeface="Syne" charset="0"/>
                        <a:cs typeface="Syne" charset="0"/>
                      </a:endParaRPr>
                    </a:p>
                  </a:txBody>
                  <a:tcPr>
                    <a:lnL w="6350" cap="flat" cmpd="sng" algn="ctr">
                      <a:solidFill>
                        <a:srgbClr val="C8C0B4"/>
                      </a:solidFill>
                      <a:prstDash val="solid"/>
                      <a:round/>
                      <a:headEnd type="none" w="med" len="med"/>
                      <a:tailEnd type="none" w="med" len="med"/>
                    </a:lnL>
                    <a:lnR w="6350" cap="flat" cmpd="sng" algn="ctr">
                      <a:solidFill>
                        <a:srgbClr val="C8C0B4"/>
                      </a:solidFill>
                      <a:prstDash val="solid"/>
                      <a:round/>
                      <a:headEnd type="none" w="med" len="med"/>
                      <a:tailEnd type="none" w="med" len="med"/>
                    </a:lnR>
                    <a:lnT w="6350" cap="flat" cmpd="sng" algn="ctr">
                      <a:solidFill>
                        <a:srgbClr val="C8C0B4"/>
                      </a:solidFill>
                      <a:prstDash val="solid"/>
                      <a:round/>
                      <a:headEnd type="none" w="med" len="med"/>
                      <a:tailEnd type="none" w="med" len="med"/>
                    </a:lnT>
                    <a:lnB w="6350" cap="flat" cmpd="sng" algn="ctr">
                      <a:solidFill>
                        <a:srgbClr val="C8C0B4"/>
                      </a:solidFill>
                      <a:prstDash val="solid"/>
                      <a:round/>
                      <a:headEnd type="none" w="med" len="med"/>
                      <a:tailEnd type="none" w="med" len="med"/>
                    </a:lnB>
                    <a:solidFill>
                      <a:srgbClr val="C8C0B4"/>
                    </a:solidFill>
                  </a:tcPr>
                </a:tc>
                <a:tc>
                  <a:txBody>
                    <a:bodyPr/>
                    <a:lstStyle/>
                    <a:p>
                      <a:pPr marL="0" indent="0">
                        <a:buNone/>
                      </a:pPr>
                      <a:r>
                        <a:rPr lang="en-US" sz="1000" b="1" dirty="0">
                          <a:solidFill>
                            <a:srgbClr val="0F1F33"/>
                          </a:solidFill>
                          <a:latin typeface="Syne" pitchFamily="34" charset="0"/>
                          <a:ea typeface="Syne" pitchFamily="34" charset="-122"/>
                          <a:cs typeface="Syne" pitchFamily="34" charset="-120"/>
                        </a:rPr>
                        <a:t>Progress</a:t>
                      </a:r>
                      <a:endParaRPr lang="en-US" sz="1000" dirty="0">
                        <a:latin typeface="Syne" charset="0"/>
                        <a:ea typeface="Syne" charset="0"/>
                        <a:cs typeface="Syne" charset="0"/>
                      </a:endParaRPr>
                    </a:p>
                  </a:txBody>
                  <a:tcPr>
                    <a:lnL w="6350" cap="flat" cmpd="sng" algn="ctr">
                      <a:solidFill>
                        <a:srgbClr val="C8C0B4"/>
                      </a:solidFill>
                      <a:prstDash val="solid"/>
                      <a:round/>
                      <a:headEnd type="none" w="med" len="med"/>
                      <a:tailEnd type="none" w="med" len="med"/>
                    </a:lnL>
                    <a:lnR w="6350" cap="flat" cmpd="sng" algn="ctr">
                      <a:solidFill>
                        <a:srgbClr val="C8C0B4"/>
                      </a:solidFill>
                      <a:prstDash val="solid"/>
                      <a:round/>
                      <a:headEnd type="none" w="med" len="med"/>
                      <a:tailEnd type="none" w="med" len="med"/>
                    </a:lnR>
                    <a:lnT w="6350" cap="flat" cmpd="sng" algn="ctr">
                      <a:solidFill>
                        <a:srgbClr val="C8C0B4"/>
                      </a:solidFill>
                      <a:prstDash val="solid"/>
                      <a:round/>
                      <a:headEnd type="none" w="med" len="med"/>
                      <a:tailEnd type="none" w="med" len="med"/>
                    </a:lnT>
                    <a:lnB w="6350" cap="flat" cmpd="sng" algn="ctr">
                      <a:solidFill>
                        <a:srgbClr val="C8C0B4"/>
                      </a:solidFill>
                      <a:prstDash val="solid"/>
                      <a:round/>
                      <a:headEnd type="none" w="med" len="med"/>
                      <a:tailEnd type="none" w="med" len="med"/>
                    </a:lnB>
                    <a:solidFill>
                      <a:srgbClr val="C8C0B4"/>
                    </a:solidFill>
                  </a:tcPr>
                </a:tc>
                <a:tc>
                  <a:txBody>
                    <a:bodyPr/>
                    <a:lstStyle/>
                    <a:p>
                      <a:pPr marL="0" indent="0">
                        <a:buNone/>
                      </a:pPr>
                      <a:r>
                        <a:rPr lang="en-US" sz="1000" b="1" dirty="0">
                          <a:solidFill>
                            <a:srgbClr val="0F1F33"/>
                          </a:solidFill>
                          <a:latin typeface="Syne" pitchFamily="34" charset="0"/>
                          <a:ea typeface="Syne" pitchFamily="34" charset="-122"/>
                          <a:cs typeface="Syne" pitchFamily="34" charset="-120"/>
                        </a:rPr>
                        <a:t>Due Date</a:t>
                      </a:r>
                      <a:endParaRPr lang="en-US" sz="1000" dirty="0">
                        <a:latin typeface="Syne" charset="0"/>
                        <a:ea typeface="Syne" charset="0"/>
                        <a:cs typeface="Syne" charset="0"/>
                      </a:endParaRPr>
                    </a:p>
                  </a:txBody>
                  <a:tcPr>
                    <a:lnL w="6350" cap="flat" cmpd="sng" algn="ctr">
                      <a:solidFill>
                        <a:srgbClr val="C8C0B4"/>
                      </a:solidFill>
                      <a:prstDash val="solid"/>
                      <a:round/>
                      <a:headEnd type="none" w="med" len="med"/>
                      <a:tailEnd type="none" w="med" len="med"/>
                    </a:lnL>
                    <a:lnR w="6350" cap="flat" cmpd="sng" algn="ctr">
                      <a:solidFill>
                        <a:srgbClr val="C8C0B4"/>
                      </a:solidFill>
                      <a:prstDash val="solid"/>
                      <a:round/>
                      <a:headEnd type="none" w="med" len="med"/>
                      <a:tailEnd type="none" w="med" len="med"/>
                    </a:lnR>
                    <a:lnT w="6350" cap="flat" cmpd="sng" algn="ctr">
                      <a:solidFill>
                        <a:srgbClr val="C8C0B4"/>
                      </a:solidFill>
                      <a:prstDash val="solid"/>
                      <a:round/>
                      <a:headEnd type="none" w="med" len="med"/>
                      <a:tailEnd type="none" w="med" len="med"/>
                    </a:lnT>
                    <a:lnB w="6350" cap="flat" cmpd="sng" algn="ctr">
                      <a:solidFill>
                        <a:srgbClr val="C8C0B4"/>
                      </a:solidFill>
                      <a:prstDash val="solid"/>
                      <a:round/>
                      <a:headEnd type="none" w="med" len="med"/>
                      <a:tailEnd type="none" w="med" len="med"/>
                    </a:lnB>
                    <a:solidFill>
                      <a:srgbClr val="C8C0B4"/>
                    </a:solidFill>
                  </a:tcPr>
                </a:tc>
                <a:extLst>
                  <a:ext uri="{0D108BD9-81ED-4DB2-BD59-A6C34878D82A}">
                    <a16:rowId xmlns:a16="http://schemas.microsoft.com/office/drawing/2014/main" val="10000"/>
                  </a:ext>
                </a:extLst>
              </a:tr>
              <a:tr h="329184">
                <a:tc>
                  <a:txBody>
                    <a:bodyPr/>
                    <a:lstStyle/>
                    <a:p>
                      <a:pPr marL="0" indent="0">
                        <a:buNone/>
                      </a:pPr>
                      <a:r>
                        <a:rPr lang="en-US" sz="1000" dirty="0">
                          <a:solidFill>
                            <a:srgbClr val="0F1F33"/>
                          </a:solidFill>
                          <a:latin typeface="DM Mono" pitchFamily="34" charset="0"/>
                          <a:ea typeface="DM Mono" pitchFamily="34" charset="-122"/>
                          <a:cs typeface="DM Mono" pitchFamily="34" charset="-120"/>
                        </a:rPr>
                        <a:t>Fix IR Intrinsic Cal.</a:t>
                      </a:r>
                      <a:endParaRPr lang="en-US" sz="1000" dirty="0">
                        <a:latin typeface="DM Mono" charset="0"/>
                        <a:ea typeface="DM Mono" charset="0"/>
                        <a:cs typeface="DM Mono" charset="0"/>
                      </a:endParaRPr>
                    </a:p>
                  </a:txBody>
                  <a:tcPr>
                    <a:lnL w="6350" cap="flat" cmpd="sng" algn="ctr">
                      <a:solidFill>
                        <a:srgbClr val="C8C0B4"/>
                      </a:solidFill>
                      <a:prstDash val="solid"/>
                      <a:round/>
                      <a:headEnd type="none" w="med" len="med"/>
                      <a:tailEnd type="none" w="med" len="med"/>
                    </a:lnL>
                    <a:lnR w="6350" cap="flat" cmpd="sng" algn="ctr">
                      <a:solidFill>
                        <a:srgbClr val="C8C0B4"/>
                      </a:solidFill>
                      <a:prstDash val="solid"/>
                      <a:round/>
                      <a:headEnd type="none" w="med" len="med"/>
                      <a:tailEnd type="none" w="med" len="med"/>
                    </a:lnR>
                    <a:lnT w="6350" cap="flat" cmpd="sng" algn="ctr">
                      <a:solidFill>
                        <a:srgbClr val="C8C0B4"/>
                      </a:solidFill>
                      <a:prstDash val="solid"/>
                      <a:round/>
                      <a:headEnd type="none" w="med" len="med"/>
                      <a:tailEnd type="none" w="med" len="med"/>
                    </a:lnT>
                    <a:lnB w="6350" cap="flat" cmpd="sng" algn="ctr">
                      <a:solidFill>
                        <a:srgbClr val="C8C0B4"/>
                      </a:solidFill>
                      <a:prstDash val="solid"/>
                      <a:round/>
                      <a:headEnd type="none" w="med" len="med"/>
                      <a:tailEnd type="none" w="med" len="med"/>
                    </a:lnB>
                    <a:solidFill>
                      <a:srgbClr val="F5F0E8"/>
                    </a:solidFill>
                  </a:tcPr>
                </a:tc>
                <a:tc>
                  <a:txBody>
                    <a:bodyPr/>
                    <a:lstStyle/>
                    <a:p>
                      <a:pPr marL="0" indent="0">
                        <a:buNone/>
                      </a:pPr>
                      <a:r>
                        <a:rPr lang="en-US" sz="1000" dirty="0">
                          <a:solidFill>
                            <a:srgbClr val="0F1F33"/>
                          </a:solidFill>
                          <a:latin typeface="DM Mono" pitchFamily="34" charset="0"/>
                          <a:ea typeface="DM Mono" pitchFamily="34" charset="-122"/>
                          <a:cs typeface="DM Mono" pitchFamily="34" charset="-120"/>
                        </a:rPr>
                        <a:t>IN_PROGRESS</a:t>
                      </a:r>
                      <a:endParaRPr lang="en-US" sz="1000" dirty="0">
                        <a:latin typeface="DM Mono" charset="0"/>
                        <a:ea typeface="DM Mono" charset="0"/>
                        <a:cs typeface="DM Mono" charset="0"/>
                      </a:endParaRPr>
                    </a:p>
                  </a:txBody>
                  <a:tcPr>
                    <a:lnL w="6350" cap="flat" cmpd="sng" algn="ctr">
                      <a:solidFill>
                        <a:srgbClr val="C8C0B4"/>
                      </a:solidFill>
                      <a:prstDash val="solid"/>
                      <a:round/>
                      <a:headEnd type="none" w="med" len="med"/>
                      <a:tailEnd type="none" w="med" len="med"/>
                    </a:lnL>
                    <a:lnR w="6350" cap="flat" cmpd="sng" algn="ctr">
                      <a:solidFill>
                        <a:srgbClr val="C8C0B4"/>
                      </a:solidFill>
                      <a:prstDash val="solid"/>
                      <a:round/>
                      <a:headEnd type="none" w="med" len="med"/>
                      <a:tailEnd type="none" w="med" len="med"/>
                    </a:lnR>
                    <a:lnT w="6350" cap="flat" cmpd="sng" algn="ctr">
                      <a:solidFill>
                        <a:srgbClr val="C8C0B4"/>
                      </a:solidFill>
                      <a:prstDash val="solid"/>
                      <a:round/>
                      <a:headEnd type="none" w="med" len="med"/>
                      <a:tailEnd type="none" w="med" len="med"/>
                    </a:lnT>
                    <a:lnB w="6350" cap="flat" cmpd="sng" algn="ctr">
                      <a:solidFill>
                        <a:srgbClr val="C8C0B4"/>
                      </a:solidFill>
                      <a:prstDash val="solid"/>
                      <a:round/>
                      <a:headEnd type="none" w="med" len="med"/>
                      <a:tailEnd type="none" w="med" len="med"/>
                    </a:lnB>
                    <a:solidFill>
                      <a:srgbClr val="F5F0E8"/>
                    </a:solidFill>
                  </a:tcPr>
                </a:tc>
                <a:tc>
                  <a:txBody>
                    <a:bodyPr/>
                    <a:lstStyle/>
                    <a:p>
                      <a:pPr marL="0" indent="0">
                        <a:buNone/>
                      </a:pPr>
                      <a:r>
                        <a:rPr lang="en-US" sz="1000" dirty="0">
                          <a:solidFill>
                            <a:srgbClr val="0F1F33"/>
                          </a:solidFill>
                          <a:latin typeface="DM Mono" pitchFamily="34" charset="0"/>
                          <a:ea typeface="DM Mono" pitchFamily="34" charset="-122"/>
                          <a:cs typeface="DM Mono" pitchFamily="34" charset="-120"/>
                        </a:rPr>
                        <a:t>40%</a:t>
                      </a:r>
                      <a:endParaRPr lang="en-US" sz="1000" dirty="0">
                        <a:latin typeface="DM Mono" charset="0"/>
                        <a:ea typeface="DM Mono" charset="0"/>
                        <a:cs typeface="DM Mono" charset="0"/>
                      </a:endParaRPr>
                    </a:p>
                  </a:txBody>
                  <a:tcPr>
                    <a:lnL w="6350" cap="flat" cmpd="sng" algn="ctr">
                      <a:solidFill>
                        <a:srgbClr val="C8C0B4"/>
                      </a:solidFill>
                      <a:prstDash val="solid"/>
                      <a:round/>
                      <a:headEnd type="none" w="med" len="med"/>
                      <a:tailEnd type="none" w="med" len="med"/>
                    </a:lnL>
                    <a:lnR w="6350" cap="flat" cmpd="sng" algn="ctr">
                      <a:solidFill>
                        <a:srgbClr val="C8C0B4"/>
                      </a:solidFill>
                      <a:prstDash val="solid"/>
                      <a:round/>
                      <a:headEnd type="none" w="med" len="med"/>
                      <a:tailEnd type="none" w="med" len="med"/>
                    </a:lnR>
                    <a:lnT w="6350" cap="flat" cmpd="sng" algn="ctr">
                      <a:solidFill>
                        <a:srgbClr val="C8C0B4"/>
                      </a:solidFill>
                      <a:prstDash val="solid"/>
                      <a:round/>
                      <a:headEnd type="none" w="med" len="med"/>
                      <a:tailEnd type="none" w="med" len="med"/>
                    </a:lnT>
                    <a:lnB w="6350" cap="flat" cmpd="sng" algn="ctr">
                      <a:solidFill>
                        <a:srgbClr val="C8C0B4"/>
                      </a:solidFill>
                      <a:prstDash val="solid"/>
                      <a:round/>
                      <a:headEnd type="none" w="med" len="med"/>
                      <a:tailEnd type="none" w="med" len="med"/>
                    </a:lnB>
                    <a:solidFill>
                      <a:srgbClr val="F5F0E8"/>
                    </a:solidFill>
                  </a:tcPr>
                </a:tc>
                <a:tc>
                  <a:txBody>
                    <a:bodyPr/>
                    <a:lstStyle/>
                    <a:p>
                      <a:pPr marL="0" indent="0">
                        <a:buNone/>
                      </a:pPr>
                      <a:r>
                        <a:rPr lang="en-US" sz="1000" dirty="0">
                          <a:solidFill>
                            <a:srgbClr val="0F1F33"/>
                          </a:solidFill>
                          <a:latin typeface="DM Mono" pitchFamily="34" charset="0"/>
                          <a:ea typeface="DM Mono" pitchFamily="34" charset="-122"/>
                          <a:cs typeface="DM Mono" pitchFamily="34" charset="-120"/>
                        </a:rPr>
                        <a:t>2026-05-30</a:t>
                      </a:r>
                      <a:endParaRPr lang="en-US" sz="1000" dirty="0">
                        <a:latin typeface="DM Mono" charset="0"/>
                        <a:ea typeface="DM Mono" charset="0"/>
                        <a:cs typeface="DM Mono" charset="0"/>
                      </a:endParaRPr>
                    </a:p>
                  </a:txBody>
                  <a:tcPr>
                    <a:lnL w="6350" cap="flat" cmpd="sng" algn="ctr">
                      <a:solidFill>
                        <a:srgbClr val="C8C0B4"/>
                      </a:solidFill>
                      <a:prstDash val="solid"/>
                      <a:round/>
                      <a:headEnd type="none" w="med" len="med"/>
                      <a:tailEnd type="none" w="med" len="med"/>
                    </a:lnL>
                    <a:lnR w="6350" cap="flat" cmpd="sng" algn="ctr">
                      <a:solidFill>
                        <a:srgbClr val="C8C0B4"/>
                      </a:solidFill>
                      <a:prstDash val="solid"/>
                      <a:round/>
                      <a:headEnd type="none" w="med" len="med"/>
                      <a:tailEnd type="none" w="med" len="med"/>
                    </a:lnR>
                    <a:lnT w="6350" cap="flat" cmpd="sng" algn="ctr">
                      <a:solidFill>
                        <a:srgbClr val="C8C0B4"/>
                      </a:solidFill>
                      <a:prstDash val="solid"/>
                      <a:round/>
                      <a:headEnd type="none" w="med" len="med"/>
                      <a:tailEnd type="none" w="med" len="med"/>
                    </a:lnT>
                    <a:lnB w="6350" cap="flat" cmpd="sng" algn="ctr">
                      <a:solidFill>
                        <a:srgbClr val="C8C0B4"/>
                      </a:solidFill>
                      <a:prstDash val="solid"/>
                      <a:round/>
                      <a:headEnd type="none" w="med" len="med"/>
                      <a:tailEnd type="none" w="med" len="med"/>
                    </a:lnB>
                    <a:solidFill>
                      <a:srgbClr val="F5F0E8"/>
                    </a:solidFill>
                  </a:tcPr>
                </a:tc>
                <a:extLst>
                  <a:ext uri="{0D108BD9-81ED-4DB2-BD59-A6C34878D82A}">
                    <a16:rowId xmlns:a16="http://schemas.microsoft.com/office/drawing/2014/main" val="10001"/>
                  </a:ext>
                </a:extLst>
              </a:tr>
              <a:tr h="329184">
                <a:tc>
                  <a:txBody>
                    <a:bodyPr/>
                    <a:lstStyle/>
                    <a:p>
                      <a:pPr marL="0" indent="0">
                        <a:buNone/>
                      </a:pPr>
                      <a:r>
                        <a:rPr lang="en-US" sz="1000" dirty="0">
                          <a:solidFill>
                            <a:srgbClr val="0F1F33"/>
                          </a:solidFill>
                          <a:latin typeface="DM Mono" pitchFamily="34" charset="0"/>
                          <a:ea typeface="DM Mono" pitchFamily="34" charset="-122"/>
                          <a:cs typeface="DM Mono" pitchFamily="34" charset="-120"/>
                        </a:rPr>
                        <a:t>Validate Cal. Pipeline (Jetson)</a:t>
                      </a:r>
                      <a:endParaRPr lang="en-US" sz="1000" dirty="0">
                        <a:latin typeface="DM Mono" charset="0"/>
                        <a:ea typeface="DM Mono" charset="0"/>
                        <a:cs typeface="DM Mono" charset="0"/>
                      </a:endParaRPr>
                    </a:p>
                  </a:txBody>
                  <a:tcPr>
                    <a:lnL w="6350" cap="flat" cmpd="sng" algn="ctr">
                      <a:solidFill>
                        <a:srgbClr val="C8C0B4"/>
                      </a:solidFill>
                      <a:prstDash val="solid"/>
                      <a:round/>
                      <a:headEnd type="none" w="med" len="med"/>
                      <a:tailEnd type="none" w="med" len="med"/>
                    </a:lnL>
                    <a:lnR w="6350" cap="flat" cmpd="sng" algn="ctr">
                      <a:solidFill>
                        <a:srgbClr val="C8C0B4"/>
                      </a:solidFill>
                      <a:prstDash val="solid"/>
                      <a:round/>
                      <a:headEnd type="none" w="med" len="med"/>
                      <a:tailEnd type="none" w="med" len="med"/>
                    </a:lnR>
                    <a:lnT w="6350" cap="flat" cmpd="sng" algn="ctr">
                      <a:solidFill>
                        <a:srgbClr val="C8C0B4"/>
                      </a:solidFill>
                      <a:prstDash val="solid"/>
                      <a:round/>
                      <a:headEnd type="none" w="med" len="med"/>
                      <a:tailEnd type="none" w="med" len="med"/>
                    </a:lnT>
                    <a:lnB w="6350" cap="flat" cmpd="sng" algn="ctr">
                      <a:solidFill>
                        <a:srgbClr val="C8C0B4"/>
                      </a:solidFill>
                      <a:prstDash val="solid"/>
                      <a:round/>
                      <a:headEnd type="none" w="med" len="med"/>
                      <a:tailEnd type="none" w="med" len="med"/>
                    </a:lnB>
                    <a:solidFill>
                      <a:srgbClr val="ECE7DF"/>
                    </a:solidFill>
                  </a:tcPr>
                </a:tc>
                <a:tc>
                  <a:txBody>
                    <a:bodyPr/>
                    <a:lstStyle/>
                    <a:p>
                      <a:pPr marL="0" indent="0">
                        <a:buNone/>
                      </a:pPr>
                      <a:r>
                        <a:rPr lang="en-US" sz="1000" dirty="0">
                          <a:solidFill>
                            <a:srgbClr val="0F1F33"/>
                          </a:solidFill>
                          <a:latin typeface="DM Mono" pitchFamily="34" charset="0"/>
                          <a:ea typeface="DM Mono" pitchFamily="34" charset="-122"/>
                          <a:cs typeface="DM Mono" pitchFamily="34" charset="-120"/>
                        </a:rPr>
                        <a:t>IN_PROGRESS</a:t>
                      </a:r>
                      <a:endParaRPr lang="en-US" sz="1000" dirty="0">
                        <a:latin typeface="DM Mono" charset="0"/>
                        <a:ea typeface="DM Mono" charset="0"/>
                        <a:cs typeface="DM Mono" charset="0"/>
                      </a:endParaRPr>
                    </a:p>
                  </a:txBody>
                  <a:tcPr>
                    <a:lnL w="6350" cap="flat" cmpd="sng" algn="ctr">
                      <a:solidFill>
                        <a:srgbClr val="C8C0B4"/>
                      </a:solidFill>
                      <a:prstDash val="solid"/>
                      <a:round/>
                      <a:headEnd type="none" w="med" len="med"/>
                      <a:tailEnd type="none" w="med" len="med"/>
                    </a:lnL>
                    <a:lnR w="6350" cap="flat" cmpd="sng" algn="ctr">
                      <a:solidFill>
                        <a:srgbClr val="C8C0B4"/>
                      </a:solidFill>
                      <a:prstDash val="solid"/>
                      <a:round/>
                      <a:headEnd type="none" w="med" len="med"/>
                      <a:tailEnd type="none" w="med" len="med"/>
                    </a:lnR>
                    <a:lnT w="6350" cap="flat" cmpd="sng" algn="ctr">
                      <a:solidFill>
                        <a:srgbClr val="C8C0B4"/>
                      </a:solidFill>
                      <a:prstDash val="solid"/>
                      <a:round/>
                      <a:headEnd type="none" w="med" len="med"/>
                      <a:tailEnd type="none" w="med" len="med"/>
                    </a:lnT>
                    <a:lnB w="6350" cap="flat" cmpd="sng" algn="ctr">
                      <a:solidFill>
                        <a:srgbClr val="C8C0B4"/>
                      </a:solidFill>
                      <a:prstDash val="solid"/>
                      <a:round/>
                      <a:headEnd type="none" w="med" len="med"/>
                      <a:tailEnd type="none" w="med" len="med"/>
                    </a:lnB>
                    <a:solidFill>
                      <a:srgbClr val="ECE7DF"/>
                    </a:solidFill>
                  </a:tcPr>
                </a:tc>
                <a:tc>
                  <a:txBody>
                    <a:bodyPr/>
                    <a:lstStyle/>
                    <a:p>
                      <a:pPr marL="0" indent="0">
                        <a:buNone/>
                      </a:pPr>
                      <a:r>
                        <a:rPr lang="en-US" sz="1000" dirty="0">
                          <a:solidFill>
                            <a:srgbClr val="0F1F33"/>
                          </a:solidFill>
                          <a:latin typeface="DM Mono" pitchFamily="34" charset="0"/>
                          <a:ea typeface="DM Mono" pitchFamily="34" charset="-122"/>
                          <a:cs typeface="DM Mono" pitchFamily="34" charset="-120"/>
                        </a:rPr>
                        <a:t>40%</a:t>
                      </a:r>
                      <a:endParaRPr lang="en-US" sz="1000" dirty="0">
                        <a:latin typeface="DM Mono" charset="0"/>
                        <a:ea typeface="DM Mono" charset="0"/>
                        <a:cs typeface="DM Mono" charset="0"/>
                      </a:endParaRPr>
                    </a:p>
                  </a:txBody>
                  <a:tcPr>
                    <a:lnL w="6350" cap="flat" cmpd="sng" algn="ctr">
                      <a:solidFill>
                        <a:srgbClr val="C8C0B4"/>
                      </a:solidFill>
                      <a:prstDash val="solid"/>
                      <a:round/>
                      <a:headEnd type="none" w="med" len="med"/>
                      <a:tailEnd type="none" w="med" len="med"/>
                    </a:lnL>
                    <a:lnR w="6350" cap="flat" cmpd="sng" algn="ctr">
                      <a:solidFill>
                        <a:srgbClr val="C8C0B4"/>
                      </a:solidFill>
                      <a:prstDash val="solid"/>
                      <a:round/>
                      <a:headEnd type="none" w="med" len="med"/>
                      <a:tailEnd type="none" w="med" len="med"/>
                    </a:lnR>
                    <a:lnT w="6350" cap="flat" cmpd="sng" algn="ctr">
                      <a:solidFill>
                        <a:srgbClr val="C8C0B4"/>
                      </a:solidFill>
                      <a:prstDash val="solid"/>
                      <a:round/>
                      <a:headEnd type="none" w="med" len="med"/>
                      <a:tailEnd type="none" w="med" len="med"/>
                    </a:lnT>
                    <a:lnB w="6350" cap="flat" cmpd="sng" algn="ctr">
                      <a:solidFill>
                        <a:srgbClr val="C8C0B4"/>
                      </a:solidFill>
                      <a:prstDash val="solid"/>
                      <a:round/>
                      <a:headEnd type="none" w="med" len="med"/>
                      <a:tailEnd type="none" w="med" len="med"/>
                    </a:lnB>
                    <a:solidFill>
                      <a:srgbClr val="ECE7DF"/>
                    </a:solidFill>
                  </a:tcPr>
                </a:tc>
                <a:tc>
                  <a:txBody>
                    <a:bodyPr/>
                    <a:lstStyle/>
                    <a:p>
                      <a:pPr marL="0" indent="0">
                        <a:buNone/>
                      </a:pPr>
                      <a:r>
                        <a:rPr lang="en-US" sz="1000" dirty="0">
                          <a:solidFill>
                            <a:srgbClr val="0F1F33"/>
                          </a:solidFill>
                          <a:latin typeface="DM Mono" pitchFamily="34" charset="0"/>
                          <a:ea typeface="DM Mono" pitchFamily="34" charset="-122"/>
                          <a:cs typeface="DM Mono" pitchFamily="34" charset="-120"/>
                        </a:rPr>
                        <a:t>2026-05-30</a:t>
                      </a:r>
                      <a:endParaRPr lang="en-US" sz="1000" dirty="0">
                        <a:latin typeface="DM Mono" charset="0"/>
                        <a:ea typeface="DM Mono" charset="0"/>
                        <a:cs typeface="DM Mono" charset="0"/>
                      </a:endParaRPr>
                    </a:p>
                  </a:txBody>
                  <a:tcPr>
                    <a:lnL w="6350" cap="flat" cmpd="sng" algn="ctr">
                      <a:solidFill>
                        <a:srgbClr val="C8C0B4"/>
                      </a:solidFill>
                      <a:prstDash val="solid"/>
                      <a:round/>
                      <a:headEnd type="none" w="med" len="med"/>
                      <a:tailEnd type="none" w="med" len="med"/>
                    </a:lnL>
                    <a:lnR w="6350" cap="flat" cmpd="sng" algn="ctr">
                      <a:solidFill>
                        <a:srgbClr val="C8C0B4"/>
                      </a:solidFill>
                      <a:prstDash val="solid"/>
                      <a:round/>
                      <a:headEnd type="none" w="med" len="med"/>
                      <a:tailEnd type="none" w="med" len="med"/>
                    </a:lnR>
                    <a:lnT w="6350" cap="flat" cmpd="sng" algn="ctr">
                      <a:solidFill>
                        <a:srgbClr val="C8C0B4"/>
                      </a:solidFill>
                      <a:prstDash val="solid"/>
                      <a:round/>
                      <a:headEnd type="none" w="med" len="med"/>
                      <a:tailEnd type="none" w="med" len="med"/>
                    </a:lnT>
                    <a:lnB w="6350" cap="flat" cmpd="sng" algn="ctr">
                      <a:solidFill>
                        <a:srgbClr val="C8C0B4"/>
                      </a:solidFill>
                      <a:prstDash val="solid"/>
                      <a:round/>
                      <a:headEnd type="none" w="med" len="med"/>
                      <a:tailEnd type="none" w="med" len="med"/>
                    </a:lnB>
                    <a:solidFill>
                      <a:srgbClr val="ECE7DF"/>
                    </a:solidFill>
                  </a:tcPr>
                </a:tc>
                <a:extLst>
                  <a:ext uri="{0D108BD9-81ED-4DB2-BD59-A6C34878D82A}">
                    <a16:rowId xmlns:a16="http://schemas.microsoft.com/office/drawing/2014/main" val="10002"/>
                  </a:ext>
                </a:extLst>
              </a:tr>
              <a:tr h="329184">
                <a:tc>
                  <a:txBody>
                    <a:bodyPr/>
                    <a:lstStyle/>
                    <a:p>
                      <a:pPr marL="0" indent="0">
                        <a:buNone/>
                      </a:pPr>
                      <a:r>
                        <a:rPr lang="en-US" sz="1000" dirty="0">
                          <a:solidFill>
                            <a:srgbClr val="0F1F33"/>
                          </a:solidFill>
                          <a:latin typeface="DM Mono" pitchFamily="34" charset="0"/>
                          <a:ea typeface="DM Mono" pitchFamily="34" charset="-122"/>
                          <a:cs typeface="DM Mono" pitchFamily="34" charset="-120"/>
                        </a:rPr>
                        <a:t>Run Full Cal. End-to-End</a:t>
                      </a:r>
                      <a:endParaRPr lang="en-US" sz="1000" dirty="0">
                        <a:latin typeface="DM Mono" charset="0"/>
                        <a:ea typeface="DM Mono" charset="0"/>
                        <a:cs typeface="DM Mono" charset="0"/>
                      </a:endParaRPr>
                    </a:p>
                  </a:txBody>
                  <a:tcPr>
                    <a:lnL w="6350" cap="flat" cmpd="sng" algn="ctr">
                      <a:solidFill>
                        <a:srgbClr val="C8C0B4"/>
                      </a:solidFill>
                      <a:prstDash val="solid"/>
                      <a:round/>
                      <a:headEnd type="none" w="med" len="med"/>
                      <a:tailEnd type="none" w="med" len="med"/>
                    </a:lnL>
                    <a:lnR w="6350" cap="flat" cmpd="sng" algn="ctr">
                      <a:solidFill>
                        <a:srgbClr val="C8C0B4"/>
                      </a:solidFill>
                      <a:prstDash val="solid"/>
                      <a:round/>
                      <a:headEnd type="none" w="med" len="med"/>
                      <a:tailEnd type="none" w="med" len="med"/>
                    </a:lnR>
                    <a:lnT w="6350" cap="flat" cmpd="sng" algn="ctr">
                      <a:solidFill>
                        <a:srgbClr val="C8C0B4"/>
                      </a:solidFill>
                      <a:prstDash val="solid"/>
                      <a:round/>
                      <a:headEnd type="none" w="med" len="med"/>
                      <a:tailEnd type="none" w="med" len="med"/>
                    </a:lnT>
                    <a:lnB w="6350" cap="flat" cmpd="sng" algn="ctr">
                      <a:solidFill>
                        <a:srgbClr val="C8C0B4"/>
                      </a:solidFill>
                      <a:prstDash val="solid"/>
                      <a:round/>
                      <a:headEnd type="none" w="med" len="med"/>
                      <a:tailEnd type="none" w="med" len="med"/>
                    </a:lnB>
                    <a:solidFill>
                      <a:srgbClr val="F5F0E8"/>
                    </a:solidFill>
                  </a:tcPr>
                </a:tc>
                <a:tc>
                  <a:txBody>
                    <a:bodyPr/>
                    <a:lstStyle/>
                    <a:p>
                      <a:pPr marL="0" indent="0">
                        <a:buNone/>
                      </a:pPr>
                      <a:r>
                        <a:rPr lang="en-US" sz="1000" dirty="0">
                          <a:solidFill>
                            <a:srgbClr val="0F1F33"/>
                          </a:solidFill>
                          <a:latin typeface="DM Mono" pitchFamily="34" charset="0"/>
                          <a:ea typeface="DM Mono" pitchFamily="34" charset="-122"/>
                          <a:cs typeface="DM Mono" pitchFamily="34" charset="-120"/>
                        </a:rPr>
                        <a:t>NOT_STARTED</a:t>
                      </a:r>
                      <a:endParaRPr lang="en-US" sz="1000" dirty="0">
                        <a:latin typeface="DM Mono" charset="0"/>
                        <a:ea typeface="DM Mono" charset="0"/>
                        <a:cs typeface="DM Mono" charset="0"/>
                      </a:endParaRPr>
                    </a:p>
                  </a:txBody>
                  <a:tcPr>
                    <a:lnL w="6350" cap="flat" cmpd="sng" algn="ctr">
                      <a:solidFill>
                        <a:srgbClr val="C8C0B4"/>
                      </a:solidFill>
                      <a:prstDash val="solid"/>
                      <a:round/>
                      <a:headEnd type="none" w="med" len="med"/>
                      <a:tailEnd type="none" w="med" len="med"/>
                    </a:lnL>
                    <a:lnR w="6350" cap="flat" cmpd="sng" algn="ctr">
                      <a:solidFill>
                        <a:srgbClr val="C8C0B4"/>
                      </a:solidFill>
                      <a:prstDash val="solid"/>
                      <a:round/>
                      <a:headEnd type="none" w="med" len="med"/>
                      <a:tailEnd type="none" w="med" len="med"/>
                    </a:lnR>
                    <a:lnT w="6350" cap="flat" cmpd="sng" algn="ctr">
                      <a:solidFill>
                        <a:srgbClr val="C8C0B4"/>
                      </a:solidFill>
                      <a:prstDash val="solid"/>
                      <a:round/>
                      <a:headEnd type="none" w="med" len="med"/>
                      <a:tailEnd type="none" w="med" len="med"/>
                    </a:lnT>
                    <a:lnB w="6350" cap="flat" cmpd="sng" algn="ctr">
                      <a:solidFill>
                        <a:srgbClr val="C8C0B4"/>
                      </a:solidFill>
                      <a:prstDash val="solid"/>
                      <a:round/>
                      <a:headEnd type="none" w="med" len="med"/>
                      <a:tailEnd type="none" w="med" len="med"/>
                    </a:lnB>
                    <a:solidFill>
                      <a:srgbClr val="F5F0E8"/>
                    </a:solidFill>
                  </a:tcPr>
                </a:tc>
                <a:tc>
                  <a:txBody>
                    <a:bodyPr/>
                    <a:lstStyle/>
                    <a:p>
                      <a:pPr marL="0" indent="0">
                        <a:buNone/>
                      </a:pPr>
                      <a:r>
                        <a:rPr lang="en-US" sz="1000" dirty="0">
                          <a:solidFill>
                            <a:srgbClr val="0F1F33"/>
                          </a:solidFill>
                          <a:latin typeface="DM Mono" pitchFamily="34" charset="0"/>
                          <a:ea typeface="DM Mono" pitchFamily="34" charset="-122"/>
                          <a:cs typeface="DM Mono" pitchFamily="34" charset="-120"/>
                        </a:rPr>
                        <a:t>0%</a:t>
                      </a:r>
                      <a:endParaRPr lang="en-US" sz="1000" dirty="0">
                        <a:latin typeface="DM Mono" charset="0"/>
                        <a:ea typeface="DM Mono" charset="0"/>
                        <a:cs typeface="DM Mono" charset="0"/>
                      </a:endParaRPr>
                    </a:p>
                  </a:txBody>
                  <a:tcPr>
                    <a:lnL w="6350" cap="flat" cmpd="sng" algn="ctr">
                      <a:solidFill>
                        <a:srgbClr val="C8C0B4"/>
                      </a:solidFill>
                      <a:prstDash val="solid"/>
                      <a:round/>
                      <a:headEnd type="none" w="med" len="med"/>
                      <a:tailEnd type="none" w="med" len="med"/>
                    </a:lnL>
                    <a:lnR w="6350" cap="flat" cmpd="sng" algn="ctr">
                      <a:solidFill>
                        <a:srgbClr val="C8C0B4"/>
                      </a:solidFill>
                      <a:prstDash val="solid"/>
                      <a:round/>
                      <a:headEnd type="none" w="med" len="med"/>
                      <a:tailEnd type="none" w="med" len="med"/>
                    </a:lnR>
                    <a:lnT w="6350" cap="flat" cmpd="sng" algn="ctr">
                      <a:solidFill>
                        <a:srgbClr val="C8C0B4"/>
                      </a:solidFill>
                      <a:prstDash val="solid"/>
                      <a:round/>
                      <a:headEnd type="none" w="med" len="med"/>
                      <a:tailEnd type="none" w="med" len="med"/>
                    </a:lnT>
                    <a:lnB w="6350" cap="flat" cmpd="sng" algn="ctr">
                      <a:solidFill>
                        <a:srgbClr val="C8C0B4"/>
                      </a:solidFill>
                      <a:prstDash val="solid"/>
                      <a:round/>
                      <a:headEnd type="none" w="med" len="med"/>
                      <a:tailEnd type="none" w="med" len="med"/>
                    </a:lnB>
                    <a:solidFill>
                      <a:srgbClr val="F5F0E8"/>
                    </a:solidFill>
                  </a:tcPr>
                </a:tc>
                <a:tc>
                  <a:txBody>
                    <a:bodyPr/>
                    <a:lstStyle/>
                    <a:p>
                      <a:pPr marL="0" indent="0">
                        <a:buNone/>
                      </a:pPr>
                      <a:r>
                        <a:rPr lang="en-US" sz="1000" dirty="0">
                          <a:solidFill>
                            <a:srgbClr val="0F1F33"/>
                          </a:solidFill>
                          <a:latin typeface="DM Mono" pitchFamily="34" charset="0"/>
                          <a:ea typeface="DM Mono" pitchFamily="34" charset="-122"/>
                          <a:cs typeface="DM Mono" pitchFamily="34" charset="-120"/>
                        </a:rPr>
                        <a:t>2026-05-30</a:t>
                      </a:r>
                      <a:endParaRPr lang="en-US" sz="1000" dirty="0">
                        <a:latin typeface="DM Mono" charset="0"/>
                        <a:ea typeface="DM Mono" charset="0"/>
                        <a:cs typeface="DM Mono" charset="0"/>
                      </a:endParaRPr>
                    </a:p>
                  </a:txBody>
                  <a:tcPr>
                    <a:lnL w="6350" cap="flat" cmpd="sng" algn="ctr">
                      <a:solidFill>
                        <a:srgbClr val="C8C0B4"/>
                      </a:solidFill>
                      <a:prstDash val="solid"/>
                      <a:round/>
                      <a:headEnd type="none" w="med" len="med"/>
                      <a:tailEnd type="none" w="med" len="med"/>
                    </a:lnL>
                    <a:lnR w="6350" cap="flat" cmpd="sng" algn="ctr">
                      <a:solidFill>
                        <a:srgbClr val="C8C0B4"/>
                      </a:solidFill>
                      <a:prstDash val="solid"/>
                      <a:round/>
                      <a:headEnd type="none" w="med" len="med"/>
                      <a:tailEnd type="none" w="med" len="med"/>
                    </a:lnR>
                    <a:lnT w="6350" cap="flat" cmpd="sng" algn="ctr">
                      <a:solidFill>
                        <a:srgbClr val="C8C0B4"/>
                      </a:solidFill>
                      <a:prstDash val="solid"/>
                      <a:round/>
                      <a:headEnd type="none" w="med" len="med"/>
                      <a:tailEnd type="none" w="med" len="med"/>
                    </a:lnT>
                    <a:lnB w="6350" cap="flat" cmpd="sng" algn="ctr">
                      <a:solidFill>
                        <a:srgbClr val="C8C0B4"/>
                      </a:solidFill>
                      <a:prstDash val="solid"/>
                      <a:round/>
                      <a:headEnd type="none" w="med" len="med"/>
                      <a:tailEnd type="none" w="med" len="med"/>
                    </a:lnB>
                    <a:solidFill>
                      <a:srgbClr val="F5F0E8"/>
                    </a:solidFill>
                  </a:tcPr>
                </a:tc>
                <a:extLst>
                  <a:ext uri="{0D108BD9-81ED-4DB2-BD59-A6C34878D82A}">
                    <a16:rowId xmlns:a16="http://schemas.microsoft.com/office/drawing/2014/main" val="10003"/>
                  </a:ext>
                </a:extLst>
              </a:tr>
              <a:tr h="329184">
                <a:tc>
                  <a:txBody>
                    <a:bodyPr/>
                    <a:lstStyle/>
                    <a:p>
                      <a:pPr marL="0" indent="0">
                        <a:buNone/>
                      </a:pPr>
                      <a:r>
                        <a:rPr lang="en-US" sz="1000" dirty="0">
                          <a:solidFill>
                            <a:srgbClr val="0F1F33"/>
                          </a:solidFill>
                          <a:latin typeface="DM Mono" pitchFamily="34" charset="0"/>
                          <a:ea typeface="DM Mono" pitchFamily="34" charset="-122"/>
                          <a:cs typeface="DM Mono" pitchFamily="34" charset="-120"/>
                        </a:rPr>
                        <a:t>Install IR Suite (Jetson)</a:t>
                      </a:r>
                      <a:endParaRPr lang="en-US" sz="1000" dirty="0">
                        <a:latin typeface="DM Mono" charset="0"/>
                        <a:ea typeface="DM Mono" charset="0"/>
                        <a:cs typeface="DM Mono" charset="0"/>
                      </a:endParaRPr>
                    </a:p>
                  </a:txBody>
                  <a:tcPr>
                    <a:lnL w="6350" cap="flat" cmpd="sng" algn="ctr">
                      <a:solidFill>
                        <a:srgbClr val="C8C0B4"/>
                      </a:solidFill>
                      <a:prstDash val="solid"/>
                      <a:round/>
                      <a:headEnd type="none" w="med" len="med"/>
                      <a:tailEnd type="none" w="med" len="med"/>
                    </a:lnL>
                    <a:lnR w="6350" cap="flat" cmpd="sng" algn="ctr">
                      <a:solidFill>
                        <a:srgbClr val="C8C0B4"/>
                      </a:solidFill>
                      <a:prstDash val="solid"/>
                      <a:round/>
                      <a:headEnd type="none" w="med" len="med"/>
                      <a:tailEnd type="none" w="med" len="med"/>
                    </a:lnR>
                    <a:lnT w="6350" cap="flat" cmpd="sng" algn="ctr">
                      <a:solidFill>
                        <a:srgbClr val="C8C0B4"/>
                      </a:solidFill>
                      <a:prstDash val="solid"/>
                      <a:round/>
                      <a:headEnd type="none" w="med" len="med"/>
                      <a:tailEnd type="none" w="med" len="med"/>
                    </a:lnT>
                    <a:lnB w="6350" cap="flat" cmpd="sng" algn="ctr">
                      <a:solidFill>
                        <a:srgbClr val="C8C0B4"/>
                      </a:solidFill>
                      <a:prstDash val="solid"/>
                      <a:round/>
                      <a:headEnd type="none" w="med" len="med"/>
                      <a:tailEnd type="none" w="med" len="med"/>
                    </a:lnB>
                    <a:solidFill>
                      <a:srgbClr val="ECE7DF"/>
                    </a:solidFill>
                  </a:tcPr>
                </a:tc>
                <a:tc>
                  <a:txBody>
                    <a:bodyPr/>
                    <a:lstStyle/>
                    <a:p>
                      <a:pPr marL="0" indent="0">
                        <a:buNone/>
                      </a:pPr>
                      <a:r>
                        <a:rPr lang="en-US" sz="1000" dirty="0">
                          <a:solidFill>
                            <a:srgbClr val="0F1F33"/>
                          </a:solidFill>
                          <a:latin typeface="DM Mono" pitchFamily="34" charset="0"/>
                          <a:ea typeface="DM Mono" pitchFamily="34" charset="-122"/>
                          <a:cs typeface="DM Mono" pitchFamily="34" charset="-120"/>
                        </a:rPr>
                        <a:t>NOT_STARTED</a:t>
                      </a:r>
                      <a:endParaRPr lang="en-US" sz="1000" dirty="0">
                        <a:latin typeface="DM Mono" charset="0"/>
                        <a:ea typeface="DM Mono" charset="0"/>
                        <a:cs typeface="DM Mono" charset="0"/>
                      </a:endParaRPr>
                    </a:p>
                  </a:txBody>
                  <a:tcPr>
                    <a:lnL w="6350" cap="flat" cmpd="sng" algn="ctr">
                      <a:solidFill>
                        <a:srgbClr val="C8C0B4"/>
                      </a:solidFill>
                      <a:prstDash val="solid"/>
                      <a:round/>
                      <a:headEnd type="none" w="med" len="med"/>
                      <a:tailEnd type="none" w="med" len="med"/>
                    </a:lnL>
                    <a:lnR w="6350" cap="flat" cmpd="sng" algn="ctr">
                      <a:solidFill>
                        <a:srgbClr val="C8C0B4"/>
                      </a:solidFill>
                      <a:prstDash val="solid"/>
                      <a:round/>
                      <a:headEnd type="none" w="med" len="med"/>
                      <a:tailEnd type="none" w="med" len="med"/>
                    </a:lnR>
                    <a:lnT w="6350" cap="flat" cmpd="sng" algn="ctr">
                      <a:solidFill>
                        <a:srgbClr val="C8C0B4"/>
                      </a:solidFill>
                      <a:prstDash val="solid"/>
                      <a:round/>
                      <a:headEnd type="none" w="med" len="med"/>
                      <a:tailEnd type="none" w="med" len="med"/>
                    </a:lnT>
                    <a:lnB w="6350" cap="flat" cmpd="sng" algn="ctr">
                      <a:solidFill>
                        <a:srgbClr val="C8C0B4"/>
                      </a:solidFill>
                      <a:prstDash val="solid"/>
                      <a:round/>
                      <a:headEnd type="none" w="med" len="med"/>
                      <a:tailEnd type="none" w="med" len="med"/>
                    </a:lnB>
                    <a:solidFill>
                      <a:srgbClr val="ECE7DF"/>
                    </a:solidFill>
                  </a:tcPr>
                </a:tc>
                <a:tc>
                  <a:txBody>
                    <a:bodyPr/>
                    <a:lstStyle/>
                    <a:p>
                      <a:pPr marL="0" indent="0">
                        <a:buNone/>
                      </a:pPr>
                      <a:r>
                        <a:rPr lang="en-US" sz="1000" dirty="0">
                          <a:solidFill>
                            <a:srgbClr val="0F1F33"/>
                          </a:solidFill>
                          <a:latin typeface="DM Mono" pitchFamily="34" charset="0"/>
                          <a:ea typeface="DM Mono" pitchFamily="34" charset="-122"/>
                          <a:cs typeface="DM Mono" pitchFamily="34" charset="-120"/>
                        </a:rPr>
                        <a:t>0%</a:t>
                      </a:r>
                      <a:endParaRPr lang="en-US" sz="1000" dirty="0">
                        <a:latin typeface="DM Mono" charset="0"/>
                        <a:ea typeface="DM Mono" charset="0"/>
                        <a:cs typeface="DM Mono" charset="0"/>
                      </a:endParaRPr>
                    </a:p>
                  </a:txBody>
                  <a:tcPr>
                    <a:lnL w="6350" cap="flat" cmpd="sng" algn="ctr">
                      <a:solidFill>
                        <a:srgbClr val="C8C0B4"/>
                      </a:solidFill>
                      <a:prstDash val="solid"/>
                      <a:round/>
                      <a:headEnd type="none" w="med" len="med"/>
                      <a:tailEnd type="none" w="med" len="med"/>
                    </a:lnL>
                    <a:lnR w="6350" cap="flat" cmpd="sng" algn="ctr">
                      <a:solidFill>
                        <a:srgbClr val="C8C0B4"/>
                      </a:solidFill>
                      <a:prstDash val="solid"/>
                      <a:round/>
                      <a:headEnd type="none" w="med" len="med"/>
                      <a:tailEnd type="none" w="med" len="med"/>
                    </a:lnR>
                    <a:lnT w="6350" cap="flat" cmpd="sng" algn="ctr">
                      <a:solidFill>
                        <a:srgbClr val="C8C0B4"/>
                      </a:solidFill>
                      <a:prstDash val="solid"/>
                      <a:round/>
                      <a:headEnd type="none" w="med" len="med"/>
                      <a:tailEnd type="none" w="med" len="med"/>
                    </a:lnT>
                    <a:lnB w="6350" cap="flat" cmpd="sng" algn="ctr">
                      <a:solidFill>
                        <a:srgbClr val="C8C0B4"/>
                      </a:solidFill>
                      <a:prstDash val="solid"/>
                      <a:round/>
                      <a:headEnd type="none" w="med" len="med"/>
                      <a:tailEnd type="none" w="med" len="med"/>
                    </a:lnB>
                    <a:solidFill>
                      <a:srgbClr val="ECE7DF"/>
                    </a:solidFill>
                  </a:tcPr>
                </a:tc>
                <a:tc>
                  <a:txBody>
                    <a:bodyPr/>
                    <a:lstStyle/>
                    <a:p>
                      <a:pPr marL="0" indent="0">
                        <a:buNone/>
                      </a:pPr>
                      <a:r>
                        <a:rPr lang="en-US" sz="1000" dirty="0">
                          <a:solidFill>
                            <a:srgbClr val="0F1F33"/>
                          </a:solidFill>
                          <a:latin typeface="DM Mono" pitchFamily="34" charset="0"/>
                          <a:ea typeface="DM Mono" pitchFamily="34" charset="-122"/>
                          <a:cs typeface="DM Mono" pitchFamily="34" charset="-120"/>
                        </a:rPr>
                        <a:t>2026-05-01</a:t>
                      </a:r>
                      <a:endParaRPr lang="en-US" sz="1000" dirty="0">
                        <a:latin typeface="DM Mono" charset="0"/>
                        <a:ea typeface="DM Mono" charset="0"/>
                        <a:cs typeface="DM Mono" charset="0"/>
                      </a:endParaRPr>
                    </a:p>
                  </a:txBody>
                  <a:tcPr>
                    <a:lnL w="6350" cap="flat" cmpd="sng" algn="ctr">
                      <a:solidFill>
                        <a:srgbClr val="C8C0B4"/>
                      </a:solidFill>
                      <a:prstDash val="solid"/>
                      <a:round/>
                      <a:headEnd type="none" w="med" len="med"/>
                      <a:tailEnd type="none" w="med" len="med"/>
                    </a:lnL>
                    <a:lnR w="6350" cap="flat" cmpd="sng" algn="ctr">
                      <a:solidFill>
                        <a:srgbClr val="C8C0B4"/>
                      </a:solidFill>
                      <a:prstDash val="solid"/>
                      <a:round/>
                      <a:headEnd type="none" w="med" len="med"/>
                      <a:tailEnd type="none" w="med" len="med"/>
                    </a:lnR>
                    <a:lnT w="6350" cap="flat" cmpd="sng" algn="ctr">
                      <a:solidFill>
                        <a:srgbClr val="C8C0B4"/>
                      </a:solidFill>
                      <a:prstDash val="solid"/>
                      <a:round/>
                      <a:headEnd type="none" w="med" len="med"/>
                      <a:tailEnd type="none" w="med" len="med"/>
                    </a:lnT>
                    <a:lnB w="6350" cap="flat" cmpd="sng" algn="ctr">
                      <a:solidFill>
                        <a:srgbClr val="C8C0B4"/>
                      </a:solidFill>
                      <a:prstDash val="solid"/>
                      <a:round/>
                      <a:headEnd type="none" w="med" len="med"/>
                      <a:tailEnd type="none" w="med" len="med"/>
                    </a:lnB>
                    <a:solidFill>
                      <a:srgbClr val="ECE7DF"/>
                    </a:solidFill>
                  </a:tcPr>
                </a:tc>
                <a:extLst>
                  <a:ext uri="{0D108BD9-81ED-4DB2-BD59-A6C34878D82A}">
                    <a16:rowId xmlns:a16="http://schemas.microsoft.com/office/drawing/2014/main" val="10004"/>
                  </a:ext>
                </a:extLst>
              </a:tr>
              <a:tr h="329184">
                <a:tc>
                  <a:txBody>
                    <a:bodyPr/>
                    <a:lstStyle/>
                    <a:p>
                      <a:pPr marL="0" indent="0">
                        <a:buNone/>
                      </a:pPr>
                      <a:r>
                        <a:rPr lang="en-US" sz="1000" dirty="0">
                          <a:solidFill>
                            <a:srgbClr val="0F1F33"/>
                          </a:solidFill>
                          <a:latin typeface="DM Mono" pitchFamily="34" charset="0"/>
                          <a:ea typeface="DM Mono" pitchFamily="34" charset="-122"/>
                          <a:cs typeface="DM Mono" pitchFamily="34" charset="-120"/>
                        </a:rPr>
                        <a:t>Validate Jetson Env.</a:t>
                      </a:r>
                      <a:endParaRPr lang="en-US" sz="1000" dirty="0">
                        <a:latin typeface="DM Mono" charset="0"/>
                        <a:ea typeface="DM Mono" charset="0"/>
                        <a:cs typeface="DM Mono" charset="0"/>
                      </a:endParaRPr>
                    </a:p>
                  </a:txBody>
                  <a:tcPr>
                    <a:lnL w="6350" cap="flat" cmpd="sng" algn="ctr">
                      <a:solidFill>
                        <a:srgbClr val="C8C0B4"/>
                      </a:solidFill>
                      <a:prstDash val="solid"/>
                      <a:round/>
                      <a:headEnd type="none" w="med" len="med"/>
                      <a:tailEnd type="none" w="med" len="med"/>
                    </a:lnL>
                    <a:lnR w="6350" cap="flat" cmpd="sng" algn="ctr">
                      <a:solidFill>
                        <a:srgbClr val="C8C0B4"/>
                      </a:solidFill>
                      <a:prstDash val="solid"/>
                      <a:round/>
                      <a:headEnd type="none" w="med" len="med"/>
                      <a:tailEnd type="none" w="med" len="med"/>
                    </a:lnR>
                    <a:lnT w="6350" cap="flat" cmpd="sng" algn="ctr">
                      <a:solidFill>
                        <a:srgbClr val="C8C0B4"/>
                      </a:solidFill>
                      <a:prstDash val="solid"/>
                      <a:round/>
                      <a:headEnd type="none" w="med" len="med"/>
                      <a:tailEnd type="none" w="med" len="med"/>
                    </a:lnT>
                    <a:lnB w="6350" cap="flat" cmpd="sng" algn="ctr">
                      <a:solidFill>
                        <a:srgbClr val="C8C0B4"/>
                      </a:solidFill>
                      <a:prstDash val="solid"/>
                      <a:round/>
                      <a:headEnd type="none" w="med" len="med"/>
                      <a:tailEnd type="none" w="med" len="med"/>
                    </a:lnB>
                    <a:solidFill>
                      <a:srgbClr val="F5F0E8"/>
                    </a:solidFill>
                  </a:tcPr>
                </a:tc>
                <a:tc>
                  <a:txBody>
                    <a:bodyPr/>
                    <a:lstStyle/>
                    <a:p>
                      <a:pPr marL="0" indent="0">
                        <a:buNone/>
                      </a:pPr>
                      <a:r>
                        <a:rPr lang="en-US" sz="1000" dirty="0">
                          <a:solidFill>
                            <a:srgbClr val="0F1F33"/>
                          </a:solidFill>
                          <a:latin typeface="DM Mono" pitchFamily="34" charset="0"/>
                          <a:ea typeface="DM Mono" pitchFamily="34" charset="-122"/>
                          <a:cs typeface="DM Mono" pitchFamily="34" charset="-120"/>
                        </a:rPr>
                        <a:t>NOT_STARTED</a:t>
                      </a:r>
                      <a:endParaRPr lang="en-US" sz="1000" dirty="0">
                        <a:latin typeface="DM Mono" charset="0"/>
                        <a:ea typeface="DM Mono" charset="0"/>
                        <a:cs typeface="DM Mono" charset="0"/>
                      </a:endParaRPr>
                    </a:p>
                  </a:txBody>
                  <a:tcPr>
                    <a:lnL w="6350" cap="flat" cmpd="sng" algn="ctr">
                      <a:solidFill>
                        <a:srgbClr val="C8C0B4"/>
                      </a:solidFill>
                      <a:prstDash val="solid"/>
                      <a:round/>
                      <a:headEnd type="none" w="med" len="med"/>
                      <a:tailEnd type="none" w="med" len="med"/>
                    </a:lnL>
                    <a:lnR w="6350" cap="flat" cmpd="sng" algn="ctr">
                      <a:solidFill>
                        <a:srgbClr val="C8C0B4"/>
                      </a:solidFill>
                      <a:prstDash val="solid"/>
                      <a:round/>
                      <a:headEnd type="none" w="med" len="med"/>
                      <a:tailEnd type="none" w="med" len="med"/>
                    </a:lnR>
                    <a:lnT w="6350" cap="flat" cmpd="sng" algn="ctr">
                      <a:solidFill>
                        <a:srgbClr val="C8C0B4"/>
                      </a:solidFill>
                      <a:prstDash val="solid"/>
                      <a:round/>
                      <a:headEnd type="none" w="med" len="med"/>
                      <a:tailEnd type="none" w="med" len="med"/>
                    </a:lnT>
                    <a:lnB w="6350" cap="flat" cmpd="sng" algn="ctr">
                      <a:solidFill>
                        <a:srgbClr val="C8C0B4"/>
                      </a:solidFill>
                      <a:prstDash val="solid"/>
                      <a:round/>
                      <a:headEnd type="none" w="med" len="med"/>
                      <a:tailEnd type="none" w="med" len="med"/>
                    </a:lnB>
                    <a:solidFill>
                      <a:srgbClr val="F5F0E8"/>
                    </a:solidFill>
                  </a:tcPr>
                </a:tc>
                <a:tc>
                  <a:txBody>
                    <a:bodyPr/>
                    <a:lstStyle/>
                    <a:p>
                      <a:pPr marL="0" indent="0">
                        <a:buNone/>
                      </a:pPr>
                      <a:r>
                        <a:rPr lang="en-US" sz="1000" dirty="0">
                          <a:solidFill>
                            <a:srgbClr val="0F1F33"/>
                          </a:solidFill>
                          <a:latin typeface="DM Mono" pitchFamily="34" charset="0"/>
                          <a:ea typeface="DM Mono" pitchFamily="34" charset="-122"/>
                          <a:cs typeface="DM Mono" pitchFamily="34" charset="-120"/>
                        </a:rPr>
                        <a:t>0%</a:t>
                      </a:r>
                      <a:endParaRPr lang="en-US" sz="1000" dirty="0">
                        <a:latin typeface="DM Mono" charset="0"/>
                        <a:ea typeface="DM Mono" charset="0"/>
                        <a:cs typeface="DM Mono" charset="0"/>
                      </a:endParaRPr>
                    </a:p>
                  </a:txBody>
                  <a:tcPr>
                    <a:lnL w="6350" cap="flat" cmpd="sng" algn="ctr">
                      <a:solidFill>
                        <a:srgbClr val="C8C0B4"/>
                      </a:solidFill>
                      <a:prstDash val="solid"/>
                      <a:round/>
                      <a:headEnd type="none" w="med" len="med"/>
                      <a:tailEnd type="none" w="med" len="med"/>
                    </a:lnL>
                    <a:lnR w="6350" cap="flat" cmpd="sng" algn="ctr">
                      <a:solidFill>
                        <a:srgbClr val="C8C0B4"/>
                      </a:solidFill>
                      <a:prstDash val="solid"/>
                      <a:round/>
                      <a:headEnd type="none" w="med" len="med"/>
                      <a:tailEnd type="none" w="med" len="med"/>
                    </a:lnR>
                    <a:lnT w="6350" cap="flat" cmpd="sng" algn="ctr">
                      <a:solidFill>
                        <a:srgbClr val="C8C0B4"/>
                      </a:solidFill>
                      <a:prstDash val="solid"/>
                      <a:round/>
                      <a:headEnd type="none" w="med" len="med"/>
                      <a:tailEnd type="none" w="med" len="med"/>
                    </a:lnT>
                    <a:lnB w="6350" cap="flat" cmpd="sng" algn="ctr">
                      <a:solidFill>
                        <a:srgbClr val="C8C0B4"/>
                      </a:solidFill>
                      <a:prstDash val="solid"/>
                      <a:round/>
                      <a:headEnd type="none" w="med" len="med"/>
                      <a:tailEnd type="none" w="med" len="med"/>
                    </a:lnB>
                    <a:solidFill>
                      <a:srgbClr val="F5F0E8"/>
                    </a:solidFill>
                  </a:tcPr>
                </a:tc>
                <a:tc>
                  <a:txBody>
                    <a:bodyPr/>
                    <a:lstStyle/>
                    <a:p>
                      <a:pPr marL="0" indent="0">
                        <a:buNone/>
                      </a:pPr>
                      <a:r>
                        <a:rPr lang="en-US" sz="1000" dirty="0">
                          <a:solidFill>
                            <a:srgbClr val="0F1F33"/>
                          </a:solidFill>
                          <a:latin typeface="DM Mono" pitchFamily="34" charset="0"/>
                          <a:ea typeface="DM Mono" pitchFamily="34" charset="-122"/>
                          <a:cs typeface="DM Mono" pitchFamily="34" charset="-120"/>
                        </a:rPr>
                        <a:t>2026-05-22</a:t>
                      </a:r>
                      <a:endParaRPr lang="en-US" sz="1000" dirty="0">
                        <a:latin typeface="DM Mono" charset="0"/>
                        <a:ea typeface="DM Mono" charset="0"/>
                        <a:cs typeface="DM Mono" charset="0"/>
                      </a:endParaRPr>
                    </a:p>
                  </a:txBody>
                  <a:tcPr>
                    <a:lnL w="6350" cap="flat" cmpd="sng" algn="ctr">
                      <a:solidFill>
                        <a:srgbClr val="C8C0B4"/>
                      </a:solidFill>
                      <a:prstDash val="solid"/>
                      <a:round/>
                      <a:headEnd type="none" w="med" len="med"/>
                      <a:tailEnd type="none" w="med" len="med"/>
                    </a:lnL>
                    <a:lnR w="6350" cap="flat" cmpd="sng" algn="ctr">
                      <a:solidFill>
                        <a:srgbClr val="C8C0B4"/>
                      </a:solidFill>
                      <a:prstDash val="solid"/>
                      <a:round/>
                      <a:headEnd type="none" w="med" len="med"/>
                      <a:tailEnd type="none" w="med" len="med"/>
                    </a:lnR>
                    <a:lnT w="6350" cap="flat" cmpd="sng" algn="ctr">
                      <a:solidFill>
                        <a:srgbClr val="C8C0B4"/>
                      </a:solidFill>
                      <a:prstDash val="solid"/>
                      <a:round/>
                      <a:headEnd type="none" w="med" len="med"/>
                      <a:tailEnd type="none" w="med" len="med"/>
                    </a:lnT>
                    <a:lnB w="6350" cap="flat" cmpd="sng" algn="ctr">
                      <a:solidFill>
                        <a:srgbClr val="C8C0B4"/>
                      </a:solidFill>
                      <a:prstDash val="solid"/>
                      <a:round/>
                      <a:headEnd type="none" w="med" len="med"/>
                      <a:tailEnd type="none" w="med" len="med"/>
                    </a:lnB>
                    <a:solidFill>
                      <a:srgbClr val="F5F0E8"/>
                    </a:solidFill>
                  </a:tcPr>
                </a:tc>
                <a:extLst>
                  <a:ext uri="{0D108BD9-81ED-4DB2-BD59-A6C34878D82A}">
                    <a16:rowId xmlns:a16="http://schemas.microsoft.com/office/drawing/2014/main" val="10005"/>
                  </a:ext>
                </a:extLst>
              </a:tr>
              <a:tr h="329184">
                <a:tc>
                  <a:txBody>
                    <a:bodyPr/>
                    <a:lstStyle/>
                    <a:p>
                      <a:pPr marL="0" indent="0">
                        <a:buNone/>
                      </a:pPr>
                      <a:r>
                        <a:rPr lang="en-US" sz="1000" dirty="0">
                          <a:solidFill>
                            <a:srgbClr val="0F1F33"/>
                          </a:solidFill>
                          <a:latin typeface="DM Mono" pitchFamily="34" charset="0"/>
                          <a:ea typeface="DM Mono" pitchFamily="34" charset="-122"/>
                          <a:cs typeface="DM Mono" pitchFamily="34" charset="-120"/>
                        </a:rPr>
                        <a:t>Benchmark IR YOLO Metrics</a:t>
                      </a:r>
                      <a:endParaRPr lang="en-US" sz="1000" dirty="0">
                        <a:latin typeface="DM Mono" charset="0"/>
                        <a:ea typeface="DM Mono" charset="0"/>
                        <a:cs typeface="DM Mono" charset="0"/>
                      </a:endParaRPr>
                    </a:p>
                  </a:txBody>
                  <a:tcPr>
                    <a:lnL w="6350" cap="flat" cmpd="sng" algn="ctr">
                      <a:solidFill>
                        <a:srgbClr val="C8C0B4"/>
                      </a:solidFill>
                      <a:prstDash val="solid"/>
                      <a:round/>
                      <a:headEnd type="none" w="med" len="med"/>
                      <a:tailEnd type="none" w="med" len="med"/>
                    </a:lnL>
                    <a:lnR w="6350" cap="flat" cmpd="sng" algn="ctr">
                      <a:solidFill>
                        <a:srgbClr val="C8C0B4"/>
                      </a:solidFill>
                      <a:prstDash val="solid"/>
                      <a:round/>
                      <a:headEnd type="none" w="med" len="med"/>
                      <a:tailEnd type="none" w="med" len="med"/>
                    </a:lnR>
                    <a:lnT w="6350" cap="flat" cmpd="sng" algn="ctr">
                      <a:solidFill>
                        <a:srgbClr val="C8C0B4"/>
                      </a:solidFill>
                      <a:prstDash val="solid"/>
                      <a:round/>
                      <a:headEnd type="none" w="med" len="med"/>
                      <a:tailEnd type="none" w="med" len="med"/>
                    </a:lnT>
                    <a:lnB w="6350" cap="flat" cmpd="sng" algn="ctr">
                      <a:solidFill>
                        <a:srgbClr val="C8C0B4"/>
                      </a:solidFill>
                      <a:prstDash val="solid"/>
                      <a:round/>
                      <a:headEnd type="none" w="med" len="med"/>
                      <a:tailEnd type="none" w="med" len="med"/>
                    </a:lnB>
                    <a:solidFill>
                      <a:srgbClr val="ECE7DF"/>
                    </a:solidFill>
                  </a:tcPr>
                </a:tc>
                <a:tc>
                  <a:txBody>
                    <a:bodyPr/>
                    <a:lstStyle/>
                    <a:p>
                      <a:pPr marL="0" indent="0">
                        <a:buNone/>
                      </a:pPr>
                      <a:r>
                        <a:rPr lang="en-US" sz="1000" dirty="0">
                          <a:solidFill>
                            <a:srgbClr val="0F1F33"/>
                          </a:solidFill>
                          <a:latin typeface="DM Mono" pitchFamily="34" charset="0"/>
                          <a:ea typeface="DM Mono" pitchFamily="34" charset="-122"/>
                          <a:cs typeface="DM Mono" pitchFamily="34" charset="-120"/>
                        </a:rPr>
                        <a:t>IN_PROGRESS</a:t>
                      </a:r>
                      <a:endParaRPr lang="en-US" sz="1000" dirty="0">
                        <a:latin typeface="DM Mono" charset="0"/>
                        <a:ea typeface="DM Mono" charset="0"/>
                        <a:cs typeface="DM Mono" charset="0"/>
                      </a:endParaRPr>
                    </a:p>
                  </a:txBody>
                  <a:tcPr>
                    <a:lnL w="6350" cap="flat" cmpd="sng" algn="ctr">
                      <a:solidFill>
                        <a:srgbClr val="C8C0B4"/>
                      </a:solidFill>
                      <a:prstDash val="solid"/>
                      <a:round/>
                      <a:headEnd type="none" w="med" len="med"/>
                      <a:tailEnd type="none" w="med" len="med"/>
                    </a:lnL>
                    <a:lnR w="6350" cap="flat" cmpd="sng" algn="ctr">
                      <a:solidFill>
                        <a:srgbClr val="C8C0B4"/>
                      </a:solidFill>
                      <a:prstDash val="solid"/>
                      <a:round/>
                      <a:headEnd type="none" w="med" len="med"/>
                      <a:tailEnd type="none" w="med" len="med"/>
                    </a:lnR>
                    <a:lnT w="6350" cap="flat" cmpd="sng" algn="ctr">
                      <a:solidFill>
                        <a:srgbClr val="C8C0B4"/>
                      </a:solidFill>
                      <a:prstDash val="solid"/>
                      <a:round/>
                      <a:headEnd type="none" w="med" len="med"/>
                      <a:tailEnd type="none" w="med" len="med"/>
                    </a:lnT>
                    <a:lnB w="6350" cap="flat" cmpd="sng" algn="ctr">
                      <a:solidFill>
                        <a:srgbClr val="C8C0B4"/>
                      </a:solidFill>
                      <a:prstDash val="solid"/>
                      <a:round/>
                      <a:headEnd type="none" w="med" len="med"/>
                      <a:tailEnd type="none" w="med" len="med"/>
                    </a:lnB>
                    <a:solidFill>
                      <a:srgbClr val="ECE7DF"/>
                    </a:solidFill>
                  </a:tcPr>
                </a:tc>
                <a:tc>
                  <a:txBody>
                    <a:bodyPr/>
                    <a:lstStyle/>
                    <a:p>
                      <a:pPr marL="0" indent="0">
                        <a:buNone/>
                      </a:pPr>
                      <a:r>
                        <a:rPr lang="en-US" sz="1000" dirty="0">
                          <a:solidFill>
                            <a:srgbClr val="0F1F33"/>
                          </a:solidFill>
                          <a:latin typeface="DM Mono" pitchFamily="34" charset="0"/>
                          <a:ea typeface="DM Mono" pitchFamily="34" charset="-122"/>
                          <a:cs typeface="DM Mono" pitchFamily="34" charset="-120"/>
                        </a:rPr>
                        <a:t>40%</a:t>
                      </a:r>
                      <a:endParaRPr lang="en-US" sz="1000" dirty="0">
                        <a:latin typeface="DM Mono" charset="0"/>
                        <a:ea typeface="DM Mono" charset="0"/>
                        <a:cs typeface="DM Mono" charset="0"/>
                      </a:endParaRPr>
                    </a:p>
                  </a:txBody>
                  <a:tcPr>
                    <a:lnL w="6350" cap="flat" cmpd="sng" algn="ctr">
                      <a:solidFill>
                        <a:srgbClr val="C8C0B4"/>
                      </a:solidFill>
                      <a:prstDash val="solid"/>
                      <a:round/>
                      <a:headEnd type="none" w="med" len="med"/>
                      <a:tailEnd type="none" w="med" len="med"/>
                    </a:lnL>
                    <a:lnR w="6350" cap="flat" cmpd="sng" algn="ctr">
                      <a:solidFill>
                        <a:srgbClr val="C8C0B4"/>
                      </a:solidFill>
                      <a:prstDash val="solid"/>
                      <a:round/>
                      <a:headEnd type="none" w="med" len="med"/>
                      <a:tailEnd type="none" w="med" len="med"/>
                    </a:lnR>
                    <a:lnT w="6350" cap="flat" cmpd="sng" algn="ctr">
                      <a:solidFill>
                        <a:srgbClr val="C8C0B4"/>
                      </a:solidFill>
                      <a:prstDash val="solid"/>
                      <a:round/>
                      <a:headEnd type="none" w="med" len="med"/>
                      <a:tailEnd type="none" w="med" len="med"/>
                    </a:lnT>
                    <a:lnB w="6350" cap="flat" cmpd="sng" algn="ctr">
                      <a:solidFill>
                        <a:srgbClr val="C8C0B4"/>
                      </a:solidFill>
                      <a:prstDash val="solid"/>
                      <a:round/>
                      <a:headEnd type="none" w="med" len="med"/>
                      <a:tailEnd type="none" w="med" len="med"/>
                    </a:lnB>
                    <a:solidFill>
                      <a:srgbClr val="ECE7DF"/>
                    </a:solidFill>
                  </a:tcPr>
                </a:tc>
                <a:tc>
                  <a:txBody>
                    <a:bodyPr/>
                    <a:lstStyle/>
                    <a:p>
                      <a:pPr marL="0" indent="0">
                        <a:buNone/>
                      </a:pPr>
                      <a:r>
                        <a:rPr lang="en-US" sz="1000" dirty="0">
                          <a:solidFill>
                            <a:srgbClr val="0F1F33"/>
                          </a:solidFill>
                          <a:latin typeface="DM Mono" pitchFamily="34" charset="0"/>
                          <a:ea typeface="DM Mono" pitchFamily="34" charset="-122"/>
                          <a:cs typeface="DM Mono" pitchFamily="34" charset="-120"/>
                        </a:rPr>
                        <a:t>2026-05-30</a:t>
                      </a:r>
                      <a:endParaRPr lang="en-US" sz="1000" dirty="0">
                        <a:latin typeface="DM Mono" charset="0"/>
                        <a:ea typeface="DM Mono" charset="0"/>
                        <a:cs typeface="DM Mono" charset="0"/>
                      </a:endParaRPr>
                    </a:p>
                  </a:txBody>
                  <a:tcPr>
                    <a:lnL w="6350" cap="flat" cmpd="sng" algn="ctr">
                      <a:solidFill>
                        <a:srgbClr val="C8C0B4"/>
                      </a:solidFill>
                      <a:prstDash val="solid"/>
                      <a:round/>
                      <a:headEnd type="none" w="med" len="med"/>
                      <a:tailEnd type="none" w="med" len="med"/>
                    </a:lnL>
                    <a:lnR w="6350" cap="flat" cmpd="sng" algn="ctr">
                      <a:solidFill>
                        <a:srgbClr val="C8C0B4"/>
                      </a:solidFill>
                      <a:prstDash val="solid"/>
                      <a:round/>
                      <a:headEnd type="none" w="med" len="med"/>
                      <a:tailEnd type="none" w="med" len="med"/>
                    </a:lnR>
                    <a:lnT w="6350" cap="flat" cmpd="sng" algn="ctr">
                      <a:solidFill>
                        <a:srgbClr val="C8C0B4"/>
                      </a:solidFill>
                      <a:prstDash val="solid"/>
                      <a:round/>
                      <a:headEnd type="none" w="med" len="med"/>
                      <a:tailEnd type="none" w="med" len="med"/>
                    </a:lnT>
                    <a:lnB w="6350" cap="flat" cmpd="sng" algn="ctr">
                      <a:solidFill>
                        <a:srgbClr val="C8C0B4"/>
                      </a:solidFill>
                      <a:prstDash val="solid"/>
                      <a:round/>
                      <a:headEnd type="none" w="med" len="med"/>
                      <a:tailEnd type="none" w="med" len="med"/>
                    </a:lnB>
                    <a:solidFill>
                      <a:srgbClr val="ECE7DF"/>
                    </a:solidFill>
                  </a:tcPr>
                </a:tc>
                <a:extLst>
                  <a:ext uri="{0D108BD9-81ED-4DB2-BD59-A6C34878D82A}">
                    <a16:rowId xmlns:a16="http://schemas.microsoft.com/office/drawing/2014/main" val="10006"/>
                  </a:ext>
                </a:extLst>
              </a:tr>
              <a:tr h="329184">
                <a:tc>
                  <a:txBody>
                    <a:bodyPr/>
                    <a:lstStyle/>
                    <a:p>
                      <a:pPr marL="0" indent="0">
                        <a:buNone/>
                      </a:pPr>
                      <a:r>
                        <a:rPr lang="en-US" sz="1000" dirty="0">
                          <a:solidFill>
                            <a:srgbClr val="0F1F33"/>
                          </a:solidFill>
                          <a:latin typeface="DM Mono" pitchFamily="34" charset="0"/>
                          <a:ea typeface="DM Mono" pitchFamily="34" charset="-122"/>
                          <a:cs typeface="DM Mono" pitchFamily="34" charset="-120"/>
                        </a:rPr>
                        <a:t>Archive YOLO Benchmark Results</a:t>
                      </a:r>
                      <a:endParaRPr lang="en-US" sz="1000" dirty="0">
                        <a:latin typeface="DM Mono" charset="0"/>
                        <a:ea typeface="DM Mono" charset="0"/>
                        <a:cs typeface="DM Mono" charset="0"/>
                      </a:endParaRPr>
                    </a:p>
                  </a:txBody>
                  <a:tcPr>
                    <a:lnL w="6350" cap="flat" cmpd="sng" algn="ctr">
                      <a:solidFill>
                        <a:srgbClr val="C8C0B4"/>
                      </a:solidFill>
                      <a:prstDash val="solid"/>
                      <a:round/>
                      <a:headEnd type="none" w="med" len="med"/>
                      <a:tailEnd type="none" w="med" len="med"/>
                    </a:lnL>
                    <a:lnR w="6350" cap="flat" cmpd="sng" algn="ctr">
                      <a:solidFill>
                        <a:srgbClr val="C8C0B4"/>
                      </a:solidFill>
                      <a:prstDash val="solid"/>
                      <a:round/>
                      <a:headEnd type="none" w="med" len="med"/>
                      <a:tailEnd type="none" w="med" len="med"/>
                    </a:lnR>
                    <a:lnT w="6350" cap="flat" cmpd="sng" algn="ctr">
                      <a:solidFill>
                        <a:srgbClr val="C8C0B4"/>
                      </a:solidFill>
                      <a:prstDash val="solid"/>
                      <a:round/>
                      <a:headEnd type="none" w="med" len="med"/>
                      <a:tailEnd type="none" w="med" len="med"/>
                    </a:lnT>
                    <a:lnB w="6350" cap="flat" cmpd="sng" algn="ctr">
                      <a:solidFill>
                        <a:srgbClr val="C8C0B4"/>
                      </a:solidFill>
                      <a:prstDash val="solid"/>
                      <a:round/>
                      <a:headEnd type="none" w="med" len="med"/>
                      <a:tailEnd type="none" w="med" len="med"/>
                    </a:lnB>
                    <a:solidFill>
                      <a:srgbClr val="F5F0E8"/>
                    </a:solidFill>
                  </a:tcPr>
                </a:tc>
                <a:tc>
                  <a:txBody>
                    <a:bodyPr/>
                    <a:lstStyle/>
                    <a:p>
                      <a:pPr marL="0" indent="0">
                        <a:buNone/>
                      </a:pPr>
                      <a:r>
                        <a:rPr lang="en-US" sz="1000" dirty="0">
                          <a:solidFill>
                            <a:srgbClr val="0F1F33"/>
                          </a:solidFill>
                          <a:latin typeface="DM Mono" pitchFamily="34" charset="0"/>
                          <a:ea typeface="DM Mono" pitchFamily="34" charset="-122"/>
                          <a:cs typeface="DM Mono" pitchFamily="34" charset="-120"/>
                        </a:rPr>
                        <a:t>NOT_STARTED</a:t>
                      </a:r>
                      <a:endParaRPr lang="en-US" sz="1000" dirty="0">
                        <a:latin typeface="DM Mono" charset="0"/>
                        <a:ea typeface="DM Mono" charset="0"/>
                        <a:cs typeface="DM Mono" charset="0"/>
                      </a:endParaRPr>
                    </a:p>
                  </a:txBody>
                  <a:tcPr>
                    <a:lnL w="6350" cap="flat" cmpd="sng" algn="ctr">
                      <a:solidFill>
                        <a:srgbClr val="C8C0B4"/>
                      </a:solidFill>
                      <a:prstDash val="solid"/>
                      <a:round/>
                      <a:headEnd type="none" w="med" len="med"/>
                      <a:tailEnd type="none" w="med" len="med"/>
                    </a:lnL>
                    <a:lnR w="6350" cap="flat" cmpd="sng" algn="ctr">
                      <a:solidFill>
                        <a:srgbClr val="C8C0B4"/>
                      </a:solidFill>
                      <a:prstDash val="solid"/>
                      <a:round/>
                      <a:headEnd type="none" w="med" len="med"/>
                      <a:tailEnd type="none" w="med" len="med"/>
                    </a:lnR>
                    <a:lnT w="6350" cap="flat" cmpd="sng" algn="ctr">
                      <a:solidFill>
                        <a:srgbClr val="C8C0B4"/>
                      </a:solidFill>
                      <a:prstDash val="solid"/>
                      <a:round/>
                      <a:headEnd type="none" w="med" len="med"/>
                      <a:tailEnd type="none" w="med" len="med"/>
                    </a:lnT>
                    <a:lnB w="6350" cap="flat" cmpd="sng" algn="ctr">
                      <a:solidFill>
                        <a:srgbClr val="C8C0B4"/>
                      </a:solidFill>
                      <a:prstDash val="solid"/>
                      <a:round/>
                      <a:headEnd type="none" w="med" len="med"/>
                      <a:tailEnd type="none" w="med" len="med"/>
                    </a:lnB>
                    <a:solidFill>
                      <a:srgbClr val="F5F0E8"/>
                    </a:solidFill>
                  </a:tcPr>
                </a:tc>
                <a:tc>
                  <a:txBody>
                    <a:bodyPr/>
                    <a:lstStyle/>
                    <a:p>
                      <a:pPr marL="0" indent="0">
                        <a:buNone/>
                      </a:pPr>
                      <a:r>
                        <a:rPr lang="en-US" sz="1000" dirty="0">
                          <a:solidFill>
                            <a:srgbClr val="0F1F33"/>
                          </a:solidFill>
                          <a:latin typeface="DM Mono" pitchFamily="34" charset="0"/>
                          <a:ea typeface="DM Mono" pitchFamily="34" charset="-122"/>
                          <a:cs typeface="DM Mono" pitchFamily="34" charset="-120"/>
                        </a:rPr>
                        <a:t>0%</a:t>
                      </a:r>
                      <a:endParaRPr lang="en-US" sz="1000" dirty="0">
                        <a:latin typeface="DM Mono" charset="0"/>
                        <a:ea typeface="DM Mono" charset="0"/>
                        <a:cs typeface="DM Mono" charset="0"/>
                      </a:endParaRPr>
                    </a:p>
                  </a:txBody>
                  <a:tcPr>
                    <a:lnL w="6350" cap="flat" cmpd="sng" algn="ctr">
                      <a:solidFill>
                        <a:srgbClr val="C8C0B4"/>
                      </a:solidFill>
                      <a:prstDash val="solid"/>
                      <a:round/>
                      <a:headEnd type="none" w="med" len="med"/>
                      <a:tailEnd type="none" w="med" len="med"/>
                    </a:lnL>
                    <a:lnR w="6350" cap="flat" cmpd="sng" algn="ctr">
                      <a:solidFill>
                        <a:srgbClr val="C8C0B4"/>
                      </a:solidFill>
                      <a:prstDash val="solid"/>
                      <a:round/>
                      <a:headEnd type="none" w="med" len="med"/>
                      <a:tailEnd type="none" w="med" len="med"/>
                    </a:lnR>
                    <a:lnT w="6350" cap="flat" cmpd="sng" algn="ctr">
                      <a:solidFill>
                        <a:srgbClr val="C8C0B4"/>
                      </a:solidFill>
                      <a:prstDash val="solid"/>
                      <a:round/>
                      <a:headEnd type="none" w="med" len="med"/>
                      <a:tailEnd type="none" w="med" len="med"/>
                    </a:lnT>
                    <a:lnB w="6350" cap="flat" cmpd="sng" algn="ctr">
                      <a:solidFill>
                        <a:srgbClr val="C8C0B4"/>
                      </a:solidFill>
                      <a:prstDash val="solid"/>
                      <a:round/>
                      <a:headEnd type="none" w="med" len="med"/>
                      <a:tailEnd type="none" w="med" len="med"/>
                    </a:lnB>
                    <a:solidFill>
                      <a:srgbClr val="F5F0E8"/>
                    </a:solidFill>
                  </a:tcPr>
                </a:tc>
                <a:tc>
                  <a:txBody>
                    <a:bodyPr/>
                    <a:lstStyle/>
                    <a:p>
                      <a:pPr marL="0" indent="0">
                        <a:buNone/>
                      </a:pPr>
                      <a:r>
                        <a:rPr lang="en-US" sz="1000" dirty="0">
                          <a:solidFill>
                            <a:srgbClr val="0F1F33"/>
                          </a:solidFill>
                          <a:latin typeface="DM Mono" pitchFamily="34" charset="0"/>
                          <a:ea typeface="DM Mono" pitchFamily="34" charset="-122"/>
                          <a:cs typeface="DM Mono" pitchFamily="34" charset="-120"/>
                        </a:rPr>
                        <a:t>2026-06-15</a:t>
                      </a:r>
                      <a:endParaRPr lang="en-US" sz="1000" dirty="0">
                        <a:latin typeface="DM Mono" charset="0"/>
                        <a:ea typeface="DM Mono" charset="0"/>
                        <a:cs typeface="DM Mono" charset="0"/>
                      </a:endParaRPr>
                    </a:p>
                  </a:txBody>
                  <a:tcPr>
                    <a:lnL w="6350" cap="flat" cmpd="sng" algn="ctr">
                      <a:solidFill>
                        <a:srgbClr val="C8C0B4"/>
                      </a:solidFill>
                      <a:prstDash val="solid"/>
                      <a:round/>
                      <a:headEnd type="none" w="med" len="med"/>
                      <a:tailEnd type="none" w="med" len="med"/>
                    </a:lnL>
                    <a:lnR w="6350" cap="flat" cmpd="sng" algn="ctr">
                      <a:solidFill>
                        <a:srgbClr val="C8C0B4"/>
                      </a:solidFill>
                      <a:prstDash val="solid"/>
                      <a:round/>
                      <a:headEnd type="none" w="med" len="med"/>
                      <a:tailEnd type="none" w="med" len="med"/>
                    </a:lnR>
                    <a:lnT w="6350" cap="flat" cmpd="sng" algn="ctr">
                      <a:solidFill>
                        <a:srgbClr val="C8C0B4"/>
                      </a:solidFill>
                      <a:prstDash val="solid"/>
                      <a:round/>
                      <a:headEnd type="none" w="med" len="med"/>
                      <a:tailEnd type="none" w="med" len="med"/>
                    </a:lnT>
                    <a:lnB w="6350" cap="flat" cmpd="sng" algn="ctr">
                      <a:solidFill>
                        <a:srgbClr val="C8C0B4"/>
                      </a:solidFill>
                      <a:prstDash val="solid"/>
                      <a:round/>
                      <a:headEnd type="none" w="med" len="med"/>
                      <a:tailEnd type="none" w="med" len="med"/>
                    </a:lnB>
                    <a:solidFill>
                      <a:srgbClr val="F5F0E8"/>
                    </a:solidFill>
                  </a:tcPr>
                </a:tc>
                <a:extLst>
                  <a:ext uri="{0D108BD9-81ED-4DB2-BD59-A6C34878D82A}">
                    <a16:rowId xmlns:a16="http://schemas.microsoft.com/office/drawing/2014/main" val="10007"/>
                  </a:ext>
                </a:extLst>
              </a:tr>
              <a:tr h="329184">
                <a:tc>
                  <a:txBody>
                    <a:bodyPr/>
                    <a:lstStyle/>
                    <a:p>
                      <a:pPr marL="0" indent="0">
                        <a:buNone/>
                      </a:pPr>
                      <a:r>
                        <a:rPr lang="en-US" sz="1000" dirty="0">
                          <a:solidFill>
                            <a:srgbClr val="0F1F33"/>
                          </a:solidFill>
                          <a:latin typeface="DM Mono" pitchFamily="34" charset="0"/>
                          <a:ea typeface="DM Mono" pitchFamily="34" charset="-122"/>
                          <a:cs typeface="DM Mono" pitchFamily="34" charset="-120"/>
                        </a:rPr>
                        <a:t>Finalize Cal. Documentation</a:t>
                      </a:r>
                      <a:endParaRPr lang="en-US" sz="1000" dirty="0">
                        <a:latin typeface="DM Mono" charset="0"/>
                        <a:ea typeface="DM Mono" charset="0"/>
                        <a:cs typeface="DM Mono" charset="0"/>
                      </a:endParaRPr>
                    </a:p>
                  </a:txBody>
                  <a:tcPr>
                    <a:lnL w="6350" cap="flat" cmpd="sng" algn="ctr">
                      <a:solidFill>
                        <a:srgbClr val="C8C0B4"/>
                      </a:solidFill>
                      <a:prstDash val="solid"/>
                      <a:round/>
                      <a:headEnd type="none" w="med" len="med"/>
                      <a:tailEnd type="none" w="med" len="med"/>
                    </a:lnL>
                    <a:lnR w="6350" cap="flat" cmpd="sng" algn="ctr">
                      <a:solidFill>
                        <a:srgbClr val="C8C0B4"/>
                      </a:solidFill>
                      <a:prstDash val="solid"/>
                      <a:round/>
                      <a:headEnd type="none" w="med" len="med"/>
                      <a:tailEnd type="none" w="med" len="med"/>
                    </a:lnR>
                    <a:lnT w="6350" cap="flat" cmpd="sng" algn="ctr">
                      <a:solidFill>
                        <a:srgbClr val="C8C0B4"/>
                      </a:solidFill>
                      <a:prstDash val="solid"/>
                      <a:round/>
                      <a:headEnd type="none" w="med" len="med"/>
                      <a:tailEnd type="none" w="med" len="med"/>
                    </a:lnT>
                    <a:lnB w="6350" cap="flat" cmpd="sng" algn="ctr">
                      <a:solidFill>
                        <a:srgbClr val="C8C0B4"/>
                      </a:solidFill>
                      <a:prstDash val="solid"/>
                      <a:round/>
                      <a:headEnd type="none" w="med" len="med"/>
                      <a:tailEnd type="none" w="med" len="med"/>
                    </a:lnB>
                    <a:solidFill>
                      <a:srgbClr val="ECE7DF"/>
                    </a:solidFill>
                  </a:tcPr>
                </a:tc>
                <a:tc>
                  <a:txBody>
                    <a:bodyPr/>
                    <a:lstStyle/>
                    <a:p>
                      <a:pPr marL="0" indent="0">
                        <a:buNone/>
                      </a:pPr>
                      <a:r>
                        <a:rPr lang="en-US" sz="1000" dirty="0">
                          <a:solidFill>
                            <a:srgbClr val="0F1F33"/>
                          </a:solidFill>
                          <a:latin typeface="DM Mono" pitchFamily="34" charset="0"/>
                          <a:ea typeface="DM Mono" pitchFamily="34" charset="-122"/>
                          <a:cs typeface="DM Mono" pitchFamily="34" charset="-120"/>
                        </a:rPr>
                        <a:t>NOT_STARTED</a:t>
                      </a:r>
                      <a:endParaRPr lang="en-US" sz="1000" dirty="0">
                        <a:latin typeface="DM Mono" charset="0"/>
                        <a:ea typeface="DM Mono" charset="0"/>
                        <a:cs typeface="DM Mono" charset="0"/>
                      </a:endParaRPr>
                    </a:p>
                  </a:txBody>
                  <a:tcPr>
                    <a:lnL w="6350" cap="flat" cmpd="sng" algn="ctr">
                      <a:solidFill>
                        <a:srgbClr val="C8C0B4"/>
                      </a:solidFill>
                      <a:prstDash val="solid"/>
                      <a:round/>
                      <a:headEnd type="none" w="med" len="med"/>
                      <a:tailEnd type="none" w="med" len="med"/>
                    </a:lnL>
                    <a:lnR w="6350" cap="flat" cmpd="sng" algn="ctr">
                      <a:solidFill>
                        <a:srgbClr val="C8C0B4"/>
                      </a:solidFill>
                      <a:prstDash val="solid"/>
                      <a:round/>
                      <a:headEnd type="none" w="med" len="med"/>
                      <a:tailEnd type="none" w="med" len="med"/>
                    </a:lnR>
                    <a:lnT w="6350" cap="flat" cmpd="sng" algn="ctr">
                      <a:solidFill>
                        <a:srgbClr val="C8C0B4"/>
                      </a:solidFill>
                      <a:prstDash val="solid"/>
                      <a:round/>
                      <a:headEnd type="none" w="med" len="med"/>
                      <a:tailEnd type="none" w="med" len="med"/>
                    </a:lnT>
                    <a:lnB w="6350" cap="flat" cmpd="sng" algn="ctr">
                      <a:solidFill>
                        <a:srgbClr val="C8C0B4"/>
                      </a:solidFill>
                      <a:prstDash val="solid"/>
                      <a:round/>
                      <a:headEnd type="none" w="med" len="med"/>
                      <a:tailEnd type="none" w="med" len="med"/>
                    </a:lnB>
                    <a:solidFill>
                      <a:srgbClr val="ECE7DF"/>
                    </a:solidFill>
                  </a:tcPr>
                </a:tc>
                <a:tc>
                  <a:txBody>
                    <a:bodyPr/>
                    <a:lstStyle/>
                    <a:p>
                      <a:pPr marL="0" indent="0">
                        <a:buNone/>
                      </a:pPr>
                      <a:r>
                        <a:rPr lang="en-US" sz="1000" dirty="0">
                          <a:solidFill>
                            <a:srgbClr val="0F1F33"/>
                          </a:solidFill>
                          <a:latin typeface="DM Mono" pitchFamily="34" charset="0"/>
                          <a:ea typeface="DM Mono" pitchFamily="34" charset="-122"/>
                          <a:cs typeface="DM Mono" pitchFamily="34" charset="-120"/>
                        </a:rPr>
                        <a:t>0%</a:t>
                      </a:r>
                      <a:endParaRPr lang="en-US" sz="1000" dirty="0">
                        <a:latin typeface="DM Mono" charset="0"/>
                        <a:ea typeface="DM Mono" charset="0"/>
                        <a:cs typeface="DM Mono" charset="0"/>
                      </a:endParaRPr>
                    </a:p>
                  </a:txBody>
                  <a:tcPr>
                    <a:lnL w="6350" cap="flat" cmpd="sng" algn="ctr">
                      <a:solidFill>
                        <a:srgbClr val="C8C0B4"/>
                      </a:solidFill>
                      <a:prstDash val="solid"/>
                      <a:round/>
                      <a:headEnd type="none" w="med" len="med"/>
                      <a:tailEnd type="none" w="med" len="med"/>
                    </a:lnL>
                    <a:lnR w="6350" cap="flat" cmpd="sng" algn="ctr">
                      <a:solidFill>
                        <a:srgbClr val="C8C0B4"/>
                      </a:solidFill>
                      <a:prstDash val="solid"/>
                      <a:round/>
                      <a:headEnd type="none" w="med" len="med"/>
                      <a:tailEnd type="none" w="med" len="med"/>
                    </a:lnR>
                    <a:lnT w="6350" cap="flat" cmpd="sng" algn="ctr">
                      <a:solidFill>
                        <a:srgbClr val="C8C0B4"/>
                      </a:solidFill>
                      <a:prstDash val="solid"/>
                      <a:round/>
                      <a:headEnd type="none" w="med" len="med"/>
                      <a:tailEnd type="none" w="med" len="med"/>
                    </a:lnT>
                    <a:lnB w="6350" cap="flat" cmpd="sng" algn="ctr">
                      <a:solidFill>
                        <a:srgbClr val="C8C0B4"/>
                      </a:solidFill>
                      <a:prstDash val="solid"/>
                      <a:round/>
                      <a:headEnd type="none" w="med" len="med"/>
                      <a:tailEnd type="none" w="med" len="med"/>
                    </a:lnB>
                    <a:solidFill>
                      <a:srgbClr val="ECE7DF"/>
                    </a:solidFill>
                  </a:tcPr>
                </a:tc>
                <a:tc>
                  <a:txBody>
                    <a:bodyPr/>
                    <a:lstStyle/>
                    <a:p>
                      <a:pPr marL="0" indent="0">
                        <a:buNone/>
                      </a:pPr>
                      <a:r>
                        <a:rPr lang="en-US" sz="1000" dirty="0">
                          <a:solidFill>
                            <a:srgbClr val="0F1F33"/>
                          </a:solidFill>
                          <a:latin typeface="DM Mono" pitchFamily="34" charset="0"/>
                          <a:ea typeface="DM Mono" pitchFamily="34" charset="-122"/>
                          <a:cs typeface="DM Mono" pitchFamily="34" charset="-120"/>
                        </a:rPr>
                        <a:t>2026-06-01</a:t>
                      </a:r>
                      <a:endParaRPr lang="en-US" sz="1000" dirty="0">
                        <a:latin typeface="DM Mono" charset="0"/>
                        <a:ea typeface="DM Mono" charset="0"/>
                        <a:cs typeface="DM Mono" charset="0"/>
                      </a:endParaRPr>
                    </a:p>
                  </a:txBody>
                  <a:tcPr>
                    <a:lnL w="6350" cap="flat" cmpd="sng" algn="ctr">
                      <a:solidFill>
                        <a:srgbClr val="C8C0B4"/>
                      </a:solidFill>
                      <a:prstDash val="solid"/>
                      <a:round/>
                      <a:headEnd type="none" w="med" len="med"/>
                      <a:tailEnd type="none" w="med" len="med"/>
                    </a:lnL>
                    <a:lnR w="6350" cap="flat" cmpd="sng" algn="ctr">
                      <a:solidFill>
                        <a:srgbClr val="C8C0B4"/>
                      </a:solidFill>
                      <a:prstDash val="solid"/>
                      <a:round/>
                      <a:headEnd type="none" w="med" len="med"/>
                      <a:tailEnd type="none" w="med" len="med"/>
                    </a:lnR>
                    <a:lnT w="6350" cap="flat" cmpd="sng" algn="ctr">
                      <a:solidFill>
                        <a:srgbClr val="C8C0B4"/>
                      </a:solidFill>
                      <a:prstDash val="solid"/>
                      <a:round/>
                      <a:headEnd type="none" w="med" len="med"/>
                      <a:tailEnd type="none" w="med" len="med"/>
                    </a:lnT>
                    <a:lnB w="6350" cap="flat" cmpd="sng" algn="ctr">
                      <a:solidFill>
                        <a:srgbClr val="C8C0B4"/>
                      </a:solidFill>
                      <a:prstDash val="solid"/>
                      <a:round/>
                      <a:headEnd type="none" w="med" len="med"/>
                      <a:tailEnd type="none" w="med" len="med"/>
                    </a:lnB>
                    <a:solidFill>
                      <a:srgbClr val="ECE7DF"/>
                    </a:solidFill>
                  </a:tcPr>
                </a:tc>
                <a:extLst>
                  <a:ext uri="{0D108BD9-81ED-4DB2-BD59-A6C34878D82A}">
                    <a16:rowId xmlns:a16="http://schemas.microsoft.com/office/drawing/2014/main" val="10008"/>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0E8"/>
        </a:solidFill>
        <a:effectLst/>
      </p:bgPr>
    </p:bg>
    <p:spTree>
      <p:nvGrpSpPr>
        <p:cNvPr id="1" name=""/>
        <p:cNvGrpSpPr/>
        <p:nvPr/>
      </p:nvGrpSpPr>
      <p:grpSpPr>
        <a:xfrm>
          <a:off x="0" y="0"/>
          <a:ext cx="0" cy="0"/>
          <a:chOff x="0" y="0"/>
          <a:chExt cx="0" cy="0"/>
        </a:xfrm>
      </p:grpSpPr>
      <p:sp>
        <p:nvSpPr>
          <p:cNvPr id="2" name="Shape 0"/>
          <p:cNvSpPr/>
          <p:nvPr/>
        </p:nvSpPr>
        <p:spPr>
          <a:xfrm>
            <a:off x="0" y="0"/>
            <a:ext cx="12192000" cy="91440"/>
          </a:xfrm>
          <a:prstGeom prst="rect">
            <a:avLst/>
          </a:prstGeom>
          <a:solidFill>
            <a:srgbClr val="1E3A5F"/>
          </a:solidFill>
          <a:ln/>
        </p:spPr>
        <p:txBody>
          <a:bodyPr/>
          <a:lstStyle/>
          <a:p>
            <a:endParaRPr lang="en-US"/>
          </a:p>
        </p:txBody>
      </p:sp>
      <p:sp>
        <p:nvSpPr>
          <p:cNvPr id="3" name="Text 1"/>
          <p:cNvSpPr/>
          <p:nvPr/>
        </p:nvSpPr>
        <p:spPr>
          <a:xfrm>
            <a:off x="457200" y="182880"/>
            <a:ext cx="11247120" cy="548640"/>
          </a:xfrm>
          <a:prstGeom prst="rect">
            <a:avLst/>
          </a:prstGeom>
          <a:noFill/>
          <a:ln/>
        </p:spPr>
        <p:txBody>
          <a:bodyPr wrap="square" rtlCol="0" anchor="ctr"/>
          <a:lstStyle/>
          <a:p>
            <a:pPr marL="0" indent="0">
              <a:buNone/>
            </a:pPr>
            <a:r>
              <a:rPr lang="en-US" sz="2200" b="1" dirty="0">
                <a:solidFill>
                  <a:srgbClr val="3A7A6A"/>
                </a:solidFill>
                <a:latin typeface="Syne" pitchFamily="34" charset="0"/>
                <a:ea typeface="Syne" pitchFamily="34" charset="-122"/>
                <a:cs typeface="Syne" pitchFamily="34" charset="-120"/>
              </a:rPr>
              <a:t>DevOps &amp; Deployment Status</a:t>
            </a:r>
            <a:endParaRPr lang="en-US" sz="2200" dirty="0"/>
          </a:p>
        </p:txBody>
      </p:sp>
      <p:sp>
        <p:nvSpPr>
          <p:cNvPr id="4" name="Shape 2"/>
          <p:cNvSpPr/>
          <p:nvPr/>
        </p:nvSpPr>
        <p:spPr>
          <a:xfrm>
            <a:off x="457200" y="804672"/>
            <a:ext cx="11247120" cy="22860"/>
          </a:xfrm>
          <a:prstGeom prst="rect">
            <a:avLst/>
          </a:prstGeom>
          <a:solidFill>
            <a:srgbClr val="C8C0B4"/>
          </a:solidFill>
          <a:ln/>
        </p:spPr>
        <p:txBody>
          <a:bodyPr/>
          <a:lstStyle/>
          <a:p>
            <a:endParaRPr lang="en-US"/>
          </a:p>
        </p:txBody>
      </p:sp>
      <p:sp>
        <p:nvSpPr>
          <p:cNvPr id="5" name="Text 3"/>
          <p:cNvSpPr/>
          <p:nvPr/>
        </p:nvSpPr>
        <p:spPr>
          <a:xfrm>
            <a:off x="457200" y="914400"/>
            <a:ext cx="11247120" cy="914400"/>
          </a:xfrm>
          <a:prstGeom prst="rect">
            <a:avLst/>
          </a:prstGeom>
          <a:noFill/>
          <a:ln/>
        </p:spPr>
        <p:txBody>
          <a:bodyPr wrap="square" rtlCol="0" anchor="t"/>
          <a:lstStyle/>
          <a:p>
            <a:pPr marL="0" indent="0">
              <a:buNone/>
            </a:pPr>
            <a:r>
              <a:rPr lang="en-US" sz="1100" dirty="0">
                <a:solidFill>
                  <a:srgbClr val="1E3A5F"/>
                </a:solidFill>
                <a:latin typeface="DM Mono" pitchFamily="34" charset="0"/>
                <a:ea typeface="DM Mono" pitchFamily="34" charset="-122"/>
                <a:cs typeface="DM Mono" pitchFamily="34" charset="-120"/>
              </a:rPr>
              <a:t>The Odyssey App deployment (task def251b1) is IN_REVIEW at 75% completion against a due date of 2026-06-27, while IR Web App integration testing (task 2638028d) is IN_REVIEW at 80% complete with a 2026-05-30 deadline. Two GitLab contributor onboarding tasks remain at risk: 'Onboard all GitLab contributors as Odyssey project members' is 40% complete and 'Add all Digital Trident GitLab contributors' is 0% complete, both due 2026-04-30.</a:t>
            </a:r>
            <a:endParaRPr lang="en-US" sz="11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57200" y="1920240"/>
          <a:ext cx="11247120" cy="1645920"/>
        </p:xfrm>
        <a:graphic>
          <a:graphicData uri="http://schemas.openxmlformats.org/drawingml/2006/table">
            <a:tbl>
              <a:tblPr/>
              <a:tblGrid>
                <a:gridCol w="2811780">
                  <a:extLst>
                    <a:ext uri="{9D8B030D-6E8A-4147-A177-3AD203B41FA5}">
                      <a16:colId xmlns:a16="http://schemas.microsoft.com/office/drawing/2014/main" val="20000"/>
                    </a:ext>
                  </a:extLst>
                </a:gridCol>
                <a:gridCol w="2811780">
                  <a:extLst>
                    <a:ext uri="{9D8B030D-6E8A-4147-A177-3AD203B41FA5}">
                      <a16:colId xmlns:a16="http://schemas.microsoft.com/office/drawing/2014/main" val="20001"/>
                    </a:ext>
                  </a:extLst>
                </a:gridCol>
                <a:gridCol w="2811780">
                  <a:extLst>
                    <a:ext uri="{9D8B030D-6E8A-4147-A177-3AD203B41FA5}">
                      <a16:colId xmlns:a16="http://schemas.microsoft.com/office/drawing/2014/main" val="20002"/>
                    </a:ext>
                  </a:extLst>
                </a:gridCol>
                <a:gridCol w="2811780">
                  <a:extLst>
                    <a:ext uri="{9D8B030D-6E8A-4147-A177-3AD203B41FA5}">
                      <a16:colId xmlns:a16="http://schemas.microsoft.com/office/drawing/2014/main" val="20003"/>
                    </a:ext>
                  </a:extLst>
                </a:gridCol>
              </a:tblGrid>
              <a:tr h="329184">
                <a:tc>
                  <a:txBody>
                    <a:bodyPr/>
                    <a:lstStyle/>
                    <a:p>
                      <a:pPr marL="0" indent="0">
                        <a:buNone/>
                      </a:pPr>
                      <a:r>
                        <a:rPr lang="en-US" sz="1000" b="1" dirty="0">
                          <a:solidFill>
                            <a:srgbClr val="0F1F33"/>
                          </a:solidFill>
                          <a:latin typeface="Syne" pitchFamily="34" charset="0"/>
                          <a:ea typeface="Syne" pitchFamily="34" charset="-122"/>
                          <a:cs typeface="Syne" pitchFamily="34" charset="-120"/>
                        </a:rPr>
                        <a:t>Task</a:t>
                      </a:r>
                      <a:endParaRPr lang="en-US" sz="1000" dirty="0">
                        <a:latin typeface="Syne" charset="0"/>
                        <a:ea typeface="Syne" charset="0"/>
                        <a:cs typeface="Syne" charset="0"/>
                      </a:endParaRPr>
                    </a:p>
                  </a:txBody>
                  <a:tcPr>
                    <a:lnL w="6350" cap="flat" cmpd="sng" algn="ctr">
                      <a:solidFill>
                        <a:srgbClr val="C8C0B4"/>
                      </a:solidFill>
                      <a:prstDash val="solid"/>
                      <a:round/>
                      <a:headEnd type="none" w="med" len="med"/>
                      <a:tailEnd type="none" w="med" len="med"/>
                    </a:lnL>
                    <a:lnR w="6350" cap="flat" cmpd="sng" algn="ctr">
                      <a:solidFill>
                        <a:srgbClr val="C8C0B4"/>
                      </a:solidFill>
                      <a:prstDash val="solid"/>
                      <a:round/>
                      <a:headEnd type="none" w="med" len="med"/>
                      <a:tailEnd type="none" w="med" len="med"/>
                    </a:lnR>
                    <a:lnT w="6350" cap="flat" cmpd="sng" algn="ctr">
                      <a:solidFill>
                        <a:srgbClr val="C8C0B4"/>
                      </a:solidFill>
                      <a:prstDash val="solid"/>
                      <a:round/>
                      <a:headEnd type="none" w="med" len="med"/>
                      <a:tailEnd type="none" w="med" len="med"/>
                    </a:lnT>
                    <a:lnB w="6350" cap="flat" cmpd="sng" algn="ctr">
                      <a:solidFill>
                        <a:srgbClr val="C8C0B4"/>
                      </a:solidFill>
                      <a:prstDash val="solid"/>
                      <a:round/>
                      <a:headEnd type="none" w="med" len="med"/>
                      <a:tailEnd type="none" w="med" len="med"/>
                    </a:lnB>
                    <a:solidFill>
                      <a:srgbClr val="C8C0B4"/>
                    </a:solidFill>
                  </a:tcPr>
                </a:tc>
                <a:tc>
                  <a:txBody>
                    <a:bodyPr/>
                    <a:lstStyle/>
                    <a:p>
                      <a:pPr marL="0" indent="0">
                        <a:buNone/>
                      </a:pPr>
                      <a:r>
                        <a:rPr lang="en-US" sz="1000" b="1" dirty="0">
                          <a:solidFill>
                            <a:srgbClr val="0F1F33"/>
                          </a:solidFill>
                          <a:latin typeface="Syne" pitchFamily="34" charset="0"/>
                          <a:ea typeface="Syne" pitchFamily="34" charset="-122"/>
                          <a:cs typeface="Syne" pitchFamily="34" charset="-120"/>
                        </a:rPr>
                        <a:t>Status</a:t>
                      </a:r>
                      <a:endParaRPr lang="en-US" sz="1000" dirty="0">
                        <a:latin typeface="Syne" charset="0"/>
                        <a:ea typeface="Syne" charset="0"/>
                        <a:cs typeface="Syne" charset="0"/>
                      </a:endParaRPr>
                    </a:p>
                  </a:txBody>
                  <a:tcPr>
                    <a:lnL w="6350" cap="flat" cmpd="sng" algn="ctr">
                      <a:solidFill>
                        <a:srgbClr val="C8C0B4"/>
                      </a:solidFill>
                      <a:prstDash val="solid"/>
                      <a:round/>
                      <a:headEnd type="none" w="med" len="med"/>
                      <a:tailEnd type="none" w="med" len="med"/>
                    </a:lnL>
                    <a:lnR w="6350" cap="flat" cmpd="sng" algn="ctr">
                      <a:solidFill>
                        <a:srgbClr val="C8C0B4"/>
                      </a:solidFill>
                      <a:prstDash val="solid"/>
                      <a:round/>
                      <a:headEnd type="none" w="med" len="med"/>
                      <a:tailEnd type="none" w="med" len="med"/>
                    </a:lnR>
                    <a:lnT w="6350" cap="flat" cmpd="sng" algn="ctr">
                      <a:solidFill>
                        <a:srgbClr val="C8C0B4"/>
                      </a:solidFill>
                      <a:prstDash val="solid"/>
                      <a:round/>
                      <a:headEnd type="none" w="med" len="med"/>
                      <a:tailEnd type="none" w="med" len="med"/>
                    </a:lnT>
                    <a:lnB w="6350" cap="flat" cmpd="sng" algn="ctr">
                      <a:solidFill>
                        <a:srgbClr val="C8C0B4"/>
                      </a:solidFill>
                      <a:prstDash val="solid"/>
                      <a:round/>
                      <a:headEnd type="none" w="med" len="med"/>
                      <a:tailEnd type="none" w="med" len="med"/>
                    </a:lnB>
                    <a:solidFill>
                      <a:srgbClr val="C8C0B4"/>
                    </a:solidFill>
                  </a:tcPr>
                </a:tc>
                <a:tc>
                  <a:txBody>
                    <a:bodyPr/>
                    <a:lstStyle/>
                    <a:p>
                      <a:pPr marL="0" indent="0">
                        <a:buNone/>
                      </a:pPr>
                      <a:r>
                        <a:rPr lang="en-US" sz="1000" b="1" dirty="0">
                          <a:solidFill>
                            <a:srgbClr val="0F1F33"/>
                          </a:solidFill>
                          <a:latin typeface="Syne" pitchFamily="34" charset="0"/>
                          <a:ea typeface="Syne" pitchFamily="34" charset="-122"/>
                          <a:cs typeface="Syne" pitchFamily="34" charset="-120"/>
                        </a:rPr>
                        <a:t>Progress</a:t>
                      </a:r>
                      <a:endParaRPr lang="en-US" sz="1000" dirty="0">
                        <a:latin typeface="Syne" charset="0"/>
                        <a:ea typeface="Syne" charset="0"/>
                        <a:cs typeface="Syne" charset="0"/>
                      </a:endParaRPr>
                    </a:p>
                  </a:txBody>
                  <a:tcPr>
                    <a:lnL w="6350" cap="flat" cmpd="sng" algn="ctr">
                      <a:solidFill>
                        <a:srgbClr val="C8C0B4"/>
                      </a:solidFill>
                      <a:prstDash val="solid"/>
                      <a:round/>
                      <a:headEnd type="none" w="med" len="med"/>
                      <a:tailEnd type="none" w="med" len="med"/>
                    </a:lnL>
                    <a:lnR w="6350" cap="flat" cmpd="sng" algn="ctr">
                      <a:solidFill>
                        <a:srgbClr val="C8C0B4"/>
                      </a:solidFill>
                      <a:prstDash val="solid"/>
                      <a:round/>
                      <a:headEnd type="none" w="med" len="med"/>
                      <a:tailEnd type="none" w="med" len="med"/>
                    </a:lnR>
                    <a:lnT w="6350" cap="flat" cmpd="sng" algn="ctr">
                      <a:solidFill>
                        <a:srgbClr val="C8C0B4"/>
                      </a:solidFill>
                      <a:prstDash val="solid"/>
                      <a:round/>
                      <a:headEnd type="none" w="med" len="med"/>
                      <a:tailEnd type="none" w="med" len="med"/>
                    </a:lnT>
                    <a:lnB w="6350" cap="flat" cmpd="sng" algn="ctr">
                      <a:solidFill>
                        <a:srgbClr val="C8C0B4"/>
                      </a:solidFill>
                      <a:prstDash val="solid"/>
                      <a:round/>
                      <a:headEnd type="none" w="med" len="med"/>
                      <a:tailEnd type="none" w="med" len="med"/>
                    </a:lnB>
                    <a:solidFill>
                      <a:srgbClr val="C8C0B4"/>
                    </a:solidFill>
                  </a:tcPr>
                </a:tc>
                <a:tc>
                  <a:txBody>
                    <a:bodyPr/>
                    <a:lstStyle/>
                    <a:p>
                      <a:pPr marL="0" indent="0">
                        <a:buNone/>
                      </a:pPr>
                      <a:r>
                        <a:rPr lang="en-US" sz="1000" b="1" dirty="0">
                          <a:solidFill>
                            <a:srgbClr val="0F1F33"/>
                          </a:solidFill>
                          <a:latin typeface="Syne" pitchFamily="34" charset="0"/>
                          <a:ea typeface="Syne" pitchFamily="34" charset="-122"/>
                          <a:cs typeface="Syne" pitchFamily="34" charset="-120"/>
                        </a:rPr>
                        <a:t>Due Date</a:t>
                      </a:r>
                      <a:endParaRPr lang="en-US" sz="1000" dirty="0">
                        <a:latin typeface="Syne" charset="0"/>
                        <a:ea typeface="Syne" charset="0"/>
                        <a:cs typeface="Syne" charset="0"/>
                      </a:endParaRPr>
                    </a:p>
                  </a:txBody>
                  <a:tcPr>
                    <a:lnL w="6350" cap="flat" cmpd="sng" algn="ctr">
                      <a:solidFill>
                        <a:srgbClr val="C8C0B4"/>
                      </a:solidFill>
                      <a:prstDash val="solid"/>
                      <a:round/>
                      <a:headEnd type="none" w="med" len="med"/>
                      <a:tailEnd type="none" w="med" len="med"/>
                    </a:lnL>
                    <a:lnR w="6350" cap="flat" cmpd="sng" algn="ctr">
                      <a:solidFill>
                        <a:srgbClr val="C8C0B4"/>
                      </a:solidFill>
                      <a:prstDash val="solid"/>
                      <a:round/>
                      <a:headEnd type="none" w="med" len="med"/>
                      <a:tailEnd type="none" w="med" len="med"/>
                    </a:lnR>
                    <a:lnT w="6350" cap="flat" cmpd="sng" algn="ctr">
                      <a:solidFill>
                        <a:srgbClr val="C8C0B4"/>
                      </a:solidFill>
                      <a:prstDash val="solid"/>
                      <a:round/>
                      <a:headEnd type="none" w="med" len="med"/>
                      <a:tailEnd type="none" w="med" len="med"/>
                    </a:lnT>
                    <a:lnB w="6350" cap="flat" cmpd="sng" algn="ctr">
                      <a:solidFill>
                        <a:srgbClr val="C8C0B4"/>
                      </a:solidFill>
                      <a:prstDash val="solid"/>
                      <a:round/>
                      <a:headEnd type="none" w="med" len="med"/>
                      <a:tailEnd type="none" w="med" len="med"/>
                    </a:lnB>
                    <a:solidFill>
                      <a:srgbClr val="C8C0B4"/>
                    </a:solidFill>
                  </a:tcPr>
                </a:tc>
                <a:extLst>
                  <a:ext uri="{0D108BD9-81ED-4DB2-BD59-A6C34878D82A}">
                    <a16:rowId xmlns:a16="http://schemas.microsoft.com/office/drawing/2014/main" val="10000"/>
                  </a:ext>
                </a:extLst>
              </a:tr>
              <a:tr h="329184">
                <a:tc>
                  <a:txBody>
                    <a:bodyPr/>
                    <a:lstStyle/>
                    <a:p>
                      <a:pPr marL="0" indent="0">
                        <a:buNone/>
                      </a:pPr>
                      <a:r>
                        <a:rPr lang="en-US" sz="1000" dirty="0">
                          <a:solidFill>
                            <a:srgbClr val="0F1F33"/>
                          </a:solidFill>
                          <a:latin typeface="DM Mono" pitchFamily="34" charset="0"/>
                          <a:ea typeface="DM Mono" pitchFamily="34" charset="-122"/>
                          <a:cs typeface="DM Mono" pitchFamily="34" charset="-120"/>
                        </a:rPr>
                        <a:t>Deploy Odyssey App</a:t>
                      </a:r>
                      <a:endParaRPr lang="en-US" sz="1000" dirty="0">
                        <a:latin typeface="DM Mono" charset="0"/>
                        <a:ea typeface="DM Mono" charset="0"/>
                        <a:cs typeface="DM Mono" charset="0"/>
                      </a:endParaRPr>
                    </a:p>
                  </a:txBody>
                  <a:tcPr>
                    <a:lnL w="6350" cap="flat" cmpd="sng" algn="ctr">
                      <a:solidFill>
                        <a:srgbClr val="C8C0B4"/>
                      </a:solidFill>
                      <a:prstDash val="solid"/>
                      <a:round/>
                      <a:headEnd type="none" w="med" len="med"/>
                      <a:tailEnd type="none" w="med" len="med"/>
                    </a:lnL>
                    <a:lnR w="6350" cap="flat" cmpd="sng" algn="ctr">
                      <a:solidFill>
                        <a:srgbClr val="C8C0B4"/>
                      </a:solidFill>
                      <a:prstDash val="solid"/>
                      <a:round/>
                      <a:headEnd type="none" w="med" len="med"/>
                      <a:tailEnd type="none" w="med" len="med"/>
                    </a:lnR>
                    <a:lnT w="6350" cap="flat" cmpd="sng" algn="ctr">
                      <a:solidFill>
                        <a:srgbClr val="C8C0B4"/>
                      </a:solidFill>
                      <a:prstDash val="solid"/>
                      <a:round/>
                      <a:headEnd type="none" w="med" len="med"/>
                      <a:tailEnd type="none" w="med" len="med"/>
                    </a:lnT>
                    <a:lnB w="6350" cap="flat" cmpd="sng" algn="ctr">
                      <a:solidFill>
                        <a:srgbClr val="C8C0B4"/>
                      </a:solidFill>
                      <a:prstDash val="solid"/>
                      <a:round/>
                      <a:headEnd type="none" w="med" len="med"/>
                      <a:tailEnd type="none" w="med" len="med"/>
                    </a:lnB>
                    <a:solidFill>
                      <a:srgbClr val="F5F0E8"/>
                    </a:solidFill>
                  </a:tcPr>
                </a:tc>
                <a:tc>
                  <a:txBody>
                    <a:bodyPr/>
                    <a:lstStyle/>
                    <a:p>
                      <a:pPr marL="0" indent="0">
                        <a:buNone/>
                      </a:pPr>
                      <a:r>
                        <a:rPr lang="en-US" sz="1000" dirty="0">
                          <a:solidFill>
                            <a:srgbClr val="0F1F33"/>
                          </a:solidFill>
                          <a:latin typeface="DM Mono" pitchFamily="34" charset="0"/>
                          <a:ea typeface="DM Mono" pitchFamily="34" charset="-122"/>
                          <a:cs typeface="DM Mono" pitchFamily="34" charset="-120"/>
                        </a:rPr>
                        <a:t>IN_REVIEW</a:t>
                      </a:r>
                      <a:endParaRPr lang="en-US" sz="1000" dirty="0">
                        <a:latin typeface="DM Mono" charset="0"/>
                        <a:ea typeface="DM Mono" charset="0"/>
                        <a:cs typeface="DM Mono" charset="0"/>
                      </a:endParaRPr>
                    </a:p>
                  </a:txBody>
                  <a:tcPr>
                    <a:lnL w="6350" cap="flat" cmpd="sng" algn="ctr">
                      <a:solidFill>
                        <a:srgbClr val="C8C0B4"/>
                      </a:solidFill>
                      <a:prstDash val="solid"/>
                      <a:round/>
                      <a:headEnd type="none" w="med" len="med"/>
                      <a:tailEnd type="none" w="med" len="med"/>
                    </a:lnL>
                    <a:lnR w="6350" cap="flat" cmpd="sng" algn="ctr">
                      <a:solidFill>
                        <a:srgbClr val="C8C0B4"/>
                      </a:solidFill>
                      <a:prstDash val="solid"/>
                      <a:round/>
                      <a:headEnd type="none" w="med" len="med"/>
                      <a:tailEnd type="none" w="med" len="med"/>
                    </a:lnR>
                    <a:lnT w="6350" cap="flat" cmpd="sng" algn="ctr">
                      <a:solidFill>
                        <a:srgbClr val="C8C0B4"/>
                      </a:solidFill>
                      <a:prstDash val="solid"/>
                      <a:round/>
                      <a:headEnd type="none" w="med" len="med"/>
                      <a:tailEnd type="none" w="med" len="med"/>
                    </a:lnT>
                    <a:lnB w="6350" cap="flat" cmpd="sng" algn="ctr">
                      <a:solidFill>
                        <a:srgbClr val="C8C0B4"/>
                      </a:solidFill>
                      <a:prstDash val="solid"/>
                      <a:round/>
                      <a:headEnd type="none" w="med" len="med"/>
                      <a:tailEnd type="none" w="med" len="med"/>
                    </a:lnB>
                    <a:solidFill>
                      <a:srgbClr val="F5F0E8"/>
                    </a:solidFill>
                  </a:tcPr>
                </a:tc>
                <a:tc>
                  <a:txBody>
                    <a:bodyPr/>
                    <a:lstStyle/>
                    <a:p>
                      <a:pPr marL="0" indent="0">
                        <a:buNone/>
                      </a:pPr>
                      <a:r>
                        <a:rPr lang="en-US" sz="1000" dirty="0">
                          <a:solidFill>
                            <a:srgbClr val="0F1F33"/>
                          </a:solidFill>
                          <a:latin typeface="DM Mono" pitchFamily="34" charset="0"/>
                          <a:ea typeface="DM Mono" pitchFamily="34" charset="-122"/>
                          <a:cs typeface="DM Mono" pitchFamily="34" charset="-120"/>
                        </a:rPr>
                        <a:t>75%</a:t>
                      </a:r>
                      <a:endParaRPr lang="en-US" sz="1000" dirty="0">
                        <a:latin typeface="DM Mono" charset="0"/>
                        <a:ea typeface="DM Mono" charset="0"/>
                        <a:cs typeface="DM Mono" charset="0"/>
                      </a:endParaRPr>
                    </a:p>
                  </a:txBody>
                  <a:tcPr>
                    <a:lnL w="6350" cap="flat" cmpd="sng" algn="ctr">
                      <a:solidFill>
                        <a:srgbClr val="C8C0B4"/>
                      </a:solidFill>
                      <a:prstDash val="solid"/>
                      <a:round/>
                      <a:headEnd type="none" w="med" len="med"/>
                      <a:tailEnd type="none" w="med" len="med"/>
                    </a:lnL>
                    <a:lnR w="6350" cap="flat" cmpd="sng" algn="ctr">
                      <a:solidFill>
                        <a:srgbClr val="C8C0B4"/>
                      </a:solidFill>
                      <a:prstDash val="solid"/>
                      <a:round/>
                      <a:headEnd type="none" w="med" len="med"/>
                      <a:tailEnd type="none" w="med" len="med"/>
                    </a:lnR>
                    <a:lnT w="6350" cap="flat" cmpd="sng" algn="ctr">
                      <a:solidFill>
                        <a:srgbClr val="C8C0B4"/>
                      </a:solidFill>
                      <a:prstDash val="solid"/>
                      <a:round/>
                      <a:headEnd type="none" w="med" len="med"/>
                      <a:tailEnd type="none" w="med" len="med"/>
                    </a:lnT>
                    <a:lnB w="6350" cap="flat" cmpd="sng" algn="ctr">
                      <a:solidFill>
                        <a:srgbClr val="C8C0B4"/>
                      </a:solidFill>
                      <a:prstDash val="solid"/>
                      <a:round/>
                      <a:headEnd type="none" w="med" len="med"/>
                      <a:tailEnd type="none" w="med" len="med"/>
                    </a:lnB>
                    <a:solidFill>
                      <a:srgbClr val="F5F0E8"/>
                    </a:solidFill>
                  </a:tcPr>
                </a:tc>
                <a:tc>
                  <a:txBody>
                    <a:bodyPr/>
                    <a:lstStyle/>
                    <a:p>
                      <a:pPr marL="0" indent="0">
                        <a:buNone/>
                      </a:pPr>
                      <a:r>
                        <a:rPr lang="en-US" sz="1000" dirty="0">
                          <a:solidFill>
                            <a:srgbClr val="0F1F33"/>
                          </a:solidFill>
                          <a:latin typeface="DM Mono" pitchFamily="34" charset="0"/>
                          <a:ea typeface="DM Mono" pitchFamily="34" charset="-122"/>
                          <a:cs typeface="DM Mono" pitchFamily="34" charset="-120"/>
                        </a:rPr>
                        <a:t>2026-06-27</a:t>
                      </a:r>
                      <a:endParaRPr lang="en-US" sz="1000" dirty="0">
                        <a:latin typeface="DM Mono" charset="0"/>
                        <a:ea typeface="DM Mono" charset="0"/>
                        <a:cs typeface="DM Mono" charset="0"/>
                      </a:endParaRPr>
                    </a:p>
                  </a:txBody>
                  <a:tcPr>
                    <a:lnL w="6350" cap="flat" cmpd="sng" algn="ctr">
                      <a:solidFill>
                        <a:srgbClr val="C8C0B4"/>
                      </a:solidFill>
                      <a:prstDash val="solid"/>
                      <a:round/>
                      <a:headEnd type="none" w="med" len="med"/>
                      <a:tailEnd type="none" w="med" len="med"/>
                    </a:lnL>
                    <a:lnR w="6350" cap="flat" cmpd="sng" algn="ctr">
                      <a:solidFill>
                        <a:srgbClr val="C8C0B4"/>
                      </a:solidFill>
                      <a:prstDash val="solid"/>
                      <a:round/>
                      <a:headEnd type="none" w="med" len="med"/>
                      <a:tailEnd type="none" w="med" len="med"/>
                    </a:lnR>
                    <a:lnT w="6350" cap="flat" cmpd="sng" algn="ctr">
                      <a:solidFill>
                        <a:srgbClr val="C8C0B4"/>
                      </a:solidFill>
                      <a:prstDash val="solid"/>
                      <a:round/>
                      <a:headEnd type="none" w="med" len="med"/>
                      <a:tailEnd type="none" w="med" len="med"/>
                    </a:lnT>
                    <a:lnB w="6350" cap="flat" cmpd="sng" algn="ctr">
                      <a:solidFill>
                        <a:srgbClr val="C8C0B4"/>
                      </a:solidFill>
                      <a:prstDash val="solid"/>
                      <a:round/>
                      <a:headEnd type="none" w="med" len="med"/>
                      <a:tailEnd type="none" w="med" len="med"/>
                    </a:lnB>
                    <a:solidFill>
                      <a:srgbClr val="F5F0E8"/>
                    </a:solidFill>
                  </a:tcPr>
                </a:tc>
                <a:extLst>
                  <a:ext uri="{0D108BD9-81ED-4DB2-BD59-A6C34878D82A}">
                    <a16:rowId xmlns:a16="http://schemas.microsoft.com/office/drawing/2014/main" val="10001"/>
                  </a:ext>
                </a:extLst>
              </a:tr>
              <a:tr h="329184">
                <a:tc>
                  <a:txBody>
                    <a:bodyPr/>
                    <a:lstStyle/>
                    <a:p>
                      <a:pPr marL="0" indent="0">
                        <a:buNone/>
                      </a:pPr>
                      <a:r>
                        <a:rPr lang="en-US" sz="1000" dirty="0">
                          <a:solidFill>
                            <a:srgbClr val="0F1F33"/>
                          </a:solidFill>
                          <a:latin typeface="DM Mono" pitchFamily="34" charset="0"/>
                          <a:ea typeface="DM Mono" pitchFamily="34" charset="-122"/>
                          <a:cs typeface="DM Mono" pitchFamily="34" charset="-120"/>
                        </a:rPr>
                        <a:t>IR Web App QA</a:t>
                      </a:r>
                      <a:endParaRPr lang="en-US" sz="1000" dirty="0">
                        <a:latin typeface="DM Mono" charset="0"/>
                        <a:ea typeface="DM Mono" charset="0"/>
                        <a:cs typeface="DM Mono" charset="0"/>
                      </a:endParaRPr>
                    </a:p>
                  </a:txBody>
                  <a:tcPr>
                    <a:lnL w="6350" cap="flat" cmpd="sng" algn="ctr">
                      <a:solidFill>
                        <a:srgbClr val="C8C0B4"/>
                      </a:solidFill>
                      <a:prstDash val="solid"/>
                      <a:round/>
                      <a:headEnd type="none" w="med" len="med"/>
                      <a:tailEnd type="none" w="med" len="med"/>
                    </a:lnL>
                    <a:lnR w="6350" cap="flat" cmpd="sng" algn="ctr">
                      <a:solidFill>
                        <a:srgbClr val="C8C0B4"/>
                      </a:solidFill>
                      <a:prstDash val="solid"/>
                      <a:round/>
                      <a:headEnd type="none" w="med" len="med"/>
                      <a:tailEnd type="none" w="med" len="med"/>
                    </a:lnR>
                    <a:lnT w="6350" cap="flat" cmpd="sng" algn="ctr">
                      <a:solidFill>
                        <a:srgbClr val="C8C0B4"/>
                      </a:solidFill>
                      <a:prstDash val="solid"/>
                      <a:round/>
                      <a:headEnd type="none" w="med" len="med"/>
                      <a:tailEnd type="none" w="med" len="med"/>
                    </a:lnT>
                    <a:lnB w="6350" cap="flat" cmpd="sng" algn="ctr">
                      <a:solidFill>
                        <a:srgbClr val="C8C0B4"/>
                      </a:solidFill>
                      <a:prstDash val="solid"/>
                      <a:round/>
                      <a:headEnd type="none" w="med" len="med"/>
                      <a:tailEnd type="none" w="med" len="med"/>
                    </a:lnB>
                    <a:solidFill>
                      <a:srgbClr val="ECE7DF"/>
                    </a:solidFill>
                  </a:tcPr>
                </a:tc>
                <a:tc>
                  <a:txBody>
                    <a:bodyPr/>
                    <a:lstStyle/>
                    <a:p>
                      <a:pPr marL="0" indent="0">
                        <a:buNone/>
                      </a:pPr>
                      <a:r>
                        <a:rPr lang="en-US" sz="1000" dirty="0">
                          <a:solidFill>
                            <a:srgbClr val="0F1F33"/>
                          </a:solidFill>
                          <a:latin typeface="DM Mono" pitchFamily="34" charset="0"/>
                          <a:ea typeface="DM Mono" pitchFamily="34" charset="-122"/>
                          <a:cs typeface="DM Mono" pitchFamily="34" charset="-120"/>
                        </a:rPr>
                        <a:t>IN_REVIEW</a:t>
                      </a:r>
                      <a:endParaRPr lang="en-US" sz="1000" dirty="0">
                        <a:latin typeface="DM Mono" charset="0"/>
                        <a:ea typeface="DM Mono" charset="0"/>
                        <a:cs typeface="DM Mono" charset="0"/>
                      </a:endParaRPr>
                    </a:p>
                  </a:txBody>
                  <a:tcPr>
                    <a:lnL w="6350" cap="flat" cmpd="sng" algn="ctr">
                      <a:solidFill>
                        <a:srgbClr val="C8C0B4"/>
                      </a:solidFill>
                      <a:prstDash val="solid"/>
                      <a:round/>
                      <a:headEnd type="none" w="med" len="med"/>
                      <a:tailEnd type="none" w="med" len="med"/>
                    </a:lnL>
                    <a:lnR w="6350" cap="flat" cmpd="sng" algn="ctr">
                      <a:solidFill>
                        <a:srgbClr val="C8C0B4"/>
                      </a:solidFill>
                      <a:prstDash val="solid"/>
                      <a:round/>
                      <a:headEnd type="none" w="med" len="med"/>
                      <a:tailEnd type="none" w="med" len="med"/>
                    </a:lnR>
                    <a:lnT w="6350" cap="flat" cmpd="sng" algn="ctr">
                      <a:solidFill>
                        <a:srgbClr val="C8C0B4"/>
                      </a:solidFill>
                      <a:prstDash val="solid"/>
                      <a:round/>
                      <a:headEnd type="none" w="med" len="med"/>
                      <a:tailEnd type="none" w="med" len="med"/>
                    </a:lnT>
                    <a:lnB w="6350" cap="flat" cmpd="sng" algn="ctr">
                      <a:solidFill>
                        <a:srgbClr val="C8C0B4"/>
                      </a:solidFill>
                      <a:prstDash val="solid"/>
                      <a:round/>
                      <a:headEnd type="none" w="med" len="med"/>
                      <a:tailEnd type="none" w="med" len="med"/>
                    </a:lnB>
                    <a:solidFill>
                      <a:srgbClr val="ECE7DF"/>
                    </a:solidFill>
                  </a:tcPr>
                </a:tc>
                <a:tc>
                  <a:txBody>
                    <a:bodyPr/>
                    <a:lstStyle/>
                    <a:p>
                      <a:pPr marL="0" indent="0">
                        <a:buNone/>
                      </a:pPr>
                      <a:r>
                        <a:rPr lang="en-US" sz="1000" dirty="0">
                          <a:solidFill>
                            <a:srgbClr val="0F1F33"/>
                          </a:solidFill>
                          <a:latin typeface="DM Mono" pitchFamily="34" charset="0"/>
                          <a:ea typeface="DM Mono" pitchFamily="34" charset="-122"/>
                          <a:cs typeface="DM Mono" pitchFamily="34" charset="-120"/>
                        </a:rPr>
                        <a:t>80%</a:t>
                      </a:r>
                      <a:endParaRPr lang="en-US" sz="1000" dirty="0">
                        <a:latin typeface="DM Mono" charset="0"/>
                        <a:ea typeface="DM Mono" charset="0"/>
                        <a:cs typeface="DM Mono" charset="0"/>
                      </a:endParaRPr>
                    </a:p>
                  </a:txBody>
                  <a:tcPr>
                    <a:lnL w="6350" cap="flat" cmpd="sng" algn="ctr">
                      <a:solidFill>
                        <a:srgbClr val="C8C0B4"/>
                      </a:solidFill>
                      <a:prstDash val="solid"/>
                      <a:round/>
                      <a:headEnd type="none" w="med" len="med"/>
                      <a:tailEnd type="none" w="med" len="med"/>
                    </a:lnL>
                    <a:lnR w="6350" cap="flat" cmpd="sng" algn="ctr">
                      <a:solidFill>
                        <a:srgbClr val="C8C0B4"/>
                      </a:solidFill>
                      <a:prstDash val="solid"/>
                      <a:round/>
                      <a:headEnd type="none" w="med" len="med"/>
                      <a:tailEnd type="none" w="med" len="med"/>
                    </a:lnR>
                    <a:lnT w="6350" cap="flat" cmpd="sng" algn="ctr">
                      <a:solidFill>
                        <a:srgbClr val="C8C0B4"/>
                      </a:solidFill>
                      <a:prstDash val="solid"/>
                      <a:round/>
                      <a:headEnd type="none" w="med" len="med"/>
                      <a:tailEnd type="none" w="med" len="med"/>
                    </a:lnT>
                    <a:lnB w="6350" cap="flat" cmpd="sng" algn="ctr">
                      <a:solidFill>
                        <a:srgbClr val="C8C0B4"/>
                      </a:solidFill>
                      <a:prstDash val="solid"/>
                      <a:round/>
                      <a:headEnd type="none" w="med" len="med"/>
                      <a:tailEnd type="none" w="med" len="med"/>
                    </a:lnB>
                    <a:solidFill>
                      <a:srgbClr val="ECE7DF"/>
                    </a:solidFill>
                  </a:tcPr>
                </a:tc>
                <a:tc>
                  <a:txBody>
                    <a:bodyPr/>
                    <a:lstStyle/>
                    <a:p>
                      <a:pPr marL="0" indent="0">
                        <a:buNone/>
                      </a:pPr>
                      <a:r>
                        <a:rPr lang="en-US" sz="1000" dirty="0">
                          <a:solidFill>
                            <a:srgbClr val="0F1F33"/>
                          </a:solidFill>
                          <a:latin typeface="DM Mono" pitchFamily="34" charset="0"/>
                          <a:ea typeface="DM Mono" pitchFamily="34" charset="-122"/>
                          <a:cs typeface="DM Mono" pitchFamily="34" charset="-120"/>
                        </a:rPr>
                        <a:t>2026-05-30</a:t>
                      </a:r>
                      <a:endParaRPr lang="en-US" sz="1000" dirty="0">
                        <a:latin typeface="DM Mono" charset="0"/>
                        <a:ea typeface="DM Mono" charset="0"/>
                        <a:cs typeface="DM Mono" charset="0"/>
                      </a:endParaRPr>
                    </a:p>
                  </a:txBody>
                  <a:tcPr>
                    <a:lnL w="6350" cap="flat" cmpd="sng" algn="ctr">
                      <a:solidFill>
                        <a:srgbClr val="C8C0B4"/>
                      </a:solidFill>
                      <a:prstDash val="solid"/>
                      <a:round/>
                      <a:headEnd type="none" w="med" len="med"/>
                      <a:tailEnd type="none" w="med" len="med"/>
                    </a:lnL>
                    <a:lnR w="6350" cap="flat" cmpd="sng" algn="ctr">
                      <a:solidFill>
                        <a:srgbClr val="C8C0B4"/>
                      </a:solidFill>
                      <a:prstDash val="solid"/>
                      <a:round/>
                      <a:headEnd type="none" w="med" len="med"/>
                      <a:tailEnd type="none" w="med" len="med"/>
                    </a:lnR>
                    <a:lnT w="6350" cap="flat" cmpd="sng" algn="ctr">
                      <a:solidFill>
                        <a:srgbClr val="C8C0B4"/>
                      </a:solidFill>
                      <a:prstDash val="solid"/>
                      <a:round/>
                      <a:headEnd type="none" w="med" len="med"/>
                      <a:tailEnd type="none" w="med" len="med"/>
                    </a:lnT>
                    <a:lnB w="6350" cap="flat" cmpd="sng" algn="ctr">
                      <a:solidFill>
                        <a:srgbClr val="C8C0B4"/>
                      </a:solidFill>
                      <a:prstDash val="solid"/>
                      <a:round/>
                      <a:headEnd type="none" w="med" len="med"/>
                      <a:tailEnd type="none" w="med" len="med"/>
                    </a:lnB>
                    <a:solidFill>
                      <a:srgbClr val="ECE7DF"/>
                    </a:solidFill>
                  </a:tcPr>
                </a:tc>
                <a:extLst>
                  <a:ext uri="{0D108BD9-81ED-4DB2-BD59-A6C34878D82A}">
                    <a16:rowId xmlns:a16="http://schemas.microsoft.com/office/drawing/2014/main" val="10002"/>
                  </a:ext>
                </a:extLst>
              </a:tr>
              <a:tr h="329184">
                <a:tc>
                  <a:txBody>
                    <a:bodyPr/>
                    <a:lstStyle/>
                    <a:p>
                      <a:pPr marL="0" indent="0">
                        <a:buNone/>
                      </a:pPr>
                      <a:r>
                        <a:rPr lang="en-US" sz="1000" dirty="0">
                          <a:solidFill>
                            <a:srgbClr val="0F1F33"/>
                          </a:solidFill>
                          <a:latin typeface="DM Mono" pitchFamily="34" charset="0"/>
                          <a:ea typeface="DM Mono" pitchFamily="34" charset="-122"/>
                          <a:cs typeface="DM Mono" pitchFamily="34" charset="-120"/>
                        </a:rPr>
                        <a:t>Onboard GitLab Users</a:t>
                      </a:r>
                      <a:endParaRPr lang="en-US" sz="1000" dirty="0">
                        <a:latin typeface="DM Mono" charset="0"/>
                        <a:ea typeface="DM Mono" charset="0"/>
                        <a:cs typeface="DM Mono" charset="0"/>
                      </a:endParaRPr>
                    </a:p>
                  </a:txBody>
                  <a:tcPr>
                    <a:lnL w="6350" cap="flat" cmpd="sng" algn="ctr">
                      <a:solidFill>
                        <a:srgbClr val="C8C0B4"/>
                      </a:solidFill>
                      <a:prstDash val="solid"/>
                      <a:round/>
                      <a:headEnd type="none" w="med" len="med"/>
                      <a:tailEnd type="none" w="med" len="med"/>
                    </a:lnL>
                    <a:lnR w="6350" cap="flat" cmpd="sng" algn="ctr">
                      <a:solidFill>
                        <a:srgbClr val="C8C0B4"/>
                      </a:solidFill>
                      <a:prstDash val="solid"/>
                      <a:round/>
                      <a:headEnd type="none" w="med" len="med"/>
                      <a:tailEnd type="none" w="med" len="med"/>
                    </a:lnR>
                    <a:lnT w="6350" cap="flat" cmpd="sng" algn="ctr">
                      <a:solidFill>
                        <a:srgbClr val="C8C0B4"/>
                      </a:solidFill>
                      <a:prstDash val="solid"/>
                      <a:round/>
                      <a:headEnd type="none" w="med" len="med"/>
                      <a:tailEnd type="none" w="med" len="med"/>
                    </a:lnT>
                    <a:lnB w="6350" cap="flat" cmpd="sng" algn="ctr">
                      <a:solidFill>
                        <a:srgbClr val="C8C0B4"/>
                      </a:solidFill>
                      <a:prstDash val="solid"/>
                      <a:round/>
                      <a:headEnd type="none" w="med" len="med"/>
                      <a:tailEnd type="none" w="med" len="med"/>
                    </a:lnB>
                    <a:solidFill>
                      <a:srgbClr val="F5F0E8"/>
                    </a:solidFill>
                  </a:tcPr>
                </a:tc>
                <a:tc>
                  <a:txBody>
                    <a:bodyPr/>
                    <a:lstStyle/>
                    <a:p>
                      <a:pPr marL="0" indent="0">
                        <a:buNone/>
                      </a:pPr>
                      <a:r>
                        <a:rPr lang="en-US" sz="1000" dirty="0">
                          <a:solidFill>
                            <a:srgbClr val="0F1F33"/>
                          </a:solidFill>
                          <a:latin typeface="DM Mono" pitchFamily="34" charset="0"/>
                          <a:ea typeface="DM Mono" pitchFamily="34" charset="-122"/>
                          <a:cs typeface="DM Mono" pitchFamily="34" charset="-120"/>
                        </a:rPr>
                        <a:t>IN_PROGRESS</a:t>
                      </a:r>
                      <a:endParaRPr lang="en-US" sz="1000" dirty="0">
                        <a:latin typeface="DM Mono" charset="0"/>
                        <a:ea typeface="DM Mono" charset="0"/>
                        <a:cs typeface="DM Mono" charset="0"/>
                      </a:endParaRPr>
                    </a:p>
                  </a:txBody>
                  <a:tcPr>
                    <a:lnL w="6350" cap="flat" cmpd="sng" algn="ctr">
                      <a:solidFill>
                        <a:srgbClr val="C8C0B4"/>
                      </a:solidFill>
                      <a:prstDash val="solid"/>
                      <a:round/>
                      <a:headEnd type="none" w="med" len="med"/>
                      <a:tailEnd type="none" w="med" len="med"/>
                    </a:lnL>
                    <a:lnR w="6350" cap="flat" cmpd="sng" algn="ctr">
                      <a:solidFill>
                        <a:srgbClr val="C8C0B4"/>
                      </a:solidFill>
                      <a:prstDash val="solid"/>
                      <a:round/>
                      <a:headEnd type="none" w="med" len="med"/>
                      <a:tailEnd type="none" w="med" len="med"/>
                    </a:lnR>
                    <a:lnT w="6350" cap="flat" cmpd="sng" algn="ctr">
                      <a:solidFill>
                        <a:srgbClr val="C8C0B4"/>
                      </a:solidFill>
                      <a:prstDash val="solid"/>
                      <a:round/>
                      <a:headEnd type="none" w="med" len="med"/>
                      <a:tailEnd type="none" w="med" len="med"/>
                    </a:lnT>
                    <a:lnB w="6350" cap="flat" cmpd="sng" algn="ctr">
                      <a:solidFill>
                        <a:srgbClr val="C8C0B4"/>
                      </a:solidFill>
                      <a:prstDash val="solid"/>
                      <a:round/>
                      <a:headEnd type="none" w="med" len="med"/>
                      <a:tailEnd type="none" w="med" len="med"/>
                    </a:lnB>
                    <a:solidFill>
                      <a:srgbClr val="F5F0E8"/>
                    </a:solidFill>
                  </a:tcPr>
                </a:tc>
                <a:tc>
                  <a:txBody>
                    <a:bodyPr/>
                    <a:lstStyle/>
                    <a:p>
                      <a:pPr marL="0" indent="0">
                        <a:buNone/>
                      </a:pPr>
                      <a:r>
                        <a:rPr lang="en-US" sz="1000" dirty="0">
                          <a:solidFill>
                            <a:srgbClr val="0F1F33"/>
                          </a:solidFill>
                          <a:latin typeface="DM Mono" pitchFamily="34" charset="0"/>
                          <a:ea typeface="DM Mono" pitchFamily="34" charset="-122"/>
                          <a:cs typeface="DM Mono" pitchFamily="34" charset="-120"/>
                        </a:rPr>
                        <a:t>40%</a:t>
                      </a:r>
                      <a:endParaRPr lang="en-US" sz="1000" dirty="0">
                        <a:latin typeface="DM Mono" charset="0"/>
                        <a:ea typeface="DM Mono" charset="0"/>
                        <a:cs typeface="DM Mono" charset="0"/>
                      </a:endParaRPr>
                    </a:p>
                  </a:txBody>
                  <a:tcPr>
                    <a:lnL w="6350" cap="flat" cmpd="sng" algn="ctr">
                      <a:solidFill>
                        <a:srgbClr val="C8C0B4"/>
                      </a:solidFill>
                      <a:prstDash val="solid"/>
                      <a:round/>
                      <a:headEnd type="none" w="med" len="med"/>
                      <a:tailEnd type="none" w="med" len="med"/>
                    </a:lnL>
                    <a:lnR w="6350" cap="flat" cmpd="sng" algn="ctr">
                      <a:solidFill>
                        <a:srgbClr val="C8C0B4"/>
                      </a:solidFill>
                      <a:prstDash val="solid"/>
                      <a:round/>
                      <a:headEnd type="none" w="med" len="med"/>
                      <a:tailEnd type="none" w="med" len="med"/>
                    </a:lnR>
                    <a:lnT w="6350" cap="flat" cmpd="sng" algn="ctr">
                      <a:solidFill>
                        <a:srgbClr val="C8C0B4"/>
                      </a:solidFill>
                      <a:prstDash val="solid"/>
                      <a:round/>
                      <a:headEnd type="none" w="med" len="med"/>
                      <a:tailEnd type="none" w="med" len="med"/>
                    </a:lnT>
                    <a:lnB w="6350" cap="flat" cmpd="sng" algn="ctr">
                      <a:solidFill>
                        <a:srgbClr val="C8C0B4"/>
                      </a:solidFill>
                      <a:prstDash val="solid"/>
                      <a:round/>
                      <a:headEnd type="none" w="med" len="med"/>
                      <a:tailEnd type="none" w="med" len="med"/>
                    </a:lnB>
                    <a:solidFill>
                      <a:srgbClr val="F5F0E8"/>
                    </a:solidFill>
                  </a:tcPr>
                </a:tc>
                <a:tc>
                  <a:txBody>
                    <a:bodyPr/>
                    <a:lstStyle/>
                    <a:p>
                      <a:pPr marL="0" indent="0">
                        <a:buNone/>
                      </a:pPr>
                      <a:r>
                        <a:rPr lang="en-US" sz="1000" dirty="0">
                          <a:solidFill>
                            <a:srgbClr val="0F1F33"/>
                          </a:solidFill>
                          <a:latin typeface="DM Mono" pitchFamily="34" charset="0"/>
                          <a:ea typeface="DM Mono" pitchFamily="34" charset="-122"/>
                          <a:cs typeface="DM Mono" pitchFamily="34" charset="-120"/>
                        </a:rPr>
                        <a:t>2026-04-30</a:t>
                      </a:r>
                      <a:endParaRPr lang="en-US" sz="1000" dirty="0">
                        <a:latin typeface="DM Mono" charset="0"/>
                        <a:ea typeface="DM Mono" charset="0"/>
                        <a:cs typeface="DM Mono" charset="0"/>
                      </a:endParaRPr>
                    </a:p>
                  </a:txBody>
                  <a:tcPr>
                    <a:lnL w="6350" cap="flat" cmpd="sng" algn="ctr">
                      <a:solidFill>
                        <a:srgbClr val="C8C0B4"/>
                      </a:solidFill>
                      <a:prstDash val="solid"/>
                      <a:round/>
                      <a:headEnd type="none" w="med" len="med"/>
                      <a:tailEnd type="none" w="med" len="med"/>
                    </a:lnL>
                    <a:lnR w="6350" cap="flat" cmpd="sng" algn="ctr">
                      <a:solidFill>
                        <a:srgbClr val="C8C0B4"/>
                      </a:solidFill>
                      <a:prstDash val="solid"/>
                      <a:round/>
                      <a:headEnd type="none" w="med" len="med"/>
                      <a:tailEnd type="none" w="med" len="med"/>
                    </a:lnR>
                    <a:lnT w="6350" cap="flat" cmpd="sng" algn="ctr">
                      <a:solidFill>
                        <a:srgbClr val="C8C0B4"/>
                      </a:solidFill>
                      <a:prstDash val="solid"/>
                      <a:round/>
                      <a:headEnd type="none" w="med" len="med"/>
                      <a:tailEnd type="none" w="med" len="med"/>
                    </a:lnT>
                    <a:lnB w="6350" cap="flat" cmpd="sng" algn="ctr">
                      <a:solidFill>
                        <a:srgbClr val="C8C0B4"/>
                      </a:solidFill>
                      <a:prstDash val="solid"/>
                      <a:round/>
                      <a:headEnd type="none" w="med" len="med"/>
                      <a:tailEnd type="none" w="med" len="med"/>
                    </a:lnB>
                    <a:solidFill>
                      <a:srgbClr val="F5F0E8"/>
                    </a:solidFill>
                  </a:tcPr>
                </a:tc>
                <a:extLst>
                  <a:ext uri="{0D108BD9-81ED-4DB2-BD59-A6C34878D82A}">
                    <a16:rowId xmlns:a16="http://schemas.microsoft.com/office/drawing/2014/main" val="10003"/>
                  </a:ext>
                </a:extLst>
              </a:tr>
              <a:tr h="329184">
                <a:tc>
                  <a:txBody>
                    <a:bodyPr/>
                    <a:lstStyle/>
                    <a:p>
                      <a:pPr marL="0" indent="0">
                        <a:buNone/>
                      </a:pPr>
                      <a:r>
                        <a:rPr lang="en-US" sz="1000" dirty="0">
                          <a:solidFill>
                            <a:srgbClr val="0F1F33"/>
                          </a:solidFill>
                          <a:latin typeface="DM Mono" pitchFamily="34" charset="0"/>
                          <a:ea typeface="DM Mono" pitchFamily="34" charset="-122"/>
                          <a:cs typeface="DM Mono" pitchFamily="34" charset="-120"/>
                        </a:rPr>
                        <a:t>Add DT Contributors</a:t>
                      </a:r>
                      <a:endParaRPr lang="en-US" sz="1000" dirty="0">
                        <a:latin typeface="DM Mono" charset="0"/>
                        <a:ea typeface="DM Mono" charset="0"/>
                        <a:cs typeface="DM Mono" charset="0"/>
                      </a:endParaRPr>
                    </a:p>
                  </a:txBody>
                  <a:tcPr>
                    <a:lnL w="6350" cap="flat" cmpd="sng" algn="ctr">
                      <a:solidFill>
                        <a:srgbClr val="C8C0B4"/>
                      </a:solidFill>
                      <a:prstDash val="solid"/>
                      <a:round/>
                      <a:headEnd type="none" w="med" len="med"/>
                      <a:tailEnd type="none" w="med" len="med"/>
                    </a:lnL>
                    <a:lnR w="6350" cap="flat" cmpd="sng" algn="ctr">
                      <a:solidFill>
                        <a:srgbClr val="C8C0B4"/>
                      </a:solidFill>
                      <a:prstDash val="solid"/>
                      <a:round/>
                      <a:headEnd type="none" w="med" len="med"/>
                      <a:tailEnd type="none" w="med" len="med"/>
                    </a:lnR>
                    <a:lnT w="6350" cap="flat" cmpd="sng" algn="ctr">
                      <a:solidFill>
                        <a:srgbClr val="C8C0B4"/>
                      </a:solidFill>
                      <a:prstDash val="solid"/>
                      <a:round/>
                      <a:headEnd type="none" w="med" len="med"/>
                      <a:tailEnd type="none" w="med" len="med"/>
                    </a:lnT>
                    <a:lnB w="6350" cap="flat" cmpd="sng" algn="ctr">
                      <a:solidFill>
                        <a:srgbClr val="C8C0B4"/>
                      </a:solidFill>
                      <a:prstDash val="solid"/>
                      <a:round/>
                      <a:headEnd type="none" w="med" len="med"/>
                      <a:tailEnd type="none" w="med" len="med"/>
                    </a:lnB>
                    <a:solidFill>
                      <a:srgbClr val="ECE7DF"/>
                    </a:solidFill>
                  </a:tcPr>
                </a:tc>
                <a:tc>
                  <a:txBody>
                    <a:bodyPr/>
                    <a:lstStyle/>
                    <a:p>
                      <a:pPr marL="0" indent="0">
                        <a:buNone/>
                      </a:pPr>
                      <a:r>
                        <a:rPr lang="en-US" sz="1000" dirty="0">
                          <a:solidFill>
                            <a:srgbClr val="0F1F33"/>
                          </a:solidFill>
                          <a:latin typeface="DM Mono" pitchFamily="34" charset="0"/>
                          <a:ea typeface="DM Mono" pitchFamily="34" charset="-122"/>
                          <a:cs typeface="DM Mono" pitchFamily="34" charset="-120"/>
                        </a:rPr>
                        <a:t>NOT_STARTED</a:t>
                      </a:r>
                      <a:endParaRPr lang="en-US" sz="1000" dirty="0">
                        <a:latin typeface="DM Mono" charset="0"/>
                        <a:ea typeface="DM Mono" charset="0"/>
                        <a:cs typeface="DM Mono" charset="0"/>
                      </a:endParaRPr>
                    </a:p>
                  </a:txBody>
                  <a:tcPr>
                    <a:lnL w="6350" cap="flat" cmpd="sng" algn="ctr">
                      <a:solidFill>
                        <a:srgbClr val="C8C0B4"/>
                      </a:solidFill>
                      <a:prstDash val="solid"/>
                      <a:round/>
                      <a:headEnd type="none" w="med" len="med"/>
                      <a:tailEnd type="none" w="med" len="med"/>
                    </a:lnL>
                    <a:lnR w="6350" cap="flat" cmpd="sng" algn="ctr">
                      <a:solidFill>
                        <a:srgbClr val="C8C0B4"/>
                      </a:solidFill>
                      <a:prstDash val="solid"/>
                      <a:round/>
                      <a:headEnd type="none" w="med" len="med"/>
                      <a:tailEnd type="none" w="med" len="med"/>
                    </a:lnR>
                    <a:lnT w="6350" cap="flat" cmpd="sng" algn="ctr">
                      <a:solidFill>
                        <a:srgbClr val="C8C0B4"/>
                      </a:solidFill>
                      <a:prstDash val="solid"/>
                      <a:round/>
                      <a:headEnd type="none" w="med" len="med"/>
                      <a:tailEnd type="none" w="med" len="med"/>
                    </a:lnT>
                    <a:lnB w="6350" cap="flat" cmpd="sng" algn="ctr">
                      <a:solidFill>
                        <a:srgbClr val="C8C0B4"/>
                      </a:solidFill>
                      <a:prstDash val="solid"/>
                      <a:round/>
                      <a:headEnd type="none" w="med" len="med"/>
                      <a:tailEnd type="none" w="med" len="med"/>
                    </a:lnB>
                    <a:solidFill>
                      <a:srgbClr val="ECE7DF"/>
                    </a:solidFill>
                  </a:tcPr>
                </a:tc>
                <a:tc>
                  <a:txBody>
                    <a:bodyPr/>
                    <a:lstStyle/>
                    <a:p>
                      <a:pPr marL="0" indent="0">
                        <a:buNone/>
                      </a:pPr>
                      <a:r>
                        <a:rPr lang="en-US" sz="1000" dirty="0">
                          <a:solidFill>
                            <a:srgbClr val="0F1F33"/>
                          </a:solidFill>
                          <a:latin typeface="DM Mono" pitchFamily="34" charset="0"/>
                          <a:ea typeface="DM Mono" pitchFamily="34" charset="-122"/>
                          <a:cs typeface="DM Mono" pitchFamily="34" charset="-120"/>
                        </a:rPr>
                        <a:t>0%</a:t>
                      </a:r>
                      <a:endParaRPr lang="en-US" sz="1000" dirty="0">
                        <a:latin typeface="DM Mono" charset="0"/>
                        <a:ea typeface="DM Mono" charset="0"/>
                        <a:cs typeface="DM Mono" charset="0"/>
                      </a:endParaRPr>
                    </a:p>
                  </a:txBody>
                  <a:tcPr>
                    <a:lnL w="6350" cap="flat" cmpd="sng" algn="ctr">
                      <a:solidFill>
                        <a:srgbClr val="C8C0B4"/>
                      </a:solidFill>
                      <a:prstDash val="solid"/>
                      <a:round/>
                      <a:headEnd type="none" w="med" len="med"/>
                      <a:tailEnd type="none" w="med" len="med"/>
                    </a:lnL>
                    <a:lnR w="6350" cap="flat" cmpd="sng" algn="ctr">
                      <a:solidFill>
                        <a:srgbClr val="C8C0B4"/>
                      </a:solidFill>
                      <a:prstDash val="solid"/>
                      <a:round/>
                      <a:headEnd type="none" w="med" len="med"/>
                      <a:tailEnd type="none" w="med" len="med"/>
                    </a:lnR>
                    <a:lnT w="6350" cap="flat" cmpd="sng" algn="ctr">
                      <a:solidFill>
                        <a:srgbClr val="C8C0B4"/>
                      </a:solidFill>
                      <a:prstDash val="solid"/>
                      <a:round/>
                      <a:headEnd type="none" w="med" len="med"/>
                      <a:tailEnd type="none" w="med" len="med"/>
                    </a:lnT>
                    <a:lnB w="6350" cap="flat" cmpd="sng" algn="ctr">
                      <a:solidFill>
                        <a:srgbClr val="C8C0B4"/>
                      </a:solidFill>
                      <a:prstDash val="solid"/>
                      <a:round/>
                      <a:headEnd type="none" w="med" len="med"/>
                      <a:tailEnd type="none" w="med" len="med"/>
                    </a:lnB>
                    <a:solidFill>
                      <a:srgbClr val="ECE7DF"/>
                    </a:solidFill>
                  </a:tcPr>
                </a:tc>
                <a:tc>
                  <a:txBody>
                    <a:bodyPr/>
                    <a:lstStyle/>
                    <a:p>
                      <a:pPr marL="0" indent="0">
                        <a:buNone/>
                      </a:pPr>
                      <a:r>
                        <a:rPr lang="en-US" sz="1000" dirty="0">
                          <a:solidFill>
                            <a:srgbClr val="0F1F33"/>
                          </a:solidFill>
                          <a:latin typeface="DM Mono" pitchFamily="34" charset="0"/>
                          <a:ea typeface="DM Mono" pitchFamily="34" charset="-122"/>
                          <a:cs typeface="DM Mono" pitchFamily="34" charset="-120"/>
                        </a:rPr>
                        <a:t>2026-04-30</a:t>
                      </a:r>
                      <a:endParaRPr lang="en-US" sz="1000" dirty="0">
                        <a:latin typeface="DM Mono" charset="0"/>
                        <a:ea typeface="DM Mono" charset="0"/>
                        <a:cs typeface="DM Mono" charset="0"/>
                      </a:endParaRPr>
                    </a:p>
                  </a:txBody>
                  <a:tcPr>
                    <a:lnL w="6350" cap="flat" cmpd="sng" algn="ctr">
                      <a:solidFill>
                        <a:srgbClr val="C8C0B4"/>
                      </a:solidFill>
                      <a:prstDash val="solid"/>
                      <a:round/>
                      <a:headEnd type="none" w="med" len="med"/>
                      <a:tailEnd type="none" w="med" len="med"/>
                    </a:lnL>
                    <a:lnR w="6350" cap="flat" cmpd="sng" algn="ctr">
                      <a:solidFill>
                        <a:srgbClr val="C8C0B4"/>
                      </a:solidFill>
                      <a:prstDash val="solid"/>
                      <a:round/>
                      <a:headEnd type="none" w="med" len="med"/>
                      <a:tailEnd type="none" w="med" len="med"/>
                    </a:lnR>
                    <a:lnT w="6350" cap="flat" cmpd="sng" algn="ctr">
                      <a:solidFill>
                        <a:srgbClr val="C8C0B4"/>
                      </a:solidFill>
                      <a:prstDash val="solid"/>
                      <a:round/>
                      <a:headEnd type="none" w="med" len="med"/>
                      <a:tailEnd type="none" w="med" len="med"/>
                    </a:lnT>
                    <a:lnB w="6350" cap="flat" cmpd="sng" algn="ctr">
                      <a:solidFill>
                        <a:srgbClr val="C8C0B4"/>
                      </a:solidFill>
                      <a:prstDash val="solid"/>
                      <a:round/>
                      <a:headEnd type="none" w="med" len="med"/>
                      <a:tailEnd type="none" w="med" len="med"/>
                    </a:lnB>
                    <a:solidFill>
                      <a:srgbClr val="ECE7DF"/>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0E8"/>
        </a:solidFill>
        <a:effectLst/>
      </p:bgPr>
    </p:bg>
    <p:spTree>
      <p:nvGrpSpPr>
        <p:cNvPr id="1" name=""/>
        <p:cNvGrpSpPr/>
        <p:nvPr/>
      </p:nvGrpSpPr>
      <p:grpSpPr>
        <a:xfrm>
          <a:off x="0" y="0"/>
          <a:ext cx="0" cy="0"/>
          <a:chOff x="0" y="0"/>
          <a:chExt cx="0" cy="0"/>
        </a:xfrm>
      </p:grpSpPr>
      <p:sp>
        <p:nvSpPr>
          <p:cNvPr id="2" name="Shape 0"/>
          <p:cNvSpPr/>
          <p:nvPr/>
        </p:nvSpPr>
        <p:spPr>
          <a:xfrm>
            <a:off x="0" y="0"/>
            <a:ext cx="12192000" cy="91440"/>
          </a:xfrm>
          <a:prstGeom prst="rect">
            <a:avLst/>
          </a:prstGeom>
          <a:solidFill>
            <a:srgbClr val="1E3A5F"/>
          </a:solidFill>
          <a:ln/>
        </p:spPr>
        <p:txBody>
          <a:bodyPr/>
          <a:lstStyle/>
          <a:p>
            <a:endParaRPr lang="en-US"/>
          </a:p>
        </p:txBody>
      </p:sp>
      <p:sp>
        <p:nvSpPr>
          <p:cNvPr id="3" name="Text 1"/>
          <p:cNvSpPr/>
          <p:nvPr/>
        </p:nvSpPr>
        <p:spPr>
          <a:xfrm>
            <a:off x="457200" y="182880"/>
            <a:ext cx="11247120" cy="548640"/>
          </a:xfrm>
          <a:prstGeom prst="rect">
            <a:avLst/>
          </a:prstGeom>
          <a:noFill/>
          <a:ln/>
        </p:spPr>
        <p:txBody>
          <a:bodyPr wrap="square" rtlCol="0" anchor="ctr"/>
          <a:lstStyle/>
          <a:p>
            <a:pPr marL="0" indent="0">
              <a:buNone/>
            </a:pPr>
            <a:r>
              <a:rPr lang="en-US" sz="2200" b="1" dirty="0">
                <a:solidFill>
                  <a:srgbClr val="3A7A6A"/>
                </a:solidFill>
                <a:latin typeface="Syne" pitchFamily="34" charset="0"/>
                <a:ea typeface="Syne" pitchFamily="34" charset="-122"/>
                <a:cs typeface="Syne" pitchFamily="34" charset="-120"/>
              </a:rPr>
              <a:t>Risks, Issues &amp; Recommendations</a:t>
            </a:r>
            <a:endParaRPr lang="en-US" sz="2200" dirty="0"/>
          </a:p>
        </p:txBody>
      </p:sp>
      <p:sp>
        <p:nvSpPr>
          <p:cNvPr id="4" name="Shape 2"/>
          <p:cNvSpPr/>
          <p:nvPr/>
        </p:nvSpPr>
        <p:spPr>
          <a:xfrm>
            <a:off x="457200" y="804672"/>
            <a:ext cx="11247120" cy="22860"/>
          </a:xfrm>
          <a:prstGeom prst="rect">
            <a:avLst/>
          </a:prstGeom>
          <a:solidFill>
            <a:srgbClr val="C8C0B4"/>
          </a:solidFill>
          <a:ln/>
        </p:spPr>
        <p:txBody>
          <a:bodyPr/>
          <a:lstStyle/>
          <a:p>
            <a:endParaRPr lang="en-US"/>
          </a:p>
        </p:txBody>
      </p:sp>
      <p:sp>
        <p:nvSpPr>
          <p:cNvPr id="5" name="Text 3"/>
          <p:cNvSpPr/>
          <p:nvPr/>
        </p:nvSpPr>
        <p:spPr>
          <a:xfrm>
            <a:off x="457200" y="914400"/>
            <a:ext cx="11247120" cy="914400"/>
          </a:xfrm>
          <a:prstGeom prst="rect">
            <a:avLst/>
          </a:prstGeom>
          <a:noFill/>
          <a:ln/>
        </p:spPr>
        <p:txBody>
          <a:bodyPr wrap="square" rtlCol="0" anchor="t"/>
          <a:lstStyle/>
          <a:p>
            <a:pPr marL="0" indent="0">
              <a:buNone/>
            </a:pPr>
            <a:r>
              <a:rPr lang="en-US" sz="1100" dirty="0">
                <a:solidFill>
                  <a:srgbClr val="1E3A5F"/>
                </a:solidFill>
                <a:latin typeface="DM Mono" pitchFamily="34" charset="0"/>
                <a:ea typeface="DM Mono" pitchFamily="34" charset="-122"/>
                <a:cs typeface="DM Mono" pitchFamily="34" charset="-120"/>
              </a:rPr>
              <a:t>Of the 13 tasks in the reporting period, 8 are either Not Started (0%) or at early In-Progress stages (40%), creating a significant backlog risk ahead of deadlines concentrated in May–June 2026. The IR calibration pipeline shows recurring instability — calibration confidence dropped to 0.44 (rated 'poor') on 2025-12-15 before recovering to 1.0 ('excellent') the same day, indicating the process is not yet stable or repeatable on Jetson hardware. DevOps team onboarding remains split across two overlapping tasks (both due 2026-04-30), suggesting process fragmentation that could delay repository access for contributors.</a:t>
            </a:r>
            <a:endParaRPr lang="en-US" sz="11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457200" y="1920240"/>
          <a:ext cx="11247120" cy="2962656"/>
        </p:xfrm>
        <a:graphic>
          <a:graphicData uri="http://schemas.openxmlformats.org/drawingml/2006/table">
            <a:tbl>
              <a:tblPr/>
              <a:tblGrid>
                <a:gridCol w="2811780">
                  <a:extLst>
                    <a:ext uri="{9D8B030D-6E8A-4147-A177-3AD203B41FA5}">
                      <a16:colId xmlns:a16="http://schemas.microsoft.com/office/drawing/2014/main" val="20000"/>
                    </a:ext>
                  </a:extLst>
                </a:gridCol>
                <a:gridCol w="2811780">
                  <a:extLst>
                    <a:ext uri="{9D8B030D-6E8A-4147-A177-3AD203B41FA5}">
                      <a16:colId xmlns:a16="http://schemas.microsoft.com/office/drawing/2014/main" val="20001"/>
                    </a:ext>
                  </a:extLst>
                </a:gridCol>
                <a:gridCol w="2811780">
                  <a:extLst>
                    <a:ext uri="{9D8B030D-6E8A-4147-A177-3AD203B41FA5}">
                      <a16:colId xmlns:a16="http://schemas.microsoft.com/office/drawing/2014/main" val="20002"/>
                    </a:ext>
                  </a:extLst>
                </a:gridCol>
                <a:gridCol w="2811780">
                  <a:extLst>
                    <a:ext uri="{9D8B030D-6E8A-4147-A177-3AD203B41FA5}">
                      <a16:colId xmlns:a16="http://schemas.microsoft.com/office/drawing/2014/main" val="20003"/>
                    </a:ext>
                  </a:extLst>
                </a:gridCol>
              </a:tblGrid>
              <a:tr h="329184">
                <a:tc>
                  <a:txBody>
                    <a:bodyPr/>
                    <a:lstStyle/>
                    <a:p>
                      <a:pPr marL="0" indent="0">
                        <a:buNone/>
                      </a:pPr>
                      <a:r>
                        <a:rPr lang="en-US" sz="1000" b="1" dirty="0">
                          <a:solidFill>
                            <a:srgbClr val="0F1F33"/>
                          </a:solidFill>
                          <a:latin typeface="Syne" pitchFamily="34" charset="0"/>
                          <a:ea typeface="Syne" pitchFamily="34" charset="-122"/>
                          <a:cs typeface="Syne" pitchFamily="34" charset="-120"/>
                        </a:rPr>
                        <a:t>Task (Abbreviated)</a:t>
                      </a:r>
                      <a:endParaRPr lang="en-US" sz="1000" dirty="0">
                        <a:latin typeface="Syne" charset="0"/>
                        <a:ea typeface="Syne" charset="0"/>
                        <a:cs typeface="Syne" charset="0"/>
                      </a:endParaRPr>
                    </a:p>
                  </a:txBody>
                  <a:tcPr>
                    <a:lnL w="6350" cap="flat" cmpd="sng" algn="ctr">
                      <a:solidFill>
                        <a:srgbClr val="C8C0B4"/>
                      </a:solidFill>
                      <a:prstDash val="solid"/>
                      <a:round/>
                      <a:headEnd type="none" w="med" len="med"/>
                      <a:tailEnd type="none" w="med" len="med"/>
                    </a:lnL>
                    <a:lnR w="6350" cap="flat" cmpd="sng" algn="ctr">
                      <a:solidFill>
                        <a:srgbClr val="C8C0B4"/>
                      </a:solidFill>
                      <a:prstDash val="solid"/>
                      <a:round/>
                      <a:headEnd type="none" w="med" len="med"/>
                      <a:tailEnd type="none" w="med" len="med"/>
                    </a:lnR>
                    <a:lnT w="6350" cap="flat" cmpd="sng" algn="ctr">
                      <a:solidFill>
                        <a:srgbClr val="C8C0B4"/>
                      </a:solidFill>
                      <a:prstDash val="solid"/>
                      <a:round/>
                      <a:headEnd type="none" w="med" len="med"/>
                      <a:tailEnd type="none" w="med" len="med"/>
                    </a:lnT>
                    <a:lnB w="6350" cap="flat" cmpd="sng" algn="ctr">
                      <a:solidFill>
                        <a:srgbClr val="C8C0B4"/>
                      </a:solidFill>
                      <a:prstDash val="solid"/>
                      <a:round/>
                      <a:headEnd type="none" w="med" len="med"/>
                      <a:tailEnd type="none" w="med" len="med"/>
                    </a:lnB>
                    <a:solidFill>
                      <a:srgbClr val="C8C0B4"/>
                    </a:solidFill>
                  </a:tcPr>
                </a:tc>
                <a:tc>
                  <a:txBody>
                    <a:bodyPr/>
                    <a:lstStyle/>
                    <a:p>
                      <a:pPr marL="0" indent="0">
                        <a:buNone/>
                      </a:pPr>
                      <a:r>
                        <a:rPr lang="en-US" sz="1000" b="1" dirty="0">
                          <a:solidFill>
                            <a:srgbClr val="0F1F33"/>
                          </a:solidFill>
                          <a:latin typeface="Syne" pitchFamily="34" charset="0"/>
                          <a:ea typeface="Syne" pitchFamily="34" charset="-122"/>
                          <a:cs typeface="Syne" pitchFamily="34" charset="-120"/>
                        </a:rPr>
                        <a:t>Status</a:t>
                      </a:r>
                      <a:endParaRPr lang="en-US" sz="1000" dirty="0">
                        <a:latin typeface="Syne" charset="0"/>
                        <a:ea typeface="Syne" charset="0"/>
                        <a:cs typeface="Syne" charset="0"/>
                      </a:endParaRPr>
                    </a:p>
                  </a:txBody>
                  <a:tcPr>
                    <a:lnL w="6350" cap="flat" cmpd="sng" algn="ctr">
                      <a:solidFill>
                        <a:srgbClr val="C8C0B4"/>
                      </a:solidFill>
                      <a:prstDash val="solid"/>
                      <a:round/>
                      <a:headEnd type="none" w="med" len="med"/>
                      <a:tailEnd type="none" w="med" len="med"/>
                    </a:lnL>
                    <a:lnR w="6350" cap="flat" cmpd="sng" algn="ctr">
                      <a:solidFill>
                        <a:srgbClr val="C8C0B4"/>
                      </a:solidFill>
                      <a:prstDash val="solid"/>
                      <a:round/>
                      <a:headEnd type="none" w="med" len="med"/>
                      <a:tailEnd type="none" w="med" len="med"/>
                    </a:lnR>
                    <a:lnT w="6350" cap="flat" cmpd="sng" algn="ctr">
                      <a:solidFill>
                        <a:srgbClr val="C8C0B4"/>
                      </a:solidFill>
                      <a:prstDash val="solid"/>
                      <a:round/>
                      <a:headEnd type="none" w="med" len="med"/>
                      <a:tailEnd type="none" w="med" len="med"/>
                    </a:lnT>
                    <a:lnB w="6350" cap="flat" cmpd="sng" algn="ctr">
                      <a:solidFill>
                        <a:srgbClr val="C8C0B4"/>
                      </a:solidFill>
                      <a:prstDash val="solid"/>
                      <a:round/>
                      <a:headEnd type="none" w="med" len="med"/>
                      <a:tailEnd type="none" w="med" len="med"/>
                    </a:lnB>
                    <a:solidFill>
                      <a:srgbClr val="C8C0B4"/>
                    </a:solidFill>
                  </a:tcPr>
                </a:tc>
                <a:tc>
                  <a:txBody>
                    <a:bodyPr/>
                    <a:lstStyle/>
                    <a:p>
                      <a:pPr marL="0" indent="0">
                        <a:buNone/>
                      </a:pPr>
                      <a:r>
                        <a:rPr lang="en-US" sz="1000" b="1" dirty="0">
                          <a:solidFill>
                            <a:srgbClr val="0F1F33"/>
                          </a:solidFill>
                          <a:latin typeface="Syne" pitchFamily="34" charset="0"/>
                          <a:ea typeface="Syne" pitchFamily="34" charset="-122"/>
                          <a:cs typeface="Syne" pitchFamily="34" charset="-120"/>
                        </a:rPr>
                        <a:t>Due Date</a:t>
                      </a:r>
                      <a:endParaRPr lang="en-US" sz="1000" dirty="0">
                        <a:latin typeface="Syne" charset="0"/>
                        <a:ea typeface="Syne" charset="0"/>
                        <a:cs typeface="Syne" charset="0"/>
                      </a:endParaRPr>
                    </a:p>
                  </a:txBody>
                  <a:tcPr>
                    <a:lnL w="6350" cap="flat" cmpd="sng" algn="ctr">
                      <a:solidFill>
                        <a:srgbClr val="C8C0B4"/>
                      </a:solidFill>
                      <a:prstDash val="solid"/>
                      <a:round/>
                      <a:headEnd type="none" w="med" len="med"/>
                      <a:tailEnd type="none" w="med" len="med"/>
                    </a:lnL>
                    <a:lnR w="6350" cap="flat" cmpd="sng" algn="ctr">
                      <a:solidFill>
                        <a:srgbClr val="C8C0B4"/>
                      </a:solidFill>
                      <a:prstDash val="solid"/>
                      <a:round/>
                      <a:headEnd type="none" w="med" len="med"/>
                      <a:tailEnd type="none" w="med" len="med"/>
                    </a:lnR>
                    <a:lnT w="6350" cap="flat" cmpd="sng" algn="ctr">
                      <a:solidFill>
                        <a:srgbClr val="C8C0B4"/>
                      </a:solidFill>
                      <a:prstDash val="solid"/>
                      <a:round/>
                      <a:headEnd type="none" w="med" len="med"/>
                      <a:tailEnd type="none" w="med" len="med"/>
                    </a:lnT>
                    <a:lnB w="6350" cap="flat" cmpd="sng" algn="ctr">
                      <a:solidFill>
                        <a:srgbClr val="C8C0B4"/>
                      </a:solidFill>
                      <a:prstDash val="solid"/>
                      <a:round/>
                      <a:headEnd type="none" w="med" len="med"/>
                      <a:tailEnd type="none" w="med" len="med"/>
                    </a:lnB>
                    <a:solidFill>
                      <a:srgbClr val="C8C0B4"/>
                    </a:solidFill>
                  </a:tcPr>
                </a:tc>
                <a:tc>
                  <a:txBody>
                    <a:bodyPr/>
                    <a:lstStyle/>
                    <a:p>
                      <a:pPr marL="0" indent="0">
                        <a:buNone/>
                      </a:pPr>
                      <a:r>
                        <a:rPr lang="en-US" sz="1000" b="1" dirty="0">
                          <a:solidFill>
                            <a:srgbClr val="0F1F33"/>
                          </a:solidFill>
                          <a:latin typeface="Syne" pitchFamily="34" charset="0"/>
                          <a:ea typeface="Syne" pitchFamily="34" charset="-122"/>
                          <a:cs typeface="Syne" pitchFamily="34" charset="-120"/>
                        </a:rPr>
                        <a:t>Risk Level</a:t>
                      </a:r>
                      <a:endParaRPr lang="en-US" sz="1000" dirty="0">
                        <a:latin typeface="Syne" charset="0"/>
                        <a:ea typeface="Syne" charset="0"/>
                        <a:cs typeface="Syne" charset="0"/>
                      </a:endParaRPr>
                    </a:p>
                  </a:txBody>
                  <a:tcPr>
                    <a:lnL w="6350" cap="flat" cmpd="sng" algn="ctr">
                      <a:solidFill>
                        <a:srgbClr val="C8C0B4"/>
                      </a:solidFill>
                      <a:prstDash val="solid"/>
                      <a:round/>
                      <a:headEnd type="none" w="med" len="med"/>
                      <a:tailEnd type="none" w="med" len="med"/>
                    </a:lnL>
                    <a:lnR w="6350" cap="flat" cmpd="sng" algn="ctr">
                      <a:solidFill>
                        <a:srgbClr val="C8C0B4"/>
                      </a:solidFill>
                      <a:prstDash val="solid"/>
                      <a:round/>
                      <a:headEnd type="none" w="med" len="med"/>
                      <a:tailEnd type="none" w="med" len="med"/>
                    </a:lnR>
                    <a:lnT w="6350" cap="flat" cmpd="sng" algn="ctr">
                      <a:solidFill>
                        <a:srgbClr val="C8C0B4"/>
                      </a:solidFill>
                      <a:prstDash val="solid"/>
                      <a:round/>
                      <a:headEnd type="none" w="med" len="med"/>
                      <a:tailEnd type="none" w="med" len="med"/>
                    </a:lnT>
                    <a:lnB w="6350" cap="flat" cmpd="sng" algn="ctr">
                      <a:solidFill>
                        <a:srgbClr val="C8C0B4"/>
                      </a:solidFill>
                      <a:prstDash val="solid"/>
                      <a:round/>
                      <a:headEnd type="none" w="med" len="med"/>
                      <a:tailEnd type="none" w="med" len="med"/>
                    </a:lnB>
                    <a:solidFill>
                      <a:srgbClr val="C8C0B4"/>
                    </a:solidFill>
                  </a:tcPr>
                </a:tc>
                <a:extLst>
                  <a:ext uri="{0D108BD9-81ED-4DB2-BD59-A6C34878D82A}">
                    <a16:rowId xmlns:a16="http://schemas.microsoft.com/office/drawing/2014/main" val="10000"/>
                  </a:ext>
                </a:extLst>
              </a:tr>
              <a:tr h="329184">
                <a:tc>
                  <a:txBody>
                    <a:bodyPr/>
                    <a:lstStyle/>
                    <a:p>
                      <a:pPr marL="0" indent="0">
                        <a:buNone/>
                      </a:pPr>
                      <a:r>
                        <a:rPr lang="en-US" sz="1000" dirty="0">
                          <a:solidFill>
                            <a:srgbClr val="0F1F33"/>
                          </a:solidFill>
                          <a:latin typeface="DM Mono" pitchFamily="34" charset="0"/>
                          <a:ea typeface="DM Mono" pitchFamily="34" charset="-122"/>
                          <a:cs typeface="DM Mono" pitchFamily="34" charset="-120"/>
                        </a:rPr>
                        <a:t>Jetson Env Setup &amp; Verify</a:t>
                      </a:r>
                      <a:endParaRPr lang="en-US" sz="1000" dirty="0">
                        <a:latin typeface="DM Mono" charset="0"/>
                        <a:ea typeface="DM Mono" charset="0"/>
                        <a:cs typeface="DM Mono" charset="0"/>
                      </a:endParaRPr>
                    </a:p>
                  </a:txBody>
                  <a:tcPr>
                    <a:lnL w="6350" cap="flat" cmpd="sng" algn="ctr">
                      <a:solidFill>
                        <a:srgbClr val="C8C0B4"/>
                      </a:solidFill>
                      <a:prstDash val="solid"/>
                      <a:round/>
                      <a:headEnd type="none" w="med" len="med"/>
                      <a:tailEnd type="none" w="med" len="med"/>
                    </a:lnL>
                    <a:lnR w="6350" cap="flat" cmpd="sng" algn="ctr">
                      <a:solidFill>
                        <a:srgbClr val="C8C0B4"/>
                      </a:solidFill>
                      <a:prstDash val="solid"/>
                      <a:round/>
                      <a:headEnd type="none" w="med" len="med"/>
                      <a:tailEnd type="none" w="med" len="med"/>
                    </a:lnR>
                    <a:lnT w="6350" cap="flat" cmpd="sng" algn="ctr">
                      <a:solidFill>
                        <a:srgbClr val="C8C0B4"/>
                      </a:solidFill>
                      <a:prstDash val="solid"/>
                      <a:round/>
                      <a:headEnd type="none" w="med" len="med"/>
                      <a:tailEnd type="none" w="med" len="med"/>
                    </a:lnT>
                    <a:lnB w="6350" cap="flat" cmpd="sng" algn="ctr">
                      <a:solidFill>
                        <a:srgbClr val="C8C0B4"/>
                      </a:solidFill>
                      <a:prstDash val="solid"/>
                      <a:round/>
                      <a:headEnd type="none" w="med" len="med"/>
                      <a:tailEnd type="none" w="med" len="med"/>
                    </a:lnB>
                    <a:solidFill>
                      <a:srgbClr val="F5F0E8"/>
                    </a:solidFill>
                  </a:tcPr>
                </a:tc>
                <a:tc>
                  <a:txBody>
                    <a:bodyPr/>
                    <a:lstStyle/>
                    <a:p>
                      <a:pPr marL="0" indent="0">
                        <a:buNone/>
                      </a:pPr>
                      <a:r>
                        <a:rPr lang="en-US" sz="1000" dirty="0">
                          <a:solidFill>
                            <a:srgbClr val="0F1F33"/>
                          </a:solidFill>
                          <a:latin typeface="DM Mono" pitchFamily="34" charset="0"/>
                          <a:ea typeface="DM Mono" pitchFamily="34" charset="-122"/>
                          <a:cs typeface="DM Mono" pitchFamily="34" charset="-120"/>
                        </a:rPr>
                        <a:t>NOT STARTED</a:t>
                      </a:r>
                      <a:endParaRPr lang="en-US" sz="1000" dirty="0">
                        <a:latin typeface="DM Mono" charset="0"/>
                        <a:ea typeface="DM Mono" charset="0"/>
                        <a:cs typeface="DM Mono" charset="0"/>
                      </a:endParaRPr>
                    </a:p>
                  </a:txBody>
                  <a:tcPr>
                    <a:lnL w="6350" cap="flat" cmpd="sng" algn="ctr">
                      <a:solidFill>
                        <a:srgbClr val="C8C0B4"/>
                      </a:solidFill>
                      <a:prstDash val="solid"/>
                      <a:round/>
                      <a:headEnd type="none" w="med" len="med"/>
                      <a:tailEnd type="none" w="med" len="med"/>
                    </a:lnL>
                    <a:lnR w="6350" cap="flat" cmpd="sng" algn="ctr">
                      <a:solidFill>
                        <a:srgbClr val="C8C0B4"/>
                      </a:solidFill>
                      <a:prstDash val="solid"/>
                      <a:round/>
                      <a:headEnd type="none" w="med" len="med"/>
                      <a:tailEnd type="none" w="med" len="med"/>
                    </a:lnR>
                    <a:lnT w="6350" cap="flat" cmpd="sng" algn="ctr">
                      <a:solidFill>
                        <a:srgbClr val="C8C0B4"/>
                      </a:solidFill>
                      <a:prstDash val="solid"/>
                      <a:round/>
                      <a:headEnd type="none" w="med" len="med"/>
                      <a:tailEnd type="none" w="med" len="med"/>
                    </a:lnT>
                    <a:lnB w="6350" cap="flat" cmpd="sng" algn="ctr">
                      <a:solidFill>
                        <a:srgbClr val="C8C0B4"/>
                      </a:solidFill>
                      <a:prstDash val="solid"/>
                      <a:round/>
                      <a:headEnd type="none" w="med" len="med"/>
                      <a:tailEnd type="none" w="med" len="med"/>
                    </a:lnB>
                    <a:solidFill>
                      <a:srgbClr val="F5F0E8"/>
                    </a:solidFill>
                  </a:tcPr>
                </a:tc>
                <a:tc>
                  <a:txBody>
                    <a:bodyPr/>
                    <a:lstStyle/>
                    <a:p>
                      <a:pPr marL="0" indent="0">
                        <a:buNone/>
                      </a:pPr>
                      <a:r>
                        <a:rPr lang="en-US" sz="1000" dirty="0">
                          <a:solidFill>
                            <a:srgbClr val="0F1F33"/>
                          </a:solidFill>
                          <a:latin typeface="DM Mono" pitchFamily="34" charset="0"/>
                          <a:ea typeface="DM Mono" pitchFamily="34" charset="-122"/>
                          <a:cs typeface="DM Mono" pitchFamily="34" charset="-120"/>
                        </a:rPr>
                        <a:t>2026-05-22</a:t>
                      </a:r>
                      <a:endParaRPr lang="en-US" sz="1000" dirty="0">
                        <a:latin typeface="DM Mono" charset="0"/>
                        <a:ea typeface="DM Mono" charset="0"/>
                        <a:cs typeface="DM Mono" charset="0"/>
                      </a:endParaRPr>
                    </a:p>
                  </a:txBody>
                  <a:tcPr>
                    <a:lnL w="6350" cap="flat" cmpd="sng" algn="ctr">
                      <a:solidFill>
                        <a:srgbClr val="C8C0B4"/>
                      </a:solidFill>
                      <a:prstDash val="solid"/>
                      <a:round/>
                      <a:headEnd type="none" w="med" len="med"/>
                      <a:tailEnd type="none" w="med" len="med"/>
                    </a:lnL>
                    <a:lnR w="6350" cap="flat" cmpd="sng" algn="ctr">
                      <a:solidFill>
                        <a:srgbClr val="C8C0B4"/>
                      </a:solidFill>
                      <a:prstDash val="solid"/>
                      <a:round/>
                      <a:headEnd type="none" w="med" len="med"/>
                      <a:tailEnd type="none" w="med" len="med"/>
                    </a:lnR>
                    <a:lnT w="6350" cap="flat" cmpd="sng" algn="ctr">
                      <a:solidFill>
                        <a:srgbClr val="C8C0B4"/>
                      </a:solidFill>
                      <a:prstDash val="solid"/>
                      <a:round/>
                      <a:headEnd type="none" w="med" len="med"/>
                      <a:tailEnd type="none" w="med" len="med"/>
                    </a:lnT>
                    <a:lnB w="6350" cap="flat" cmpd="sng" algn="ctr">
                      <a:solidFill>
                        <a:srgbClr val="C8C0B4"/>
                      </a:solidFill>
                      <a:prstDash val="solid"/>
                      <a:round/>
                      <a:headEnd type="none" w="med" len="med"/>
                      <a:tailEnd type="none" w="med" len="med"/>
                    </a:lnB>
                    <a:solidFill>
                      <a:srgbClr val="F5F0E8"/>
                    </a:solidFill>
                  </a:tcPr>
                </a:tc>
                <a:tc>
                  <a:txBody>
                    <a:bodyPr/>
                    <a:lstStyle/>
                    <a:p>
                      <a:pPr marL="0" indent="0">
                        <a:buNone/>
                      </a:pPr>
                      <a:r>
                        <a:rPr lang="en-US" sz="1000" dirty="0">
                          <a:solidFill>
                            <a:srgbClr val="0F1F33"/>
                          </a:solidFill>
                          <a:latin typeface="DM Mono" pitchFamily="34" charset="0"/>
                          <a:ea typeface="DM Mono" pitchFamily="34" charset="-122"/>
                          <a:cs typeface="DM Mono" pitchFamily="34" charset="-120"/>
                        </a:rPr>
                        <a:t>HIGH</a:t>
                      </a:r>
                      <a:endParaRPr lang="en-US" sz="1000" dirty="0">
                        <a:latin typeface="DM Mono" charset="0"/>
                        <a:ea typeface="DM Mono" charset="0"/>
                        <a:cs typeface="DM Mono" charset="0"/>
                      </a:endParaRPr>
                    </a:p>
                  </a:txBody>
                  <a:tcPr>
                    <a:lnL w="6350" cap="flat" cmpd="sng" algn="ctr">
                      <a:solidFill>
                        <a:srgbClr val="C8C0B4"/>
                      </a:solidFill>
                      <a:prstDash val="solid"/>
                      <a:round/>
                      <a:headEnd type="none" w="med" len="med"/>
                      <a:tailEnd type="none" w="med" len="med"/>
                    </a:lnL>
                    <a:lnR w="6350" cap="flat" cmpd="sng" algn="ctr">
                      <a:solidFill>
                        <a:srgbClr val="C8C0B4"/>
                      </a:solidFill>
                      <a:prstDash val="solid"/>
                      <a:round/>
                      <a:headEnd type="none" w="med" len="med"/>
                      <a:tailEnd type="none" w="med" len="med"/>
                    </a:lnR>
                    <a:lnT w="6350" cap="flat" cmpd="sng" algn="ctr">
                      <a:solidFill>
                        <a:srgbClr val="C8C0B4"/>
                      </a:solidFill>
                      <a:prstDash val="solid"/>
                      <a:round/>
                      <a:headEnd type="none" w="med" len="med"/>
                      <a:tailEnd type="none" w="med" len="med"/>
                    </a:lnT>
                    <a:lnB w="6350" cap="flat" cmpd="sng" algn="ctr">
                      <a:solidFill>
                        <a:srgbClr val="C8C0B4"/>
                      </a:solidFill>
                      <a:prstDash val="solid"/>
                      <a:round/>
                      <a:headEnd type="none" w="med" len="med"/>
                      <a:tailEnd type="none" w="med" len="med"/>
                    </a:lnB>
                    <a:solidFill>
                      <a:srgbClr val="F5F0E8"/>
                    </a:solidFill>
                  </a:tcPr>
                </a:tc>
                <a:extLst>
                  <a:ext uri="{0D108BD9-81ED-4DB2-BD59-A6C34878D82A}">
                    <a16:rowId xmlns:a16="http://schemas.microsoft.com/office/drawing/2014/main" val="10001"/>
                  </a:ext>
                </a:extLst>
              </a:tr>
              <a:tr h="329184">
                <a:tc>
                  <a:txBody>
                    <a:bodyPr/>
                    <a:lstStyle/>
                    <a:p>
                      <a:pPr marL="0" indent="0">
                        <a:buNone/>
                      </a:pPr>
                      <a:r>
                        <a:rPr lang="en-US" sz="1000" dirty="0">
                          <a:solidFill>
                            <a:srgbClr val="0F1F33"/>
                          </a:solidFill>
                          <a:latin typeface="DM Mono" pitchFamily="34" charset="0"/>
                          <a:ea typeface="DM Mono" pitchFamily="34" charset="-122"/>
                          <a:cs typeface="DM Mono" pitchFamily="34" charset="-120"/>
                        </a:rPr>
                        <a:t>IR Intrinsic Calib Pipeline</a:t>
                      </a:r>
                      <a:endParaRPr lang="en-US" sz="1000" dirty="0">
                        <a:latin typeface="DM Mono" charset="0"/>
                        <a:ea typeface="DM Mono" charset="0"/>
                        <a:cs typeface="DM Mono" charset="0"/>
                      </a:endParaRPr>
                    </a:p>
                  </a:txBody>
                  <a:tcPr>
                    <a:lnL w="6350" cap="flat" cmpd="sng" algn="ctr">
                      <a:solidFill>
                        <a:srgbClr val="C8C0B4"/>
                      </a:solidFill>
                      <a:prstDash val="solid"/>
                      <a:round/>
                      <a:headEnd type="none" w="med" len="med"/>
                      <a:tailEnd type="none" w="med" len="med"/>
                    </a:lnL>
                    <a:lnR w="6350" cap="flat" cmpd="sng" algn="ctr">
                      <a:solidFill>
                        <a:srgbClr val="C8C0B4"/>
                      </a:solidFill>
                      <a:prstDash val="solid"/>
                      <a:round/>
                      <a:headEnd type="none" w="med" len="med"/>
                      <a:tailEnd type="none" w="med" len="med"/>
                    </a:lnR>
                    <a:lnT w="6350" cap="flat" cmpd="sng" algn="ctr">
                      <a:solidFill>
                        <a:srgbClr val="C8C0B4"/>
                      </a:solidFill>
                      <a:prstDash val="solid"/>
                      <a:round/>
                      <a:headEnd type="none" w="med" len="med"/>
                      <a:tailEnd type="none" w="med" len="med"/>
                    </a:lnT>
                    <a:lnB w="6350" cap="flat" cmpd="sng" algn="ctr">
                      <a:solidFill>
                        <a:srgbClr val="C8C0B4"/>
                      </a:solidFill>
                      <a:prstDash val="solid"/>
                      <a:round/>
                      <a:headEnd type="none" w="med" len="med"/>
                      <a:tailEnd type="none" w="med" len="med"/>
                    </a:lnB>
                    <a:solidFill>
                      <a:srgbClr val="ECE7DF"/>
                    </a:solidFill>
                  </a:tcPr>
                </a:tc>
                <a:tc>
                  <a:txBody>
                    <a:bodyPr/>
                    <a:lstStyle/>
                    <a:p>
                      <a:pPr marL="0" indent="0">
                        <a:buNone/>
                      </a:pPr>
                      <a:r>
                        <a:rPr lang="en-US" sz="1000" dirty="0">
                          <a:solidFill>
                            <a:srgbClr val="0F1F33"/>
                          </a:solidFill>
                          <a:latin typeface="DM Mono" pitchFamily="34" charset="0"/>
                          <a:ea typeface="DM Mono" pitchFamily="34" charset="-122"/>
                          <a:cs typeface="DM Mono" pitchFamily="34" charset="-120"/>
                        </a:rPr>
                        <a:t>NOT STARTED</a:t>
                      </a:r>
                      <a:endParaRPr lang="en-US" sz="1000" dirty="0">
                        <a:latin typeface="DM Mono" charset="0"/>
                        <a:ea typeface="DM Mono" charset="0"/>
                        <a:cs typeface="DM Mono" charset="0"/>
                      </a:endParaRPr>
                    </a:p>
                  </a:txBody>
                  <a:tcPr>
                    <a:lnL w="6350" cap="flat" cmpd="sng" algn="ctr">
                      <a:solidFill>
                        <a:srgbClr val="C8C0B4"/>
                      </a:solidFill>
                      <a:prstDash val="solid"/>
                      <a:round/>
                      <a:headEnd type="none" w="med" len="med"/>
                      <a:tailEnd type="none" w="med" len="med"/>
                    </a:lnL>
                    <a:lnR w="6350" cap="flat" cmpd="sng" algn="ctr">
                      <a:solidFill>
                        <a:srgbClr val="C8C0B4"/>
                      </a:solidFill>
                      <a:prstDash val="solid"/>
                      <a:round/>
                      <a:headEnd type="none" w="med" len="med"/>
                      <a:tailEnd type="none" w="med" len="med"/>
                    </a:lnR>
                    <a:lnT w="6350" cap="flat" cmpd="sng" algn="ctr">
                      <a:solidFill>
                        <a:srgbClr val="C8C0B4"/>
                      </a:solidFill>
                      <a:prstDash val="solid"/>
                      <a:round/>
                      <a:headEnd type="none" w="med" len="med"/>
                      <a:tailEnd type="none" w="med" len="med"/>
                    </a:lnT>
                    <a:lnB w="6350" cap="flat" cmpd="sng" algn="ctr">
                      <a:solidFill>
                        <a:srgbClr val="C8C0B4"/>
                      </a:solidFill>
                      <a:prstDash val="solid"/>
                      <a:round/>
                      <a:headEnd type="none" w="med" len="med"/>
                      <a:tailEnd type="none" w="med" len="med"/>
                    </a:lnB>
                    <a:solidFill>
                      <a:srgbClr val="ECE7DF"/>
                    </a:solidFill>
                  </a:tcPr>
                </a:tc>
                <a:tc>
                  <a:txBody>
                    <a:bodyPr/>
                    <a:lstStyle/>
                    <a:p>
                      <a:pPr marL="0" indent="0">
                        <a:buNone/>
                      </a:pPr>
                      <a:r>
                        <a:rPr lang="en-US" sz="1000" dirty="0">
                          <a:solidFill>
                            <a:srgbClr val="0F1F33"/>
                          </a:solidFill>
                          <a:latin typeface="DM Mono" pitchFamily="34" charset="0"/>
                          <a:ea typeface="DM Mono" pitchFamily="34" charset="-122"/>
                          <a:cs typeface="DM Mono" pitchFamily="34" charset="-120"/>
                        </a:rPr>
                        <a:t>2026-05-30</a:t>
                      </a:r>
                      <a:endParaRPr lang="en-US" sz="1000" dirty="0">
                        <a:latin typeface="DM Mono" charset="0"/>
                        <a:ea typeface="DM Mono" charset="0"/>
                        <a:cs typeface="DM Mono" charset="0"/>
                      </a:endParaRPr>
                    </a:p>
                  </a:txBody>
                  <a:tcPr>
                    <a:lnL w="6350" cap="flat" cmpd="sng" algn="ctr">
                      <a:solidFill>
                        <a:srgbClr val="C8C0B4"/>
                      </a:solidFill>
                      <a:prstDash val="solid"/>
                      <a:round/>
                      <a:headEnd type="none" w="med" len="med"/>
                      <a:tailEnd type="none" w="med" len="med"/>
                    </a:lnL>
                    <a:lnR w="6350" cap="flat" cmpd="sng" algn="ctr">
                      <a:solidFill>
                        <a:srgbClr val="C8C0B4"/>
                      </a:solidFill>
                      <a:prstDash val="solid"/>
                      <a:round/>
                      <a:headEnd type="none" w="med" len="med"/>
                      <a:tailEnd type="none" w="med" len="med"/>
                    </a:lnR>
                    <a:lnT w="6350" cap="flat" cmpd="sng" algn="ctr">
                      <a:solidFill>
                        <a:srgbClr val="C8C0B4"/>
                      </a:solidFill>
                      <a:prstDash val="solid"/>
                      <a:round/>
                      <a:headEnd type="none" w="med" len="med"/>
                      <a:tailEnd type="none" w="med" len="med"/>
                    </a:lnT>
                    <a:lnB w="6350" cap="flat" cmpd="sng" algn="ctr">
                      <a:solidFill>
                        <a:srgbClr val="C8C0B4"/>
                      </a:solidFill>
                      <a:prstDash val="solid"/>
                      <a:round/>
                      <a:headEnd type="none" w="med" len="med"/>
                      <a:tailEnd type="none" w="med" len="med"/>
                    </a:lnB>
                    <a:solidFill>
                      <a:srgbClr val="ECE7DF"/>
                    </a:solidFill>
                  </a:tcPr>
                </a:tc>
                <a:tc>
                  <a:txBody>
                    <a:bodyPr/>
                    <a:lstStyle/>
                    <a:p>
                      <a:pPr marL="0" indent="0">
                        <a:buNone/>
                      </a:pPr>
                      <a:r>
                        <a:rPr lang="en-US" sz="1000" dirty="0">
                          <a:solidFill>
                            <a:srgbClr val="0F1F33"/>
                          </a:solidFill>
                          <a:latin typeface="DM Mono" pitchFamily="34" charset="0"/>
                          <a:ea typeface="DM Mono" pitchFamily="34" charset="-122"/>
                          <a:cs typeface="DM Mono" pitchFamily="34" charset="-120"/>
                        </a:rPr>
                        <a:t>HIGH</a:t>
                      </a:r>
                      <a:endParaRPr lang="en-US" sz="1000" dirty="0">
                        <a:latin typeface="DM Mono" charset="0"/>
                        <a:ea typeface="DM Mono" charset="0"/>
                        <a:cs typeface="DM Mono" charset="0"/>
                      </a:endParaRPr>
                    </a:p>
                  </a:txBody>
                  <a:tcPr>
                    <a:lnL w="6350" cap="flat" cmpd="sng" algn="ctr">
                      <a:solidFill>
                        <a:srgbClr val="C8C0B4"/>
                      </a:solidFill>
                      <a:prstDash val="solid"/>
                      <a:round/>
                      <a:headEnd type="none" w="med" len="med"/>
                      <a:tailEnd type="none" w="med" len="med"/>
                    </a:lnL>
                    <a:lnR w="6350" cap="flat" cmpd="sng" algn="ctr">
                      <a:solidFill>
                        <a:srgbClr val="C8C0B4"/>
                      </a:solidFill>
                      <a:prstDash val="solid"/>
                      <a:round/>
                      <a:headEnd type="none" w="med" len="med"/>
                      <a:tailEnd type="none" w="med" len="med"/>
                    </a:lnR>
                    <a:lnT w="6350" cap="flat" cmpd="sng" algn="ctr">
                      <a:solidFill>
                        <a:srgbClr val="C8C0B4"/>
                      </a:solidFill>
                      <a:prstDash val="solid"/>
                      <a:round/>
                      <a:headEnd type="none" w="med" len="med"/>
                      <a:tailEnd type="none" w="med" len="med"/>
                    </a:lnT>
                    <a:lnB w="6350" cap="flat" cmpd="sng" algn="ctr">
                      <a:solidFill>
                        <a:srgbClr val="C8C0B4"/>
                      </a:solidFill>
                      <a:prstDash val="solid"/>
                      <a:round/>
                      <a:headEnd type="none" w="med" len="med"/>
                      <a:tailEnd type="none" w="med" len="med"/>
                    </a:lnB>
                    <a:solidFill>
                      <a:srgbClr val="ECE7DF"/>
                    </a:solidFill>
                  </a:tcPr>
                </a:tc>
                <a:extLst>
                  <a:ext uri="{0D108BD9-81ED-4DB2-BD59-A6C34878D82A}">
                    <a16:rowId xmlns:a16="http://schemas.microsoft.com/office/drawing/2014/main" val="10002"/>
                  </a:ext>
                </a:extLst>
              </a:tr>
              <a:tr h="329184">
                <a:tc>
                  <a:txBody>
                    <a:bodyPr/>
                    <a:lstStyle/>
                    <a:p>
                      <a:pPr marL="0" indent="0">
                        <a:buNone/>
                      </a:pPr>
                      <a:r>
                        <a:rPr lang="en-US" sz="1000" dirty="0">
                          <a:solidFill>
                            <a:srgbClr val="0F1F33"/>
                          </a:solidFill>
                          <a:latin typeface="DM Mono" pitchFamily="34" charset="0"/>
                          <a:ea typeface="DM Mono" pitchFamily="34" charset="-122"/>
                          <a:cs typeface="DM Mono" pitchFamily="34" charset="-120"/>
                        </a:rPr>
                        <a:t>Install IR Suite on Jetson</a:t>
                      </a:r>
                      <a:endParaRPr lang="en-US" sz="1000" dirty="0">
                        <a:latin typeface="DM Mono" charset="0"/>
                        <a:ea typeface="DM Mono" charset="0"/>
                        <a:cs typeface="DM Mono" charset="0"/>
                      </a:endParaRPr>
                    </a:p>
                  </a:txBody>
                  <a:tcPr>
                    <a:lnL w="6350" cap="flat" cmpd="sng" algn="ctr">
                      <a:solidFill>
                        <a:srgbClr val="C8C0B4"/>
                      </a:solidFill>
                      <a:prstDash val="solid"/>
                      <a:round/>
                      <a:headEnd type="none" w="med" len="med"/>
                      <a:tailEnd type="none" w="med" len="med"/>
                    </a:lnL>
                    <a:lnR w="6350" cap="flat" cmpd="sng" algn="ctr">
                      <a:solidFill>
                        <a:srgbClr val="C8C0B4"/>
                      </a:solidFill>
                      <a:prstDash val="solid"/>
                      <a:round/>
                      <a:headEnd type="none" w="med" len="med"/>
                      <a:tailEnd type="none" w="med" len="med"/>
                    </a:lnR>
                    <a:lnT w="6350" cap="flat" cmpd="sng" algn="ctr">
                      <a:solidFill>
                        <a:srgbClr val="C8C0B4"/>
                      </a:solidFill>
                      <a:prstDash val="solid"/>
                      <a:round/>
                      <a:headEnd type="none" w="med" len="med"/>
                      <a:tailEnd type="none" w="med" len="med"/>
                    </a:lnT>
                    <a:lnB w="6350" cap="flat" cmpd="sng" algn="ctr">
                      <a:solidFill>
                        <a:srgbClr val="C8C0B4"/>
                      </a:solidFill>
                      <a:prstDash val="solid"/>
                      <a:round/>
                      <a:headEnd type="none" w="med" len="med"/>
                      <a:tailEnd type="none" w="med" len="med"/>
                    </a:lnB>
                    <a:solidFill>
                      <a:srgbClr val="F5F0E8"/>
                    </a:solidFill>
                  </a:tcPr>
                </a:tc>
                <a:tc>
                  <a:txBody>
                    <a:bodyPr/>
                    <a:lstStyle/>
                    <a:p>
                      <a:pPr marL="0" indent="0">
                        <a:buNone/>
                      </a:pPr>
                      <a:r>
                        <a:rPr lang="en-US" sz="1000" dirty="0">
                          <a:solidFill>
                            <a:srgbClr val="0F1F33"/>
                          </a:solidFill>
                          <a:latin typeface="DM Mono" pitchFamily="34" charset="0"/>
                          <a:ea typeface="DM Mono" pitchFamily="34" charset="-122"/>
                          <a:cs typeface="DM Mono" pitchFamily="34" charset="-120"/>
                        </a:rPr>
                        <a:t>NOT STARTED</a:t>
                      </a:r>
                      <a:endParaRPr lang="en-US" sz="1000" dirty="0">
                        <a:latin typeface="DM Mono" charset="0"/>
                        <a:ea typeface="DM Mono" charset="0"/>
                        <a:cs typeface="DM Mono" charset="0"/>
                      </a:endParaRPr>
                    </a:p>
                  </a:txBody>
                  <a:tcPr>
                    <a:lnL w="6350" cap="flat" cmpd="sng" algn="ctr">
                      <a:solidFill>
                        <a:srgbClr val="C8C0B4"/>
                      </a:solidFill>
                      <a:prstDash val="solid"/>
                      <a:round/>
                      <a:headEnd type="none" w="med" len="med"/>
                      <a:tailEnd type="none" w="med" len="med"/>
                    </a:lnL>
                    <a:lnR w="6350" cap="flat" cmpd="sng" algn="ctr">
                      <a:solidFill>
                        <a:srgbClr val="C8C0B4"/>
                      </a:solidFill>
                      <a:prstDash val="solid"/>
                      <a:round/>
                      <a:headEnd type="none" w="med" len="med"/>
                      <a:tailEnd type="none" w="med" len="med"/>
                    </a:lnR>
                    <a:lnT w="6350" cap="flat" cmpd="sng" algn="ctr">
                      <a:solidFill>
                        <a:srgbClr val="C8C0B4"/>
                      </a:solidFill>
                      <a:prstDash val="solid"/>
                      <a:round/>
                      <a:headEnd type="none" w="med" len="med"/>
                      <a:tailEnd type="none" w="med" len="med"/>
                    </a:lnT>
                    <a:lnB w="6350" cap="flat" cmpd="sng" algn="ctr">
                      <a:solidFill>
                        <a:srgbClr val="C8C0B4"/>
                      </a:solidFill>
                      <a:prstDash val="solid"/>
                      <a:round/>
                      <a:headEnd type="none" w="med" len="med"/>
                      <a:tailEnd type="none" w="med" len="med"/>
                    </a:lnB>
                    <a:solidFill>
                      <a:srgbClr val="F5F0E8"/>
                    </a:solidFill>
                  </a:tcPr>
                </a:tc>
                <a:tc>
                  <a:txBody>
                    <a:bodyPr/>
                    <a:lstStyle/>
                    <a:p>
                      <a:pPr marL="0" indent="0">
                        <a:buNone/>
                      </a:pPr>
                      <a:r>
                        <a:rPr lang="en-US" sz="1000" dirty="0">
                          <a:solidFill>
                            <a:srgbClr val="0F1F33"/>
                          </a:solidFill>
                          <a:latin typeface="DM Mono" pitchFamily="34" charset="0"/>
                          <a:ea typeface="DM Mono" pitchFamily="34" charset="-122"/>
                          <a:cs typeface="DM Mono" pitchFamily="34" charset="-120"/>
                        </a:rPr>
                        <a:t>2026-05-01</a:t>
                      </a:r>
                      <a:endParaRPr lang="en-US" sz="1000" dirty="0">
                        <a:latin typeface="DM Mono" charset="0"/>
                        <a:ea typeface="DM Mono" charset="0"/>
                        <a:cs typeface="DM Mono" charset="0"/>
                      </a:endParaRPr>
                    </a:p>
                  </a:txBody>
                  <a:tcPr>
                    <a:lnL w="6350" cap="flat" cmpd="sng" algn="ctr">
                      <a:solidFill>
                        <a:srgbClr val="C8C0B4"/>
                      </a:solidFill>
                      <a:prstDash val="solid"/>
                      <a:round/>
                      <a:headEnd type="none" w="med" len="med"/>
                      <a:tailEnd type="none" w="med" len="med"/>
                    </a:lnL>
                    <a:lnR w="6350" cap="flat" cmpd="sng" algn="ctr">
                      <a:solidFill>
                        <a:srgbClr val="C8C0B4"/>
                      </a:solidFill>
                      <a:prstDash val="solid"/>
                      <a:round/>
                      <a:headEnd type="none" w="med" len="med"/>
                      <a:tailEnd type="none" w="med" len="med"/>
                    </a:lnR>
                    <a:lnT w="6350" cap="flat" cmpd="sng" algn="ctr">
                      <a:solidFill>
                        <a:srgbClr val="C8C0B4"/>
                      </a:solidFill>
                      <a:prstDash val="solid"/>
                      <a:round/>
                      <a:headEnd type="none" w="med" len="med"/>
                      <a:tailEnd type="none" w="med" len="med"/>
                    </a:lnT>
                    <a:lnB w="6350" cap="flat" cmpd="sng" algn="ctr">
                      <a:solidFill>
                        <a:srgbClr val="C8C0B4"/>
                      </a:solidFill>
                      <a:prstDash val="solid"/>
                      <a:round/>
                      <a:headEnd type="none" w="med" len="med"/>
                      <a:tailEnd type="none" w="med" len="med"/>
                    </a:lnB>
                    <a:solidFill>
                      <a:srgbClr val="F5F0E8"/>
                    </a:solidFill>
                  </a:tcPr>
                </a:tc>
                <a:tc>
                  <a:txBody>
                    <a:bodyPr/>
                    <a:lstStyle/>
                    <a:p>
                      <a:pPr marL="0" indent="0">
                        <a:buNone/>
                      </a:pPr>
                      <a:r>
                        <a:rPr lang="en-US" sz="1000" dirty="0">
                          <a:solidFill>
                            <a:srgbClr val="0F1F33"/>
                          </a:solidFill>
                          <a:latin typeface="DM Mono" pitchFamily="34" charset="0"/>
                          <a:ea typeface="DM Mono" pitchFamily="34" charset="-122"/>
                          <a:cs typeface="DM Mono" pitchFamily="34" charset="-120"/>
                        </a:rPr>
                        <a:t>HIGH</a:t>
                      </a:r>
                      <a:endParaRPr lang="en-US" sz="1000" dirty="0">
                        <a:latin typeface="DM Mono" charset="0"/>
                        <a:ea typeface="DM Mono" charset="0"/>
                        <a:cs typeface="DM Mono" charset="0"/>
                      </a:endParaRPr>
                    </a:p>
                  </a:txBody>
                  <a:tcPr>
                    <a:lnL w="6350" cap="flat" cmpd="sng" algn="ctr">
                      <a:solidFill>
                        <a:srgbClr val="C8C0B4"/>
                      </a:solidFill>
                      <a:prstDash val="solid"/>
                      <a:round/>
                      <a:headEnd type="none" w="med" len="med"/>
                      <a:tailEnd type="none" w="med" len="med"/>
                    </a:lnL>
                    <a:lnR w="6350" cap="flat" cmpd="sng" algn="ctr">
                      <a:solidFill>
                        <a:srgbClr val="C8C0B4"/>
                      </a:solidFill>
                      <a:prstDash val="solid"/>
                      <a:round/>
                      <a:headEnd type="none" w="med" len="med"/>
                      <a:tailEnd type="none" w="med" len="med"/>
                    </a:lnR>
                    <a:lnT w="6350" cap="flat" cmpd="sng" algn="ctr">
                      <a:solidFill>
                        <a:srgbClr val="C8C0B4"/>
                      </a:solidFill>
                      <a:prstDash val="solid"/>
                      <a:round/>
                      <a:headEnd type="none" w="med" len="med"/>
                      <a:tailEnd type="none" w="med" len="med"/>
                    </a:lnT>
                    <a:lnB w="6350" cap="flat" cmpd="sng" algn="ctr">
                      <a:solidFill>
                        <a:srgbClr val="C8C0B4"/>
                      </a:solidFill>
                      <a:prstDash val="solid"/>
                      <a:round/>
                      <a:headEnd type="none" w="med" len="med"/>
                      <a:tailEnd type="none" w="med" len="med"/>
                    </a:lnB>
                    <a:solidFill>
                      <a:srgbClr val="F5F0E8"/>
                    </a:solidFill>
                  </a:tcPr>
                </a:tc>
                <a:extLst>
                  <a:ext uri="{0D108BD9-81ED-4DB2-BD59-A6C34878D82A}">
                    <a16:rowId xmlns:a16="http://schemas.microsoft.com/office/drawing/2014/main" val="10003"/>
                  </a:ext>
                </a:extLst>
              </a:tr>
              <a:tr h="329184">
                <a:tc>
                  <a:txBody>
                    <a:bodyPr/>
                    <a:lstStyle/>
                    <a:p>
                      <a:pPr marL="0" indent="0">
                        <a:buNone/>
                      </a:pPr>
                      <a:r>
                        <a:rPr lang="en-US" sz="1000" dirty="0">
                          <a:solidFill>
                            <a:srgbClr val="0F1F33"/>
                          </a:solidFill>
                          <a:latin typeface="DM Mono" pitchFamily="34" charset="0"/>
                          <a:ea typeface="DM Mono" pitchFamily="34" charset="-122"/>
                          <a:cs typeface="DM Mono" pitchFamily="34" charset="-120"/>
                        </a:rPr>
                        <a:t>Onboard GitLab Contributors</a:t>
                      </a:r>
                      <a:endParaRPr lang="en-US" sz="1000" dirty="0">
                        <a:latin typeface="DM Mono" charset="0"/>
                        <a:ea typeface="DM Mono" charset="0"/>
                        <a:cs typeface="DM Mono" charset="0"/>
                      </a:endParaRPr>
                    </a:p>
                  </a:txBody>
                  <a:tcPr>
                    <a:lnL w="6350" cap="flat" cmpd="sng" algn="ctr">
                      <a:solidFill>
                        <a:srgbClr val="C8C0B4"/>
                      </a:solidFill>
                      <a:prstDash val="solid"/>
                      <a:round/>
                      <a:headEnd type="none" w="med" len="med"/>
                      <a:tailEnd type="none" w="med" len="med"/>
                    </a:lnL>
                    <a:lnR w="6350" cap="flat" cmpd="sng" algn="ctr">
                      <a:solidFill>
                        <a:srgbClr val="C8C0B4"/>
                      </a:solidFill>
                      <a:prstDash val="solid"/>
                      <a:round/>
                      <a:headEnd type="none" w="med" len="med"/>
                      <a:tailEnd type="none" w="med" len="med"/>
                    </a:lnR>
                    <a:lnT w="6350" cap="flat" cmpd="sng" algn="ctr">
                      <a:solidFill>
                        <a:srgbClr val="C8C0B4"/>
                      </a:solidFill>
                      <a:prstDash val="solid"/>
                      <a:round/>
                      <a:headEnd type="none" w="med" len="med"/>
                      <a:tailEnd type="none" w="med" len="med"/>
                    </a:lnT>
                    <a:lnB w="6350" cap="flat" cmpd="sng" algn="ctr">
                      <a:solidFill>
                        <a:srgbClr val="C8C0B4"/>
                      </a:solidFill>
                      <a:prstDash val="solid"/>
                      <a:round/>
                      <a:headEnd type="none" w="med" len="med"/>
                      <a:tailEnd type="none" w="med" len="med"/>
                    </a:lnB>
                    <a:solidFill>
                      <a:srgbClr val="ECE7DF"/>
                    </a:solidFill>
                  </a:tcPr>
                </a:tc>
                <a:tc>
                  <a:txBody>
                    <a:bodyPr/>
                    <a:lstStyle/>
                    <a:p>
                      <a:pPr marL="0" indent="0">
                        <a:buNone/>
                      </a:pPr>
                      <a:r>
                        <a:rPr lang="en-US" sz="1000" dirty="0">
                          <a:solidFill>
                            <a:srgbClr val="0F1F33"/>
                          </a:solidFill>
                          <a:latin typeface="DM Mono" pitchFamily="34" charset="0"/>
                          <a:ea typeface="DM Mono" pitchFamily="34" charset="-122"/>
                          <a:cs typeface="DM Mono" pitchFamily="34" charset="-120"/>
                        </a:rPr>
                        <a:t>IN PROGRESS 40%</a:t>
                      </a:r>
                      <a:endParaRPr lang="en-US" sz="1000" dirty="0">
                        <a:latin typeface="DM Mono" charset="0"/>
                        <a:ea typeface="DM Mono" charset="0"/>
                        <a:cs typeface="DM Mono" charset="0"/>
                      </a:endParaRPr>
                    </a:p>
                  </a:txBody>
                  <a:tcPr>
                    <a:lnL w="6350" cap="flat" cmpd="sng" algn="ctr">
                      <a:solidFill>
                        <a:srgbClr val="C8C0B4"/>
                      </a:solidFill>
                      <a:prstDash val="solid"/>
                      <a:round/>
                      <a:headEnd type="none" w="med" len="med"/>
                      <a:tailEnd type="none" w="med" len="med"/>
                    </a:lnL>
                    <a:lnR w="6350" cap="flat" cmpd="sng" algn="ctr">
                      <a:solidFill>
                        <a:srgbClr val="C8C0B4"/>
                      </a:solidFill>
                      <a:prstDash val="solid"/>
                      <a:round/>
                      <a:headEnd type="none" w="med" len="med"/>
                      <a:tailEnd type="none" w="med" len="med"/>
                    </a:lnR>
                    <a:lnT w="6350" cap="flat" cmpd="sng" algn="ctr">
                      <a:solidFill>
                        <a:srgbClr val="C8C0B4"/>
                      </a:solidFill>
                      <a:prstDash val="solid"/>
                      <a:round/>
                      <a:headEnd type="none" w="med" len="med"/>
                      <a:tailEnd type="none" w="med" len="med"/>
                    </a:lnT>
                    <a:lnB w="6350" cap="flat" cmpd="sng" algn="ctr">
                      <a:solidFill>
                        <a:srgbClr val="C8C0B4"/>
                      </a:solidFill>
                      <a:prstDash val="solid"/>
                      <a:round/>
                      <a:headEnd type="none" w="med" len="med"/>
                      <a:tailEnd type="none" w="med" len="med"/>
                    </a:lnB>
                    <a:solidFill>
                      <a:srgbClr val="ECE7DF"/>
                    </a:solidFill>
                  </a:tcPr>
                </a:tc>
                <a:tc>
                  <a:txBody>
                    <a:bodyPr/>
                    <a:lstStyle/>
                    <a:p>
                      <a:pPr marL="0" indent="0">
                        <a:buNone/>
                      </a:pPr>
                      <a:r>
                        <a:rPr lang="en-US" sz="1000" dirty="0">
                          <a:solidFill>
                            <a:srgbClr val="0F1F33"/>
                          </a:solidFill>
                          <a:latin typeface="DM Mono" pitchFamily="34" charset="0"/>
                          <a:ea typeface="DM Mono" pitchFamily="34" charset="-122"/>
                          <a:cs typeface="DM Mono" pitchFamily="34" charset="-120"/>
                        </a:rPr>
                        <a:t>2026-04-30</a:t>
                      </a:r>
                      <a:endParaRPr lang="en-US" sz="1000" dirty="0">
                        <a:latin typeface="DM Mono" charset="0"/>
                        <a:ea typeface="DM Mono" charset="0"/>
                        <a:cs typeface="DM Mono" charset="0"/>
                      </a:endParaRPr>
                    </a:p>
                  </a:txBody>
                  <a:tcPr>
                    <a:lnL w="6350" cap="flat" cmpd="sng" algn="ctr">
                      <a:solidFill>
                        <a:srgbClr val="C8C0B4"/>
                      </a:solidFill>
                      <a:prstDash val="solid"/>
                      <a:round/>
                      <a:headEnd type="none" w="med" len="med"/>
                      <a:tailEnd type="none" w="med" len="med"/>
                    </a:lnL>
                    <a:lnR w="6350" cap="flat" cmpd="sng" algn="ctr">
                      <a:solidFill>
                        <a:srgbClr val="C8C0B4"/>
                      </a:solidFill>
                      <a:prstDash val="solid"/>
                      <a:round/>
                      <a:headEnd type="none" w="med" len="med"/>
                      <a:tailEnd type="none" w="med" len="med"/>
                    </a:lnR>
                    <a:lnT w="6350" cap="flat" cmpd="sng" algn="ctr">
                      <a:solidFill>
                        <a:srgbClr val="C8C0B4"/>
                      </a:solidFill>
                      <a:prstDash val="solid"/>
                      <a:round/>
                      <a:headEnd type="none" w="med" len="med"/>
                      <a:tailEnd type="none" w="med" len="med"/>
                    </a:lnT>
                    <a:lnB w="6350" cap="flat" cmpd="sng" algn="ctr">
                      <a:solidFill>
                        <a:srgbClr val="C8C0B4"/>
                      </a:solidFill>
                      <a:prstDash val="solid"/>
                      <a:round/>
                      <a:headEnd type="none" w="med" len="med"/>
                      <a:tailEnd type="none" w="med" len="med"/>
                    </a:lnB>
                    <a:solidFill>
                      <a:srgbClr val="ECE7DF"/>
                    </a:solidFill>
                  </a:tcPr>
                </a:tc>
                <a:tc>
                  <a:txBody>
                    <a:bodyPr/>
                    <a:lstStyle/>
                    <a:p>
                      <a:pPr marL="0" indent="0">
                        <a:buNone/>
                      </a:pPr>
                      <a:r>
                        <a:rPr lang="en-US" sz="1000" dirty="0">
                          <a:solidFill>
                            <a:srgbClr val="0F1F33"/>
                          </a:solidFill>
                          <a:latin typeface="DM Mono" pitchFamily="34" charset="0"/>
                          <a:ea typeface="DM Mono" pitchFamily="34" charset="-122"/>
                          <a:cs typeface="DM Mono" pitchFamily="34" charset="-120"/>
                        </a:rPr>
                        <a:t>MEDIUM</a:t>
                      </a:r>
                      <a:endParaRPr lang="en-US" sz="1000" dirty="0">
                        <a:latin typeface="DM Mono" charset="0"/>
                        <a:ea typeface="DM Mono" charset="0"/>
                        <a:cs typeface="DM Mono" charset="0"/>
                      </a:endParaRPr>
                    </a:p>
                  </a:txBody>
                  <a:tcPr>
                    <a:lnL w="6350" cap="flat" cmpd="sng" algn="ctr">
                      <a:solidFill>
                        <a:srgbClr val="C8C0B4"/>
                      </a:solidFill>
                      <a:prstDash val="solid"/>
                      <a:round/>
                      <a:headEnd type="none" w="med" len="med"/>
                      <a:tailEnd type="none" w="med" len="med"/>
                    </a:lnL>
                    <a:lnR w="6350" cap="flat" cmpd="sng" algn="ctr">
                      <a:solidFill>
                        <a:srgbClr val="C8C0B4"/>
                      </a:solidFill>
                      <a:prstDash val="solid"/>
                      <a:round/>
                      <a:headEnd type="none" w="med" len="med"/>
                      <a:tailEnd type="none" w="med" len="med"/>
                    </a:lnR>
                    <a:lnT w="6350" cap="flat" cmpd="sng" algn="ctr">
                      <a:solidFill>
                        <a:srgbClr val="C8C0B4"/>
                      </a:solidFill>
                      <a:prstDash val="solid"/>
                      <a:round/>
                      <a:headEnd type="none" w="med" len="med"/>
                      <a:tailEnd type="none" w="med" len="med"/>
                    </a:lnT>
                    <a:lnB w="6350" cap="flat" cmpd="sng" algn="ctr">
                      <a:solidFill>
                        <a:srgbClr val="C8C0B4"/>
                      </a:solidFill>
                      <a:prstDash val="solid"/>
                      <a:round/>
                      <a:headEnd type="none" w="med" len="med"/>
                      <a:tailEnd type="none" w="med" len="med"/>
                    </a:lnB>
                    <a:solidFill>
                      <a:srgbClr val="ECE7DF"/>
                    </a:solidFill>
                  </a:tcPr>
                </a:tc>
                <a:extLst>
                  <a:ext uri="{0D108BD9-81ED-4DB2-BD59-A6C34878D82A}">
                    <a16:rowId xmlns:a16="http://schemas.microsoft.com/office/drawing/2014/main" val="10004"/>
                  </a:ext>
                </a:extLst>
              </a:tr>
              <a:tr h="329184">
                <a:tc>
                  <a:txBody>
                    <a:bodyPr/>
                    <a:lstStyle/>
                    <a:p>
                      <a:pPr marL="0" indent="0">
                        <a:buNone/>
                      </a:pPr>
                      <a:r>
                        <a:rPr lang="en-US" sz="1000" dirty="0">
                          <a:solidFill>
                            <a:srgbClr val="0F1F33"/>
                          </a:solidFill>
                          <a:latin typeface="DM Mono" pitchFamily="34" charset="0"/>
                          <a:ea typeface="DM Mono" pitchFamily="34" charset="-122"/>
                          <a:cs typeface="DM Mono" pitchFamily="34" charset="-120"/>
                        </a:rPr>
                        <a:t>Add DT GitLab Contributors</a:t>
                      </a:r>
                      <a:endParaRPr lang="en-US" sz="1000" dirty="0">
                        <a:latin typeface="DM Mono" charset="0"/>
                        <a:ea typeface="DM Mono" charset="0"/>
                        <a:cs typeface="DM Mono" charset="0"/>
                      </a:endParaRPr>
                    </a:p>
                  </a:txBody>
                  <a:tcPr>
                    <a:lnL w="6350" cap="flat" cmpd="sng" algn="ctr">
                      <a:solidFill>
                        <a:srgbClr val="C8C0B4"/>
                      </a:solidFill>
                      <a:prstDash val="solid"/>
                      <a:round/>
                      <a:headEnd type="none" w="med" len="med"/>
                      <a:tailEnd type="none" w="med" len="med"/>
                    </a:lnL>
                    <a:lnR w="6350" cap="flat" cmpd="sng" algn="ctr">
                      <a:solidFill>
                        <a:srgbClr val="C8C0B4"/>
                      </a:solidFill>
                      <a:prstDash val="solid"/>
                      <a:round/>
                      <a:headEnd type="none" w="med" len="med"/>
                      <a:tailEnd type="none" w="med" len="med"/>
                    </a:lnR>
                    <a:lnT w="6350" cap="flat" cmpd="sng" algn="ctr">
                      <a:solidFill>
                        <a:srgbClr val="C8C0B4"/>
                      </a:solidFill>
                      <a:prstDash val="solid"/>
                      <a:round/>
                      <a:headEnd type="none" w="med" len="med"/>
                      <a:tailEnd type="none" w="med" len="med"/>
                    </a:lnT>
                    <a:lnB w="6350" cap="flat" cmpd="sng" algn="ctr">
                      <a:solidFill>
                        <a:srgbClr val="C8C0B4"/>
                      </a:solidFill>
                      <a:prstDash val="solid"/>
                      <a:round/>
                      <a:headEnd type="none" w="med" len="med"/>
                      <a:tailEnd type="none" w="med" len="med"/>
                    </a:lnB>
                    <a:solidFill>
                      <a:srgbClr val="F5F0E8"/>
                    </a:solidFill>
                  </a:tcPr>
                </a:tc>
                <a:tc>
                  <a:txBody>
                    <a:bodyPr/>
                    <a:lstStyle/>
                    <a:p>
                      <a:pPr marL="0" indent="0">
                        <a:buNone/>
                      </a:pPr>
                      <a:r>
                        <a:rPr lang="en-US" sz="1000" dirty="0">
                          <a:solidFill>
                            <a:srgbClr val="0F1F33"/>
                          </a:solidFill>
                          <a:latin typeface="DM Mono" pitchFamily="34" charset="0"/>
                          <a:ea typeface="DM Mono" pitchFamily="34" charset="-122"/>
                          <a:cs typeface="DM Mono" pitchFamily="34" charset="-120"/>
                        </a:rPr>
                        <a:t>NOT STARTED</a:t>
                      </a:r>
                      <a:endParaRPr lang="en-US" sz="1000" dirty="0">
                        <a:latin typeface="DM Mono" charset="0"/>
                        <a:ea typeface="DM Mono" charset="0"/>
                        <a:cs typeface="DM Mono" charset="0"/>
                      </a:endParaRPr>
                    </a:p>
                  </a:txBody>
                  <a:tcPr>
                    <a:lnL w="6350" cap="flat" cmpd="sng" algn="ctr">
                      <a:solidFill>
                        <a:srgbClr val="C8C0B4"/>
                      </a:solidFill>
                      <a:prstDash val="solid"/>
                      <a:round/>
                      <a:headEnd type="none" w="med" len="med"/>
                      <a:tailEnd type="none" w="med" len="med"/>
                    </a:lnL>
                    <a:lnR w="6350" cap="flat" cmpd="sng" algn="ctr">
                      <a:solidFill>
                        <a:srgbClr val="C8C0B4"/>
                      </a:solidFill>
                      <a:prstDash val="solid"/>
                      <a:round/>
                      <a:headEnd type="none" w="med" len="med"/>
                      <a:tailEnd type="none" w="med" len="med"/>
                    </a:lnR>
                    <a:lnT w="6350" cap="flat" cmpd="sng" algn="ctr">
                      <a:solidFill>
                        <a:srgbClr val="C8C0B4"/>
                      </a:solidFill>
                      <a:prstDash val="solid"/>
                      <a:round/>
                      <a:headEnd type="none" w="med" len="med"/>
                      <a:tailEnd type="none" w="med" len="med"/>
                    </a:lnT>
                    <a:lnB w="6350" cap="flat" cmpd="sng" algn="ctr">
                      <a:solidFill>
                        <a:srgbClr val="C8C0B4"/>
                      </a:solidFill>
                      <a:prstDash val="solid"/>
                      <a:round/>
                      <a:headEnd type="none" w="med" len="med"/>
                      <a:tailEnd type="none" w="med" len="med"/>
                    </a:lnB>
                    <a:solidFill>
                      <a:srgbClr val="F5F0E8"/>
                    </a:solidFill>
                  </a:tcPr>
                </a:tc>
                <a:tc>
                  <a:txBody>
                    <a:bodyPr/>
                    <a:lstStyle/>
                    <a:p>
                      <a:pPr marL="0" indent="0">
                        <a:buNone/>
                      </a:pPr>
                      <a:r>
                        <a:rPr lang="en-US" sz="1000" dirty="0">
                          <a:solidFill>
                            <a:srgbClr val="0F1F33"/>
                          </a:solidFill>
                          <a:latin typeface="DM Mono" pitchFamily="34" charset="0"/>
                          <a:ea typeface="DM Mono" pitchFamily="34" charset="-122"/>
                          <a:cs typeface="DM Mono" pitchFamily="34" charset="-120"/>
                        </a:rPr>
                        <a:t>2026-04-30</a:t>
                      </a:r>
                      <a:endParaRPr lang="en-US" sz="1000" dirty="0">
                        <a:latin typeface="DM Mono" charset="0"/>
                        <a:ea typeface="DM Mono" charset="0"/>
                        <a:cs typeface="DM Mono" charset="0"/>
                      </a:endParaRPr>
                    </a:p>
                  </a:txBody>
                  <a:tcPr>
                    <a:lnL w="6350" cap="flat" cmpd="sng" algn="ctr">
                      <a:solidFill>
                        <a:srgbClr val="C8C0B4"/>
                      </a:solidFill>
                      <a:prstDash val="solid"/>
                      <a:round/>
                      <a:headEnd type="none" w="med" len="med"/>
                      <a:tailEnd type="none" w="med" len="med"/>
                    </a:lnL>
                    <a:lnR w="6350" cap="flat" cmpd="sng" algn="ctr">
                      <a:solidFill>
                        <a:srgbClr val="C8C0B4"/>
                      </a:solidFill>
                      <a:prstDash val="solid"/>
                      <a:round/>
                      <a:headEnd type="none" w="med" len="med"/>
                      <a:tailEnd type="none" w="med" len="med"/>
                    </a:lnR>
                    <a:lnT w="6350" cap="flat" cmpd="sng" algn="ctr">
                      <a:solidFill>
                        <a:srgbClr val="C8C0B4"/>
                      </a:solidFill>
                      <a:prstDash val="solid"/>
                      <a:round/>
                      <a:headEnd type="none" w="med" len="med"/>
                      <a:tailEnd type="none" w="med" len="med"/>
                    </a:lnT>
                    <a:lnB w="6350" cap="flat" cmpd="sng" algn="ctr">
                      <a:solidFill>
                        <a:srgbClr val="C8C0B4"/>
                      </a:solidFill>
                      <a:prstDash val="solid"/>
                      <a:round/>
                      <a:headEnd type="none" w="med" len="med"/>
                      <a:tailEnd type="none" w="med" len="med"/>
                    </a:lnB>
                    <a:solidFill>
                      <a:srgbClr val="F5F0E8"/>
                    </a:solidFill>
                  </a:tcPr>
                </a:tc>
                <a:tc>
                  <a:txBody>
                    <a:bodyPr/>
                    <a:lstStyle/>
                    <a:p>
                      <a:pPr marL="0" indent="0">
                        <a:buNone/>
                      </a:pPr>
                      <a:r>
                        <a:rPr lang="en-US" sz="1000" dirty="0">
                          <a:solidFill>
                            <a:srgbClr val="0F1F33"/>
                          </a:solidFill>
                          <a:latin typeface="DM Mono" pitchFamily="34" charset="0"/>
                          <a:ea typeface="DM Mono" pitchFamily="34" charset="-122"/>
                          <a:cs typeface="DM Mono" pitchFamily="34" charset="-120"/>
                        </a:rPr>
                        <a:t>MEDIUM</a:t>
                      </a:r>
                      <a:endParaRPr lang="en-US" sz="1000" dirty="0">
                        <a:latin typeface="DM Mono" charset="0"/>
                        <a:ea typeface="DM Mono" charset="0"/>
                        <a:cs typeface="DM Mono" charset="0"/>
                      </a:endParaRPr>
                    </a:p>
                  </a:txBody>
                  <a:tcPr>
                    <a:lnL w="6350" cap="flat" cmpd="sng" algn="ctr">
                      <a:solidFill>
                        <a:srgbClr val="C8C0B4"/>
                      </a:solidFill>
                      <a:prstDash val="solid"/>
                      <a:round/>
                      <a:headEnd type="none" w="med" len="med"/>
                      <a:tailEnd type="none" w="med" len="med"/>
                    </a:lnL>
                    <a:lnR w="6350" cap="flat" cmpd="sng" algn="ctr">
                      <a:solidFill>
                        <a:srgbClr val="C8C0B4"/>
                      </a:solidFill>
                      <a:prstDash val="solid"/>
                      <a:round/>
                      <a:headEnd type="none" w="med" len="med"/>
                      <a:tailEnd type="none" w="med" len="med"/>
                    </a:lnR>
                    <a:lnT w="6350" cap="flat" cmpd="sng" algn="ctr">
                      <a:solidFill>
                        <a:srgbClr val="C8C0B4"/>
                      </a:solidFill>
                      <a:prstDash val="solid"/>
                      <a:round/>
                      <a:headEnd type="none" w="med" len="med"/>
                      <a:tailEnd type="none" w="med" len="med"/>
                    </a:lnT>
                    <a:lnB w="6350" cap="flat" cmpd="sng" algn="ctr">
                      <a:solidFill>
                        <a:srgbClr val="C8C0B4"/>
                      </a:solidFill>
                      <a:prstDash val="solid"/>
                      <a:round/>
                      <a:headEnd type="none" w="med" len="med"/>
                      <a:tailEnd type="none" w="med" len="med"/>
                    </a:lnB>
                    <a:solidFill>
                      <a:srgbClr val="F5F0E8"/>
                    </a:solidFill>
                  </a:tcPr>
                </a:tc>
                <a:extLst>
                  <a:ext uri="{0D108BD9-81ED-4DB2-BD59-A6C34878D82A}">
                    <a16:rowId xmlns:a16="http://schemas.microsoft.com/office/drawing/2014/main" val="10005"/>
                  </a:ext>
                </a:extLst>
              </a:tr>
              <a:tr h="329184">
                <a:tc>
                  <a:txBody>
                    <a:bodyPr/>
                    <a:lstStyle/>
                    <a:p>
                      <a:pPr marL="0" indent="0">
                        <a:buNone/>
                      </a:pPr>
                      <a:r>
                        <a:rPr lang="en-US" sz="1000" dirty="0">
                          <a:solidFill>
                            <a:srgbClr val="0F1F33"/>
                          </a:solidFill>
                          <a:latin typeface="DM Mono" pitchFamily="34" charset="0"/>
                          <a:ea typeface="DM Mono" pitchFamily="34" charset="-122"/>
                          <a:cs typeface="DM Mono" pitchFamily="34" charset="-120"/>
                        </a:rPr>
                        <a:t>Archive IR Calib Docs</a:t>
                      </a:r>
                      <a:endParaRPr lang="en-US" sz="1000" dirty="0">
                        <a:latin typeface="DM Mono" charset="0"/>
                        <a:ea typeface="DM Mono" charset="0"/>
                        <a:cs typeface="DM Mono" charset="0"/>
                      </a:endParaRPr>
                    </a:p>
                  </a:txBody>
                  <a:tcPr>
                    <a:lnL w="6350" cap="flat" cmpd="sng" algn="ctr">
                      <a:solidFill>
                        <a:srgbClr val="C8C0B4"/>
                      </a:solidFill>
                      <a:prstDash val="solid"/>
                      <a:round/>
                      <a:headEnd type="none" w="med" len="med"/>
                      <a:tailEnd type="none" w="med" len="med"/>
                    </a:lnL>
                    <a:lnR w="6350" cap="flat" cmpd="sng" algn="ctr">
                      <a:solidFill>
                        <a:srgbClr val="C8C0B4"/>
                      </a:solidFill>
                      <a:prstDash val="solid"/>
                      <a:round/>
                      <a:headEnd type="none" w="med" len="med"/>
                      <a:tailEnd type="none" w="med" len="med"/>
                    </a:lnR>
                    <a:lnT w="6350" cap="flat" cmpd="sng" algn="ctr">
                      <a:solidFill>
                        <a:srgbClr val="C8C0B4"/>
                      </a:solidFill>
                      <a:prstDash val="solid"/>
                      <a:round/>
                      <a:headEnd type="none" w="med" len="med"/>
                      <a:tailEnd type="none" w="med" len="med"/>
                    </a:lnT>
                    <a:lnB w="6350" cap="flat" cmpd="sng" algn="ctr">
                      <a:solidFill>
                        <a:srgbClr val="C8C0B4"/>
                      </a:solidFill>
                      <a:prstDash val="solid"/>
                      <a:round/>
                      <a:headEnd type="none" w="med" len="med"/>
                      <a:tailEnd type="none" w="med" len="med"/>
                    </a:lnB>
                    <a:solidFill>
                      <a:srgbClr val="ECE7DF"/>
                    </a:solidFill>
                  </a:tcPr>
                </a:tc>
                <a:tc>
                  <a:txBody>
                    <a:bodyPr/>
                    <a:lstStyle/>
                    <a:p>
                      <a:pPr marL="0" indent="0">
                        <a:buNone/>
                      </a:pPr>
                      <a:r>
                        <a:rPr lang="en-US" sz="1000" dirty="0">
                          <a:solidFill>
                            <a:srgbClr val="0F1F33"/>
                          </a:solidFill>
                          <a:latin typeface="DM Mono" pitchFamily="34" charset="0"/>
                          <a:ea typeface="DM Mono" pitchFamily="34" charset="-122"/>
                          <a:cs typeface="DM Mono" pitchFamily="34" charset="-120"/>
                        </a:rPr>
                        <a:t>NOT STARTED</a:t>
                      </a:r>
                      <a:endParaRPr lang="en-US" sz="1000" dirty="0">
                        <a:latin typeface="DM Mono" charset="0"/>
                        <a:ea typeface="DM Mono" charset="0"/>
                        <a:cs typeface="DM Mono" charset="0"/>
                      </a:endParaRPr>
                    </a:p>
                  </a:txBody>
                  <a:tcPr>
                    <a:lnL w="6350" cap="flat" cmpd="sng" algn="ctr">
                      <a:solidFill>
                        <a:srgbClr val="C8C0B4"/>
                      </a:solidFill>
                      <a:prstDash val="solid"/>
                      <a:round/>
                      <a:headEnd type="none" w="med" len="med"/>
                      <a:tailEnd type="none" w="med" len="med"/>
                    </a:lnL>
                    <a:lnR w="6350" cap="flat" cmpd="sng" algn="ctr">
                      <a:solidFill>
                        <a:srgbClr val="C8C0B4"/>
                      </a:solidFill>
                      <a:prstDash val="solid"/>
                      <a:round/>
                      <a:headEnd type="none" w="med" len="med"/>
                      <a:tailEnd type="none" w="med" len="med"/>
                    </a:lnR>
                    <a:lnT w="6350" cap="flat" cmpd="sng" algn="ctr">
                      <a:solidFill>
                        <a:srgbClr val="C8C0B4"/>
                      </a:solidFill>
                      <a:prstDash val="solid"/>
                      <a:round/>
                      <a:headEnd type="none" w="med" len="med"/>
                      <a:tailEnd type="none" w="med" len="med"/>
                    </a:lnT>
                    <a:lnB w="6350" cap="flat" cmpd="sng" algn="ctr">
                      <a:solidFill>
                        <a:srgbClr val="C8C0B4"/>
                      </a:solidFill>
                      <a:prstDash val="solid"/>
                      <a:round/>
                      <a:headEnd type="none" w="med" len="med"/>
                      <a:tailEnd type="none" w="med" len="med"/>
                    </a:lnB>
                    <a:solidFill>
                      <a:srgbClr val="ECE7DF"/>
                    </a:solidFill>
                  </a:tcPr>
                </a:tc>
                <a:tc>
                  <a:txBody>
                    <a:bodyPr/>
                    <a:lstStyle/>
                    <a:p>
                      <a:pPr marL="0" indent="0">
                        <a:buNone/>
                      </a:pPr>
                      <a:r>
                        <a:rPr lang="en-US" sz="1000" dirty="0">
                          <a:solidFill>
                            <a:srgbClr val="0F1F33"/>
                          </a:solidFill>
                          <a:latin typeface="DM Mono" pitchFamily="34" charset="0"/>
                          <a:ea typeface="DM Mono" pitchFamily="34" charset="-122"/>
                          <a:cs typeface="DM Mono" pitchFamily="34" charset="-120"/>
                        </a:rPr>
                        <a:t>2026-06-01</a:t>
                      </a:r>
                      <a:endParaRPr lang="en-US" sz="1000" dirty="0">
                        <a:latin typeface="DM Mono" charset="0"/>
                        <a:ea typeface="DM Mono" charset="0"/>
                        <a:cs typeface="DM Mono" charset="0"/>
                      </a:endParaRPr>
                    </a:p>
                  </a:txBody>
                  <a:tcPr>
                    <a:lnL w="6350" cap="flat" cmpd="sng" algn="ctr">
                      <a:solidFill>
                        <a:srgbClr val="C8C0B4"/>
                      </a:solidFill>
                      <a:prstDash val="solid"/>
                      <a:round/>
                      <a:headEnd type="none" w="med" len="med"/>
                      <a:tailEnd type="none" w="med" len="med"/>
                    </a:lnL>
                    <a:lnR w="6350" cap="flat" cmpd="sng" algn="ctr">
                      <a:solidFill>
                        <a:srgbClr val="C8C0B4"/>
                      </a:solidFill>
                      <a:prstDash val="solid"/>
                      <a:round/>
                      <a:headEnd type="none" w="med" len="med"/>
                      <a:tailEnd type="none" w="med" len="med"/>
                    </a:lnR>
                    <a:lnT w="6350" cap="flat" cmpd="sng" algn="ctr">
                      <a:solidFill>
                        <a:srgbClr val="C8C0B4"/>
                      </a:solidFill>
                      <a:prstDash val="solid"/>
                      <a:round/>
                      <a:headEnd type="none" w="med" len="med"/>
                      <a:tailEnd type="none" w="med" len="med"/>
                    </a:lnT>
                    <a:lnB w="6350" cap="flat" cmpd="sng" algn="ctr">
                      <a:solidFill>
                        <a:srgbClr val="C8C0B4"/>
                      </a:solidFill>
                      <a:prstDash val="solid"/>
                      <a:round/>
                      <a:headEnd type="none" w="med" len="med"/>
                      <a:tailEnd type="none" w="med" len="med"/>
                    </a:lnB>
                    <a:solidFill>
                      <a:srgbClr val="ECE7DF"/>
                    </a:solidFill>
                  </a:tcPr>
                </a:tc>
                <a:tc>
                  <a:txBody>
                    <a:bodyPr/>
                    <a:lstStyle/>
                    <a:p>
                      <a:pPr marL="0" indent="0">
                        <a:buNone/>
                      </a:pPr>
                      <a:r>
                        <a:rPr lang="en-US" sz="1000" dirty="0">
                          <a:solidFill>
                            <a:srgbClr val="0F1F33"/>
                          </a:solidFill>
                          <a:latin typeface="DM Mono" pitchFamily="34" charset="0"/>
                          <a:ea typeface="DM Mono" pitchFamily="34" charset="-122"/>
                          <a:cs typeface="DM Mono" pitchFamily="34" charset="-120"/>
                        </a:rPr>
                        <a:t>MEDIUM</a:t>
                      </a:r>
                      <a:endParaRPr lang="en-US" sz="1000" dirty="0">
                        <a:latin typeface="DM Mono" charset="0"/>
                        <a:ea typeface="DM Mono" charset="0"/>
                        <a:cs typeface="DM Mono" charset="0"/>
                      </a:endParaRPr>
                    </a:p>
                  </a:txBody>
                  <a:tcPr>
                    <a:lnL w="6350" cap="flat" cmpd="sng" algn="ctr">
                      <a:solidFill>
                        <a:srgbClr val="C8C0B4"/>
                      </a:solidFill>
                      <a:prstDash val="solid"/>
                      <a:round/>
                      <a:headEnd type="none" w="med" len="med"/>
                      <a:tailEnd type="none" w="med" len="med"/>
                    </a:lnL>
                    <a:lnR w="6350" cap="flat" cmpd="sng" algn="ctr">
                      <a:solidFill>
                        <a:srgbClr val="C8C0B4"/>
                      </a:solidFill>
                      <a:prstDash val="solid"/>
                      <a:round/>
                      <a:headEnd type="none" w="med" len="med"/>
                      <a:tailEnd type="none" w="med" len="med"/>
                    </a:lnR>
                    <a:lnT w="6350" cap="flat" cmpd="sng" algn="ctr">
                      <a:solidFill>
                        <a:srgbClr val="C8C0B4"/>
                      </a:solidFill>
                      <a:prstDash val="solid"/>
                      <a:round/>
                      <a:headEnd type="none" w="med" len="med"/>
                      <a:tailEnd type="none" w="med" len="med"/>
                    </a:lnT>
                    <a:lnB w="6350" cap="flat" cmpd="sng" algn="ctr">
                      <a:solidFill>
                        <a:srgbClr val="C8C0B4"/>
                      </a:solidFill>
                      <a:prstDash val="solid"/>
                      <a:round/>
                      <a:headEnd type="none" w="med" len="med"/>
                      <a:tailEnd type="none" w="med" len="med"/>
                    </a:lnB>
                    <a:solidFill>
                      <a:srgbClr val="ECE7DF"/>
                    </a:solidFill>
                  </a:tcPr>
                </a:tc>
                <a:extLst>
                  <a:ext uri="{0D108BD9-81ED-4DB2-BD59-A6C34878D82A}">
                    <a16:rowId xmlns:a16="http://schemas.microsoft.com/office/drawing/2014/main" val="10006"/>
                  </a:ext>
                </a:extLst>
              </a:tr>
              <a:tr h="329184">
                <a:tc>
                  <a:txBody>
                    <a:bodyPr/>
                    <a:lstStyle/>
                    <a:p>
                      <a:pPr marL="0" indent="0">
                        <a:buNone/>
                      </a:pPr>
                      <a:r>
                        <a:rPr lang="en-US" sz="1000" dirty="0">
                          <a:solidFill>
                            <a:srgbClr val="0F1F33"/>
                          </a:solidFill>
                          <a:latin typeface="DM Mono" pitchFamily="34" charset="0"/>
                          <a:ea typeface="DM Mono" pitchFamily="34" charset="-122"/>
                          <a:cs typeface="DM Mono" pitchFamily="34" charset="-120"/>
                        </a:rPr>
                        <a:t>YOLO Benchmark &amp; Archive</a:t>
                      </a:r>
                      <a:endParaRPr lang="en-US" sz="1000" dirty="0">
                        <a:latin typeface="DM Mono" charset="0"/>
                        <a:ea typeface="DM Mono" charset="0"/>
                        <a:cs typeface="DM Mono" charset="0"/>
                      </a:endParaRPr>
                    </a:p>
                  </a:txBody>
                  <a:tcPr>
                    <a:lnL w="6350" cap="flat" cmpd="sng" algn="ctr">
                      <a:solidFill>
                        <a:srgbClr val="C8C0B4"/>
                      </a:solidFill>
                      <a:prstDash val="solid"/>
                      <a:round/>
                      <a:headEnd type="none" w="med" len="med"/>
                      <a:tailEnd type="none" w="med" len="med"/>
                    </a:lnL>
                    <a:lnR w="6350" cap="flat" cmpd="sng" algn="ctr">
                      <a:solidFill>
                        <a:srgbClr val="C8C0B4"/>
                      </a:solidFill>
                      <a:prstDash val="solid"/>
                      <a:round/>
                      <a:headEnd type="none" w="med" len="med"/>
                      <a:tailEnd type="none" w="med" len="med"/>
                    </a:lnR>
                    <a:lnT w="6350" cap="flat" cmpd="sng" algn="ctr">
                      <a:solidFill>
                        <a:srgbClr val="C8C0B4"/>
                      </a:solidFill>
                      <a:prstDash val="solid"/>
                      <a:round/>
                      <a:headEnd type="none" w="med" len="med"/>
                      <a:tailEnd type="none" w="med" len="med"/>
                    </a:lnT>
                    <a:lnB w="6350" cap="flat" cmpd="sng" algn="ctr">
                      <a:solidFill>
                        <a:srgbClr val="C8C0B4"/>
                      </a:solidFill>
                      <a:prstDash val="solid"/>
                      <a:round/>
                      <a:headEnd type="none" w="med" len="med"/>
                      <a:tailEnd type="none" w="med" len="med"/>
                    </a:lnB>
                    <a:solidFill>
                      <a:srgbClr val="F5F0E8"/>
                    </a:solidFill>
                  </a:tcPr>
                </a:tc>
                <a:tc>
                  <a:txBody>
                    <a:bodyPr/>
                    <a:lstStyle/>
                    <a:p>
                      <a:pPr marL="0" indent="0">
                        <a:buNone/>
                      </a:pPr>
                      <a:r>
                        <a:rPr lang="en-US" sz="1000" dirty="0">
                          <a:solidFill>
                            <a:srgbClr val="0F1F33"/>
                          </a:solidFill>
                          <a:latin typeface="DM Mono" pitchFamily="34" charset="0"/>
                          <a:ea typeface="DM Mono" pitchFamily="34" charset="-122"/>
                          <a:cs typeface="DM Mono" pitchFamily="34" charset="-120"/>
                        </a:rPr>
                        <a:t>NOT STARTED</a:t>
                      </a:r>
                      <a:endParaRPr lang="en-US" sz="1000" dirty="0">
                        <a:latin typeface="DM Mono" charset="0"/>
                        <a:ea typeface="DM Mono" charset="0"/>
                        <a:cs typeface="DM Mono" charset="0"/>
                      </a:endParaRPr>
                    </a:p>
                  </a:txBody>
                  <a:tcPr>
                    <a:lnL w="6350" cap="flat" cmpd="sng" algn="ctr">
                      <a:solidFill>
                        <a:srgbClr val="C8C0B4"/>
                      </a:solidFill>
                      <a:prstDash val="solid"/>
                      <a:round/>
                      <a:headEnd type="none" w="med" len="med"/>
                      <a:tailEnd type="none" w="med" len="med"/>
                    </a:lnL>
                    <a:lnR w="6350" cap="flat" cmpd="sng" algn="ctr">
                      <a:solidFill>
                        <a:srgbClr val="C8C0B4"/>
                      </a:solidFill>
                      <a:prstDash val="solid"/>
                      <a:round/>
                      <a:headEnd type="none" w="med" len="med"/>
                      <a:tailEnd type="none" w="med" len="med"/>
                    </a:lnR>
                    <a:lnT w="6350" cap="flat" cmpd="sng" algn="ctr">
                      <a:solidFill>
                        <a:srgbClr val="C8C0B4"/>
                      </a:solidFill>
                      <a:prstDash val="solid"/>
                      <a:round/>
                      <a:headEnd type="none" w="med" len="med"/>
                      <a:tailEnd type="none" w="med" len="med"/>
                    </a:lnT>
                    <a:lnB w="6350" cap="flat" cmpd="sng" algn="ctr">
                      <a:solidFill>
                        <a:srgbClr val="C8C0B4"/>
                      </a:solidFill>
                      <a:prstDash val="solid"/>
                      <a:round/>
                      <a:headEnd type="none" w="med" len="med"/>
                      <a:tailEnd type="none" w="med" len="med"/>
                    </a:lnB>
                    <a:solidFill>
                      <a:srgbClr val="F5F0E8"/>
                    </a:solidFill>
                  </a:tcPr>
                </a:tc>
                <a:tc>
                  <a:txBody>
                    <a:bodyPr/>
                    <a:lstStyle/>
                    <a:p>
                      <a:pPr marL="0" indent="0">
                        <a:buNone/>
                      </a:pPr>
                      <a:r>
                        <a:rPr lang="en-US" sz="1000" dirty="0">
                          <a:solidFill>
                            <a:srgbClr val="0F1F33"/>
                          </a:solidFill>
                          <a:latin typeface="DM Mono" pitchFamily="34" charset="0"/>
                          <a:ea typeface="DM Mono" pitchFamily="34" charset="-122"/>
                          <a:cs typeface="DM Mono" pitchFamily="34" charset="-120"/>
                        </a:rPr>
                        <a:t>2026-06-15</a:t>
                      </a:r>
                      <a:endParaRPr lang="en-US" sz="1000" dirty="0">
                        <a:latin typeface="DM Mono" charset="0"/>
                        <a:ea typeface="DM Mono" charset="0"/>
                        <a:cs typeface="DM Mono" charset="0"/>
                      </a:endParaRPr>
                    </a:p>
                  </a:txBody>
                  <a:tcPr>
                    <a:lnL w="6350" cap="flat" cmpd="sng" algn="ctr">
                      <a:solidFill>
                        <a:srgbClr val="C8C0B4"/>
                      </a:solidFill>
                      <a:prstDash val="solid"/>
                      <a:round/>
                      <a:headEnd type="none" w="med" len="med"/>
                      <a:tailEnd type="none" w="med" len="med"/>
                    </a:lnL>
                    <a:lnR w="6350" cap="flat" cmpd="sng" algn="ctr">
                      <a:solidFill>
                        <a:srgbClr val="C8C0B4"/>
                      </a:solidFill>
                      <a:prstDash val="solid"/>
                      <a:round/>
                      <a:headEnd type="none" w="med" len="med"/>
                      <a:tailEnd type="none" w="med" len="med"/>
                    </a:lnR>
                    <a:lnT w="6350" cap="flat" cmpd="sng" algn="ctr">
                      <a:solidFill>
                        <a:srgbClr val="C8C0B4"/>
                      </a:solidFill>
                      <a:prstDash val="solid"/>
                      <a:round/>
                      <a:headEnd type="none" w="med" len="med"/>
                      <a:tailEnd type="none" w="med" len="med"/>
                    </a:lnT>
                    <a:lnB w="6350" cap="flat" cmpd="sng" algn="ctr">
                      <a:solidFill>
                        <a:srgbClr val="C8C0B4"/>
                      </a:solidFill>
                      <a:prstDash val="solid"/>
                      <a:round/>
                      <a:headEnd type="none" w="med" len="med"/>
                      <a:tailEnd type="none" w="med" len="med"/>
                    </a:lnB>
                    <a:solidFill>
                      <a:srgbClr val="F5F0E8"/>
                    </a:solidFill>
                  </a:tcPr>
                </a:tc>
                <a:tc>
                  <a:txBody>
                    <a:bodyPr/>
                    <a:lstStyle/>
                    <a:p>
                      <a:pPr marL="0" indent="0">
                        <a:buNone/>
                      </a:pPr>
                      <a:r>
                        <a:rPr lang="en-US" sz="1000" dirty="0">
                          <a:solidFill>
                            <a:srgbClr val="0F1F33"/>
                          </a:solidFill>
                          <a:latin typeface="DM Mono" pitchFamily="34" charset="0"/>
                          <a:ea typeface="DM Mono" pitchFamily="34" charset="-122"/>
                          <a:cs typeface="DM Mono" pitchFamily="34" charset="-120"/>
                        </a:rPr>
                        <a:t>LOW</a:t>
                      </a:r>
                      <a:endParaRPr lang="en-US" sz="1000" dirty="0">
                        <a:latin typeface="DM Mono" charset="0"/>
                        <a:ea typeface="DM Mono" charset="0"/>
                        <a:cs typeface="DM Mono" charset="0"/>
                      </a:endParaRPr>
                    </a:p>
                  </a:txBody>
                  <a:tcPr>
                    <a:lnL w="6350" cap="flat" cmpd="sng" algn="ctr">
                      <a:solidFill>
                        <a:srgbClr val="C8C0B4"/>
                      </a:solidFill>
                      <a:prstDash val="solid"/>
                      <a:round/>
                      <a:headEnd type="none" w="med" len="med"/>
                      <a:tailEnd type="none" w="med" len="med"/>
                    </a:lnL>
                    <a:lnR w="6350" cap="flat" cmpd="sng" algn="ctr">
                      <a:solidFill>
                        <a:srgbClr val="C8C0B4"/>
                      </a:solidFill>
                      <a:prstDash val="solid"/>
                      <a:round/>
                      <a:headEnd type="none" w="med" len="med"/>
                      <a:tailEnd type="none" w="med" len="med"/>
                    </a:lnR>
                    <a:lnT w="6350" cap="flat" cmpd="sng" algn="ctr">
                      <a:solidFill>
                        <a:srgbClr val="C8C0B4"/>
                      </a:solidFill>
                      <a:prstDash val="solid"/>
                      <a:round/>
                      <a:headEnd type="none" w="med" len="med"/>
                      <a:tailEnd type="none" w="med" len="med"/>
                    </a:lnT>
                    <a:lnB w="6350" cap="flat" cmpd="sng" algn="ctr">
                      <a:solidFill>
                        <a:srgbClr val="C8C0B4"/>
                      </a:solidFill>
                      <a:prstDash val="solid"/>
                      <a:round/>
                      <a:headEnd type="none" w="med" len="med"/>
                      <a:tailEnd type="none" w="med" len="med"/>
                    </a:lnB>
                    <a:solidFill>
                      <a:srgbClr val="F5F0E8"/>
                    </a:solidFill>
                  </a:tcPr>
                </a:tc>
                <a:extLst>
                  <a:ext uri="{0D108BD9-81ED-4DB2-BD59-A6C34878D82A}">
                    <a16:rowId xmlns:a16="http://schemas.microsoft.com/office/drawing/2014/main" val="10007"/>
                  </a:ext>
                </a:extLst>
              </a:tr>
              <a:tr h="329184">
                <a:tc>
                  <a:txBody>
                    <a:bodyPr/>
                    <a:lstStyle/>
                    <a:p>
                      <a:pPr marL="0" indent="0">
                        <a:buNone/>
                      </a:pPr>
                      <a:r>
                        <a:rPr lang="en-US" sz="1000" dirty="0">
                          <a:solidFill>
                            <a:srgbClr val="0F1F33"/>
                          </a:solidFill>
                          <a:latin typeface="DM Mono" pitchFamily="34" charset="0"/>
                          <a:ea typeface="DM Mono" pitchFamily="34" charset="-122"/>
                          <a:cs typeface="DM Mono" pitchFamily="34" charset="-120"/>
                        </a:rPr>
                        <a:t>Deploy Odyssey App</a:t>
                      </a:r>
                      <a:endParaRPr lang="en-US" sz="1000" dirty="0">
                        <a:latin typeface="DM Mono" charset="0"/>
                        <a:ea typeface="DM Mono" charset="0"/>
                        <a:cs typeface="DM Mono" charset="0"/>
                      </a:endParaRPr>
                    </a:p>
                  </a:txBody>
                  <a:tcPr>
                    <a:lnL w="6350" cap="flat" cmpd="sng" algn="ctr">
                      <a:solidFill>
                        <a:srgbClr val="C8C0B4"/>
                      </a:solidFill>
                      <a:prstDash val="solid"/>
                      <a:round/>
                      <a:headEnd type="none" w="med" len="med"/>
                      <a:tailEnd type="none" w="med" len="med"/>
                    </a:lnL>
                    <a:lnR w="6350" cap="flat" cmpd="sng" algn="ctr">
                      <a:solidFill>
                        <a:srgbClr val="C8C0B4"/>
                      </a:solidFill>
                      <a:prstDash val="solid"/>
                      <a:round/>
                      <a:headEnd type="none" w="med" len="med"/>
                      <a:tailEnd type="none" w="med" len="med"/>
                    </a:lnR>
                    <a:lnT w="6350" cap="flat" cmpd="sng" algn="ctr">
                      <a:solidFill>
                        <a:srgbClr val="C8C0B4"/>
                      </a:solidFill>
                      <a:prstDash val="solid"/>
                      <a:round/>
                      <a:headEnd type="none" w="med" len="med"/>
                      <a:tailEnd type="none" w="med" len="med"/>
                    </a:lnT>
                    <a:lnB w="6350" cap="flat" cmpd="sng" algn="ctr">
                      <a:solidFill>
                        <a:srgbClr val="C8C0B4"/>
                      </a:solidFill>
                      <a:prstDash val="solid"/>
                      <a:round/>
                      <a:headEnd type="none" w="med" len="med"/>
                      <a:tailEnd type="none" w="med" len="med"/>
                    </a:lnB>
                    <a:solidFill>
                      <a:srgbClr val="ECE7DF"/>
                    </a:solidFill>
                  </a:tcPr>
                </a:tc>
                <a:tc>
                  <a:txBody>
                    <a:bodyPr/>
                    <a:lstStyle/>
                    <a:p>
                      <a:pPr marL="0" indent="0">
                        <a:buNone/>
                      </a:pPr>
                      <a:r>
                        <a:rPr lang="en-US" sz="1000" dirty="0">
                          <a:solidFill>
                            <a:srgbClr val="0F1F33"/>
                          </a:solidFill>
                          <a:latin typeface="DM Mono" pitchFamily="34" charset="0"/>
                          <a:ea typeface="DM Mono" pitchFamily="34" charset="-122"/>
                          <a:cs typeface="DM Mono" pitchFamily="34" charset="-120"/>
                        </a:rPr>
                        <a:t>IN REVIEW 75%</a:t>
                      </a:r>
                      <a:endParaRPr lang="en-US" sz="1000" dirty="0">
                        <a:latin typeface="DM Mono" charset="0"/>
                        <a:ea typeface="DM Mono" charset="0"/>
                        <a:cs typeface="DM Mono" charset="0"/>
                      </a:endParaRPr>
                    </a:p>
                  </a:txBody>
                  <a:tcPr>
                    <a:lnL w="6350" cap="flat" cmpd="sng" algn="ctr">
                      <a:solidFill>
                        <a:srgbClr val="C8C0B4"/>
                      </a:solidFill>
                      <a:prstDash val="solid"/>
                      <a:round/>
                      <a:headEnd type="none" w="med" len="med"/>
                      <a:tailEnd type="none" w="med" len="med"/>
                    </a:lnL>
                    <a:lnR w="6350" cap="flat" cmpd="sng" algn="ctr">
                      <a:solidFill>
                        <a:srgbClr val="C8C0B4"/>
                      </a:solidFill>
                      <a:prstDash val="solid"/>
                      <a:round/>
                      <a:headEnd type="none" w="med" len="med"/>
                      <a:tailEnd type="none" w="med" len="med"/>
                    </a:lnR>
                    <a:lnT w="6350" cap="flat" cmpd="sng" algn="ctr">
                      <a:solidFill>
                        <a:srgbClr val="C8C0B4"/>
                      </a:solidFill>
                      <a:prstDash val="solid"/>
                      <a:round/>
                      <a:headEnd type="none" w="med" len="med"/>
                      <a:tailEnd type="none" w="med" len="med"/>
                    </a:lnT>
                    <a:lnB w="6350" cap="flat" cmpd="sng" algn="ctr">
                      <a:solidFill>
                        <a:srgbClr val="C8C0B4"/>
                      </a:solidFill>
                      <a:prstDash val="solid"/>
                      <a:round/>
                      <a:headEnd type="none" w="med" len="med"/>
                      <a:tailEnd type="none" w="med" len="med"/>
                    </a:lnB>
                    <a:solidFill>
                      <a:srgbClr val="ECE7DF"/>
                    </a:solidFill>
                  </a:tcPr>
                </a:tc>
                <a:tc>
                  <a:txBody>
                    <a:bodyPr/>
                    <a:lstStyle/>
                    <a:p>
                      <a:pPr marL="0" indent="0">
                        <a:buNone/>
                      </a:pPr>
                      <a:r>
                        <a:rPr lang="en-US" sz="1000" dirty="0">
                          <a:solidFill>
                            <a:srgbClr val="0F1F33"/>
                          </a:solidFill>
                          <a:latin typeface="DM Mono" pitchFamily="34" charset="0"/>
                          <a:ea typeface="DM Mono" pitchFamily="34" charset="-122"/>
                          <a:cs typeface="DM Mono" pitchFamily="34" charset="-120"/>
                        </a:rPr>
                        <a:t>2026-06-27</a:t>
                      </a:r>
                      <a:endParaRPr lang="en-US" sz="1000" dirty="0">
                        <a:latin typeface="DM Mono" charset="0"/>
                        <a:ea typeface="DM Mono" charset="0"/>
                        <a:cs typeface="DM Mono" charset="0"/>
                      </a:endParaRPr>
                    </a:p>
                  </a:txBody>
                  <a:tcPr>
                    <a:lnL w="6350" cap="flat" cmpd="sng" algn="ctr">
                      <a:solidFill>
                        <a:srgbClr val="C8C0B4"/>
                      </a:solidFill>
                      <a:prstDash val="solid"/>
                      <a:round/>
                      <a:headEnd type="none" w="med" len="med"/>
                      <a:tailEnd type="none" w="med" len="med"/>
                    </a:lnL>
                    <a:lnR w="6350" cap="flat" cmpd="sng" algn="ctr">
                      <a:solidFill>
                        <a:srgbClr val="C8C0B4"/>
                      </a:solidFill>
                      <a:prstDash val="solid"/>
                      <a:round/>
                      <a:headEnd type="none" w="med" len="med"/>
                      <a:tailEnd type="none" w="med" len="med"/>
                    </a:lnR>
                    <a:lnT w="6350" cap="flat" cmpd="sng" algn="ctr">
                      <a:solidFill>
                        <a:srgbClr val="C8C0B4"/>
                      </a:solidFill>
                      <a:prstDash val="solid"/>
                      <a:round/>
                      <a:headEnd type="none" w="med" len="med"/>
                      <a:tailEnd type="none" w="med" len="med"/>
                    </a:lnT>
                    <a:lnB w="6350" cap="flat" cmpd="sng" algn="ctr">
                      <a:solidFill>
                        <a:srgbClr val="C8C0B4"/>
                      </a:solidFill>
                      <a:prstDash val="solid"/>
                      <a:round/>
                      <a:headEnd type="none" w="med" len="med"/>
                      <a:tailEnd type="none" w="med" len="med"/>
                    </a:lnB>
                    <a:solidFill>
                      <a:srgbClr val="ECE7DF"/>
                    </a:solidFill>
                  </a:tcPr>
                </a:tc>
                <a:tc>
                  <a:txBody>
                    <a:bodyPr/>
                    <a:lstStyle/>
                    <a:p>
                      <a:pPr marL="0" indent="0">
                        <a:buNone/>
                      </a:pPr>
                      <a:r>
                        <a:rPr lang="en-US" sz="1000" dirty="0">
                          <a:solidFill>
                            <a:srgbClr val="0F1F33"/>
                          </a:solidFill>
                          <a:latin typeface="DM Mono" pitchFamily="34" charset="0"/>
                          <a:ea typeface="DM Mono" pitchFamily="34" charset="-122"/>
                          <a:cs typeface="DM Mono" pitchFamily="34" charset="-120"/>
                        </a:rPr>
                        <a:t>LOW</a:t>
                      </a:r>
                      <a:endParaRPr lang="en-US" sz="1000" dirty="0">
                        <a:latin typeface="DM Mono" charset="0"/>
                        <a:ea typeface="DM Mono" charset="0"/>
                        <a:cs typeface="DM Mono" charset="0"/>
                      </a:endParaRPr>
                    </a:p>
                  </a:txBody>
                  <a:tcPr>
                    <a:lnL w="6350" cap="flat" cmpd="sng" algn="ctr">
                      <a:solidFill>
                        <a:srgbClr val="C8C0B4"/>
                      </a:solidFill>
                      <a:prstDash val="solid"/>
                      <a:round/>
                      <a:headEnd type="none" w="med" len="med"/>
                      <a:tailEnd type="none" w="med" len="med"/>
                    </a:lnL>
                    <a:lnR w="6350" cap="flat" cmpd="sng" algn="ctr">
                      <a:solidFill>
                        <a:srgbClr val="C8C0B4"/>
                      </a:solidFill>
                      <a:prstDash val="solid"/>
                      <a:round/>
                      <a:headEnd type="none" w="med" len="med"/>
                      <a:tailEnd type="none" w="med" len="med"/>
                    </a:lnR>
                    <a:lnT w="6350" cap="flat" cmpd="sng" algn="ctr">
                      <a:solidFill>
                        <a:srgbClr val="C8C0B4"/>
                      </a:solidFill>
                      <a:prstDash val="solid"/>
                      <a:round/>
                      <a:headEnd type="none" w="med" len="med"/>
                      <a:tailEnd type="none" w="med" len="med"/>
                    </a:lnT>
                    <a:lnB w="6350" cap="flat" cmpd="sng" algn="ctr">
                      <a:solidFill>
                        <a:srgbClr val="C8C0B4"/>
                      </a:solidFill>
                      <a:prstDash val="solid"/>
                      <a:round/>
                      <a:headEnd type="none" w="med" len="med"/>
                      <a:tailEnd type="none" w="med" len="med"/>
                    </a:lnB>
                    <a:solidFill>
                      <a:srgbClr val="ECE7DF"/>
                    </a:solidFill>
                  </a:tcPr>
                </a:tc>
                <a:extLst>
                  <a:ext uri="{0D108BD9-81ED-4DB2-BD59-A6C34878D82A}">
                    <a16:rowId xmlns:a16="http://schemas.microsoft.com/office/drawing/2014/main" val="10008"/>
                  </a:ext>
                </a:extLst>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1288</Words>
  <Application>Microsoft Office PowerPoint</Application>
  <PresentationFormat>Widescreen</PresentationFormat>
  <Paragraphs>248</Paragraphs>
  <Slides>10</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DM Mono</vt:lpstr>
      <vt:lpstr>Syne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Hicks, Kyle (Capt)</cp:lastModifiedBy>
  <cp:revision>3</cp:revision>
  <dcterms:created xsi:type="dcterms:W3CDTF">2026-03-21T21:46:31Z</dcterms:created>
  <dcterms:modified xsi:type="dcterms:W3CDTF">2026-03-21T21:51:19Z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acbbd4a6-dc2f-44d9-ad2c-c28d4679873f_Enabled">
    <vt:lpwstr>true</vt:lpwstr>
  </property>
  <property fmtid="{D5CDD505-2E9C-101B-9397-08002B2CF9AE}" pid="3" name="MSIP_Label_acbbd4a6-dc2f-44d9-ad2c-c28d4679873f_SetDate">
    <vt:lpwstr>2026-03-21T21:50:27Z</vt:lpwstr>
  </property>
  <property fmtid="{D5CDD505-2E9C-101B-9397-08002B2CF9AE}" pid="4" name="MSIP_Label_acbbd4a6-dc2f-44d9-ad2c-c28d4679873f_Method">
    <vt:lpwstr>Standard</vt:lpwstr>
  </property>
  <property fmtid="{D5CDD505-2E9C-101B-9397-08002B2CF9AE}" pid="5" name="MSIP_Label_acbbd4a6-dc2f-44d9-ad2c-c28d4679873f_Name">
    <vt:lpwstr>No Label</vt:lpwstr>
  </property>
  <property fmtid="{D5CDD505-2E9C-101B-9397-08002B2CF9AE}" pid="6" name="MSIP_Label_acbbd4a6-dc2f-44d9-ad2c-c28d4679873f_SiteId">
    <vt:lpwstr>6d936231-a517-40ea-9199-f7578963378e</vt:lpwstr>
  </property>
  <property fmtid="{D5CDD505-2E9C-101B-9397-08002B2CF9AE}" pid="7" name="MSIP_Label_acbbd4a6-dc2f-44d9-ad2c-c28d4679873f_ActionId">
    <vt:lpwstr>f4357f1b-99be-4de1-82af-04276efef279</vt:lpwstr>
  </property>
  <property fmtid="{D5CDD505-2E9C-101B-9397-08002B2CF9AE}" pid="8" name="MSIP_Label_acbbd4a6-dc2f-44d9-ad2c-c28d4679873f_ContentBits">
    <vt:lpwstr>0</vt:lpwstr>
  </property>
  <property fmtid="{D5CDD505-2E9C-101B-9397-08002B2CF9AE}" pid="9" name="MSIP_Label_acbbd4a6-dc2f-44d9-ad2c-c28d4679873f_Tag">
    <vt:lpwstr>10, 3, 0, 1</vt:lpwstr>
  </property>
</Properties>
</file>